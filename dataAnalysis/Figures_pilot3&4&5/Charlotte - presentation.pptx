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305" r:id="rId9"/>
    <p:sldId id="264" r:id="rId10"/>
    <p:sldId id="266" r:id="rId11"/>
    <p:sldId id="279" r:id="rId12"/>
    <p:sldId id="286" r:id="rId13"/>
    <p:sldId id="306" r:id="rId14"/>
    <p:sldId id="267" r:id="rId15"/>
    <p:sldId id="280" r:id="rId16"/>
    <p:sldId id="281" r:id="rId17"/>
    <p:sldId id="268" r:id="rId18"/>
    <p:sldId id="282" r:id="rId19"/>
    <p:sldId id="287" r:id="rId20"/>
    <p:sldId id="304" r:id="rId21"/>
    <p:sldId id="302" r:id="rId22"/>
    <p:sldId id="269" r:id="rId23"/>
    <p:sldId id="270" r:id="rId24"/>
    <p:sldId id="271" r:id="rId25"/>
    <p:sldId id="272" r:id="rId26"/>
    <p:sldId id="273" r:id="rId27"/>
    <p:sldId id="291" r:id="rId28"/>
    <p:sldId id="292" r:id="rId29"/>
    <p:sldId id="293" r:id="rId30"/>
    <p:sldId id="294" r:id="rId31"/>
    <p:sldId id="295" r:id="rId32"/>
    <p:sldId id="296" r:id="rId33"/>
    <p:sldId id="277" r:id="rId34"/>
    <p:sldId id="297" r:id="rId35"/>
    <p:sldId id="300" r:id="rId36"/>
    <p:sldId id="301" r:id="rId37"/>
    <p:sldId id="289" r:id="rId38"/>
    <p:sldId id="290" r:id="rId39"/>
    <p:sldId id="308" r:id="rId40"/>
    <p:sldId id="309" r:id="rId41"/>
    <p:sldId id="310" r:id="rId42"/>
    <p:sldId id="311" r:id="rId43"/>
    <p:sldId id="307" r:id="rId44"/>
  </p:sldIdLst>
  <p:sldSz cx="12192000" cy="6858000"/>
  <p:notesSz cx="6858000" cy="9144000"/>
  <p:defaultText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33"/>
    <p:restoredTop sz="81139"/>
  </p:normalViewPr>
  <p:slideViewPr>
    <p:cSldViewPr snapToGrid="0">
      <p:cViewPr varScale="1">
        <p:scale>
          <a:sx n="102" d="100"/>
          <a:sy n="102" d="100"/>
        </p:scale>
        <p:origin x="76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B95BCF-B1A4-1E4D-BA9D-11590124D562}" type="datetimeFigureOut">
              <a:rPr lang="en-FR" smtClean="0"/>
              <a:t>10/02/2026</a:t>
            </a:fld>
            <a:endParaRPr lang="en-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22429-EC18-0A43-B3FE-D8F80F9DDDA6}" type="slidenum">
              <a:rPr lang="en-FR" smtClean="0"/>
              <a:t>‹#›</a:t>
            </a:fld>
            <a:endParaRPr lang="en-FR"/>
          </a:p>
        </p:txBody>
      </p:sp>
    </p:spTree>
    <p:extLst>
      <p:ext uri="{BB962C8B-B14F-4D97-AF65-F5344CB8AC3E}">
        <p14:creationId xmlns:p14="http://schemas.microsoft.com/office/powerpoint/2010/main" val="539808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FR" dirty="0"/>
              <a:t>G/L/A : on voit la différence entre l’équivalent certain et la valeur espérée de la lotterie ou du miroir. Par exemple pour G10, les participants préfèrent avoir 10% de 25$ que 2,5$ + ~6$ = 8,5$.</a:t>
            </a:r>
          </a:p>
          <a:p>
            <a:r>
              <a:rPr lang="en-FR" dirty="0"/>
              <a:t>Quand il y a du risque on i Oprea dit que cela est dû à la complexité de la tâche : soit parce que nous calculons mal la valeur des loteries et des miroirs, peut être car cela induit des coûts cognitifs. </a:t>
            </a:r>
          </a:p>
          <a:p>
            <a:endParaRPr lang="en-FR" dirty="0"/>
          </a:p>
          <a:p>
            <a:r>
              <a:rPr lang="en-FR" dirty="0"/>
              <a:t>Les deux prédictions de la PT ici : fourfold pattern of risk attitude ; loss aversion. But here not due to risk.</a:t>
            </a:r>
          </a:p>
          <a:p>
            <a:endParaRPr lang="en-FR" dirty="0"/>
          </a:p>
        </p:txBody>
      </p:sp>
      <p:sp>
        <p:nvSpPr>
          <p:cNvPr id="4" name="Slide Number Placeholder 3"/>
          <p:cNvSpPr>
            <a:spLocks noGrp="1"/>
          </p:cNvSpPr>
          <p:nvPr>
            <p:ph type="sldNum" sz="quarter" idx="5"/>
          </p:nvPr>
        </p:nvSpPr>
        <p:spPr/>
        <p:txBody>
          <a:bodyPr/>
          <a:lstStyle/>
          <a:p>
            <a:fld id="{F2A22429-EC18-0A43-B3FE-D8F80F9DDDA6}" type="slidenum">
              <a:rPr lang="en-FR" smtClean="0"/>
              <a:t>4</a:t>
            </a:fld>
            <a:endParaRPr lang="en-FR"/>
          </a:p>
        </p:txBody>
      </p:sp>
    </p:spTree>
    <p:extLst>
      <p:ext uri="{BB962C8B-B14F-4D97-AF65-F5344CB8AC3E}">
        <p14:creationId xmlns:p14="http://schemas.microsoft.com/office/powerpoint/2010/main" val="3203843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FR" dirty="0"/>
              <a:t>Ici chaque point représente la moyenne des déviations de l’EV par participant.  </a:t>
            </a:r>
            <a:r>
              <a:rPr lang="en-GB" dirty="0"/>
              <a:t>À gauche </a:t>
            </a:r>
            <a:r>
              <a:rPr lang="en-GB" dirty="0" err="1"/>
              <a:t>c’est</a:t>
            </a:r>
            <a:r>
              <a:rPr lang="en-GB" dirty="0"/>
              <a:t> la </a:t>
            </a:r>
            <a:r>
              <a:rPr lang="en-GB" dirty="0" err="1"/>
              <a:t>moyenne</a:t>
            </a:r>
            <a:r>
              <a:rPr lang="en-GB" dirty="0"/>
              <a:t> des deviations </a:t>
            </a:r>
            <a:r>
              <a:rPr lang="en-GB" dirty="0" err="1"/>
              <a:t>absolues</a:t>
            </a:r>
            <a:r>
              <a:rPr lang="en-GB" dirty="0"/>
              <a:t>. </a:t>
            </a:r>
            <a:r>
              <a:rPr lang="en-FR" dirty="0"/>
              <a:t>À droite on a la moyenne des déviations normalisées, càd positive si elles correspondent au fourfold pattern of risk aversion et à l’aversion à la perte, et négative si elles sont dans l’autre sens. En abscisse les déviations pour les miroirs en ordonnées pour les loteries.</a:t>
            </a:r>
          </a:p>
          <a:p>
            <a:endParaRPr lang="en-FR" dirty="0"/>
          </a:p>
          <a:p>
            <a:r>
              <a:rPr lang="en-FR" dirty="0"/>
              <a:t>Comme il y a une corrélation au niveau des participants pour les déviations en miroir et les déviations en lotteries, Oprea suppose que ce sont les même méchanismes qui sous-tendent ces déviations pour les lotteries et pour les miroirs. </a:t>
            </a:r>
          </a:p>
          <a:p>
            <a:endParaRPr lang="en-FR" dirty="0"/>
          </a:p>
        </p:txBody>
      </p:sp>
      <p:sp>
        <p:nvSpPr>
          <p:cNvPr id="4" name="Slide Number Placeholder 3"/>
          <p:cNvSpPr>
            <a:spLocks noGrp="1"/>
          </p:cNvSpPr>
          <p:nvPr>
            <p:ph type="sldNum" sz="quarter" idx="5"/>
          </p:nvPr>
        </p:nvSpPr>
        <p:spPr/>
        <p:txBody>
          <a:bodyPr/>
          <a:lstStyle/>
          <a:p>
            <a:fld id="{F2A22429-EC18-0A43-B3FE-D8F80F9DDDA6}" type="slidenum">
              <a:rPr lang="en-FR" smtClean="0"/>
              <a:t>5</a:t>
            </a:fld>
            <a:endParaRPr lang="en-FR"/>
          </a:p>
        </p:txBody>
      </p:sp>
    </p:spTree>
    <p:extLst>
      <p:ext uri="{BB962C8B-B14F-4D97-AF65-F5344CB8AC3E}">
        <p14:creationId xmlns:p14="http://schemas.microsoft.com/office/powerpoint/2010/main" val="33388749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FR" dirty="0"/>
              <a:t>Première critique : les participants font des erreurs en miroir car ils ne comprennent pas que les miroirs ne sont pas risqués. </a:t>
            </a:r>
          </a:p>
          <a:p>
            <a:endParaRPr lang="en-FR" dirty="0"/>
          </a:p>
          <a:p>
            <a:r>
              <a:rPr lang="en-FR" dirty="0"/>
              <a:t>Sur l’axe des abscisse on a différents groupe de participants selon leur réussite aux questions de compréhension, sur l’axe des ordonnées on a la proportion des équivalents certains /simples au niveau de la valeur des lotteries ou miroirs.</a:t>
            </a:r>
          </a:p>
          <a:p>
            <a:r>
              <a:rPr lang="en-FR" dirty="0"/>
              <a:t>Chaque point représente le pourcentage d’équivalent certains qui correspondent à la valeur espérée des loteries ou miroirs correspondants.</a:t>
            </a:r>
          </a:p>
          <a:p>
            <a:r>
              <a:rPr lang="en-FR" dirty="0"/>
              <a:t>Ceux qui réussissent bien aux questions de compréhension valorisent beaucoup plus souvent les miroirs à leur valeur, mais non les loteries. Donc le résultat est dû à une incompréhension de la tâche</a:t>
            </a:r>
          </a:p>
        </p:txBody>
      </p:sp>
      <p:sp>
        <p:nvSpPr>
          <p:cNvPr id="4" name="Slide Number Placeholder 3"/>
          <p:cNvSpPr>
            <a:spLocks noGrp="1"/>
          </p:cNvSpPr>
          <p:nvPr>
            <p:ph type="sldNum" sz="quarter" idx="5"/>
          </p:nvPr>
        </p:nvSpPr>
        <p:spPr/>
        <p:txBody>
          <a:bodyPr/>
          <a:lstStyle/>
          <a:p>
            <a:fld id="{F2A22429-EC18-0A43-B3FE-D8F80F9DDDA6}" type="slidenum">
              <a:rPr lang="en-FR" smtClean="0"/>
              <a:t>6</a:t>
            </a:fld>
            <a:endParaRPr lang="en-FR"/>
          </a:p>
        </p:txBody>
      </p:sp>
    </p:spTree>
    <p:extLst>
      <p:ext uri="{BB962C8B-B14F-4D97-AF65-F5344CB8AC3E}">
        <p14:creationId xmlns:p14="http://schemas.microsoft.com/office/powerpoint/2010/main" val="870027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FR" dirty="0"/>
              <a:t>Deuxième critique, les résultats sont dû au fait que de nombreux participants répondent au hasard, notamment ceux qui n’ont pas compris les consignes. </a:t>
            </a:r>
          </a:p>
          <a:p>
            <a:r>
              <a:rPr lang="en-FR" dirty="0"/>
              <a:t>En gris on voit le niveau des déviations si tous les participants répondaient au hasard. Répondre au hasard crée exactement les prédictions de la PT (ce sera plus clair quand j’expliquerai nos grilles). </a:t>
            </a:r>
          </a:p>
          <a:p>
            <a:r>
              <a:rPr lang="en-FR" dirty="0"/>
              <a:t>Les auteurs simulent des données avec des participants qui répondent au hasard et montre les résultats en rouge, aux cotés des résultats d’Oprea en bleus.</a:t>
            </a:r>
          </a:p>
          <a:p>
            <a:r>
              <a:rPr lang="en-FR" dirty="0"/>
              <a:t> Il y a quatre panneaux sur chaque figure, chacun représente les déviations par groupe de participant, de ceux qui font le plus d’erreurs à ceux qui font le moins d’erreurs. Pour chaque groupe les auteurs simulent la part des participants qui répondent au hasard à partir du taux de FOST First Order Stochastic Violation. </a:t>
            </a:r>
          </a:p>
          <a:p>
            <a:r>
              <a:rPr lang="en-FR" dirty="0"/>
              <a:t>On voit que l’on peut expliquer les données d’O</a:t>
            </a:r>
            <a:r>
              <a:rPr lang="en-GB" dirty="0"/>
              <a:t>p</a:t>
            </a:r>
            <a:r>
              <a:rPr lang="en-FR" dirty="0"/>
              <a:t>rea simplement en supposant que des participants répondent au hasard</a:t>
            </a:r>
          </a:p>
        </p:txBody>
      </p:sp>
      <p:sp>
        <p:nvSpPr>
          <p:cNvPr id="4" name="Slide Number Placeholder 3"/>
          <p:cNvSpPr>
            <a:spLocks noGrp="1"/>
          </p:cNvSpPr>
          <p:nvPr>
            <p:ph type="sldNum" sz="quarter" idx="5"/>
          </p:nvPr>
        </p:nvSpPr>
        <p:spPr/>
        <p:txBody>
          <a:bodyPr/>
          <a:lstStyle/>
          <a:p>
            <a:fld id="{F2A22429-EC18-0A43-B3FE-D8F80F9DDDA6}" type="slidenum">
              <a:rPr lang="en-FR" smtClean="0"/>
              <a:t>7</a:t>
            </a:fld>
            <a:endParaRPr lang="en-FR"/>
          </a:p>
        </p:txBody>
      </p:sp>
    </p:spTree>
    <p:extLst>
      <p:ext uri="{BB962C8B-B14F-4D97-AF65-F5344CB8AC3E}">
        <p14:creationId xmlns:p14="http://schemas.microsoft.com/office/powerpoint/2010/main" val="17741625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FR" dirty="0"/>
              <a:t>We have the same research question but we want go further than his experiment</a:t>
            </a:r>
          </a:p>
        </p:txBody>
      </p:sp>
      <p:sp>
        <p:nvSpPr>
          <p:cNvPr id="4" name="Slide Number Placeholder 3"/>
          <p:cNvSpPr>
            <a:spLocks noGrp="1"/>
          </p:cNvSpPr>
          <p:nvPr>
            <p:ph type="sldNum" sz="quarter" idx="5"/>
          </p:nvPr>
        </p:nvSpPr>
        <p:spPr/>
        <p:txBody>
          <a:bodyPr/>
          <a:lstStyle/>
          <a:p>
            <a:fld id="{F2A22429-EC18-0A43-B3FE-D8F80F9DDDA6}" type="slidenum">
              <a:rPr lang="en-FR" smtClean="0"/>
              <a:t>8</a:t>
            </a:fld>
            <a:endParaRPr lang="en-FR"/>
          </a:p>
        </p:txBody>
      </p:sp>
    </p:spTree>
    <p:extLst>
      <p:ext uri="{BB962C8B-B14F-4D97-AF65-F5344CB8AC3E}">
        <p14:creationId xmlns:p14="http://schemas.microsoft.com/office/powerpoint/2010/main" val="28336192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FR" dirty="0"/>
              <a:t>Pourquoi nous pensons que notre expérience va plus loin que la sienne, et est complémentaire.</a:t>
            </a:r>
          </a:p>
        </p:txBody>
      </p:sp>
      <p:sp>
        <p:nvSpPr>
          <p:cNvPr id="4" name="Slide Number Placeholder 3"/>
          <p:cNvSpPr>
            <a:spLocks noGrp="1"/>
          </p:cNvSpPr>
          <p:nvPr>
            <p:ph type="sldNum" sz="quarter" idx="5"/>
          </p:nvPr>
        </p:nvSpPr>
        <p:spPr/>
        <p:txBody>
          <a:bodyPr/>
          <a:lstStyle/>
          <a:p>
            <a:fld id="{F2A22429-EC18-0A43-B3FE-D8F80F9DDDA6}" type="slidenum">
              <a:rPr lang="en-FR" smtClean="0"/>
              <a:t>9</a:t>
            </a:fld>
            <a:endParaRPr lang="en-FR"/>
          </a:p>
        </p:txBody>
      </p:sp>
    </p:spTree>
    <p:extLst>
      <p:ext uri="{BB962C8B-B14F-4D97-AF65-F5344CB8AC3E}">
        <p14:creationId xmlns:p14="http://schemas.microsoft.com/office/powerpoint/2010/main" val="4445232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Trois parties.</a:t>
            </a:r>
          </a:p>
          <a:p>
            <a:r>
              <a:rPr lang="fr-FR" dirty="0"/>
              <a:t>La première permet de mesurer le nombre maximal de chiffres que les participants peuvent retenir. </a:t>
            </a:r>
          </a:p>
          <a:p>
            <a:r>
              <a:rPr lang="fr-FR" dirty="0"/>
              <a:t>La deuxième partie permet de montrer l’efficacité de la manipulation de charge cognitive. Pour cela on regarde l’impact de la tâche source sur une tâche cible qui nécessite de la mémoire de travail. Si la tâche source réduit les performances dans la tâche cible alors la charge cognitive est efficace. Pour cela on regarde la différence entre les performances des participants en traitement charge cognitive et ceux en traitement contrôle. </a:t>
            </a:r>
          </a:p>
          <a:p>
            <a:r>
              <a:rPr lang="fr-FR" dirty="0"/>
              <a:t>Une fois qu’ils ont terminé la deuxième partie les participants entament la troisième partie. Elle reprend le paradigme de charge cognitive mais la tâche cible n’est plus une tâche de </a:t>
            </a:r>
            <a:r>
              <a:rPr lang="fr-FR" dirty="0" err="1"/>
              <a:t>span</a:t>
            </a:r>
            <a:r>
              <a:rPr lang="fr-FR" dirty="0"/>
              <a:t> de mémoire mais des multiple </a:t>
            </a:r>
            <a:r>
              <a:rPr lang="fr-FR" dirty="0" err="1"/>
              <a:t>price</a:t>
            </a:r>
            <a:r>
              <a:rPr lang="fr-FR" dirty="0"/>
              <a:t> </a:t>
            </a:r>
            <a:r>
              <a:rPr lang="fr-FR" dirty="0" err="1"/>
              <a:t>lists</a:t>
            </a:r>
            <a:r>
              <a:rPr lang="fr-FR" dirty="0"/>
              <a:t>.</a:t>
            </a:r>
          </a:p>
          <a:p>
            <a:r>
              <a:rPr lang="fr-FR" dirty="0"/>
              <a:t>Dans les deuxièmes troisièmes parties, il y a deux fois plus d’incitation pour les tâches sources que les tâches cibles, pour assurer que les participants accomplissent les tâches cibles sans abandonner la charge cognitive.</a:t>
            </a:r>
          </a:p>
        </p:txBody>
      </p:sp>
      <p:sp>
        <p:nvSpPr>
          <p:cNvPr id="4" name="Slide Number Placeholder 3"/>
          <p:cNvSpPr>
            <a:spLocks noGrp="1"/>
          </p:cNvSpPr>
          <p:nvPr>
            <p:ph type="sldNum" sz="quarter" idx="5"/>
          </p:nvPr>
        </p:nvSpPr>
        <p:spPr/>
        <p:txBody>
          <a:bodyPr/>
          <a:lstStyle/>
          <a:p>
            <a:fld id="{F2A22429-EC18-0A43-B3FE-D8F80F9DDDA6}" type="slidenum">
              <a:rPr lang="en-FR" smtClean="0"/>
              <a:t>12</a:t>
            </a:fld>
            <a:endParaRPr lang="en-FR"/>
          </a:p>
        </p:txBody>
      </p:sp>
    </p:spTree>
    <p:extLst>
      <p:ext uri="{BB962C8B-B14F-4D97-AF65-F5344CB8AC3E}">
        <p14:creationId xmlns:p14="http://schemas.microsoft.com/office/powerpoint/2010/main" val="17854424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FR" dirty="0"/>
              <a:t>Le fourfold pattern of risk aversion et l’aversion à la perte surviendront </a:t>
            </a:r>
          </a:p>
        </p:txBody>
      </p:sp>
      <p:sp>
        <p:nvSpPr>
          <p:cNvPr id="4" name="Slide Number Placeholder 3"/>
          <p:cNvSpPr>
            <a:spLocks noGrp="1"/>
          </p:cNvSpPr>
          <p:nvPr>
            <p:ph type="sldNum" sz="quarter" idx="5"/>
          </p:nvPr>
        </p:nvSpPr>
        <p:spPr/>
        <p:txBody>
          <a:bodyPr/>
          <a:lstStyle/>
          <a:p>
            <a:fld id="{F2A22429-EC18-0A43-B3FE-D8F80F9DDDA6}" type="slidenum">
              <a:rPr lang="en-FR" smtClean="0"/>
              <a:t>13</a:t>
            </a:fld>
            <a:endParaRPr lang="en-FR"/>
          </a:p>
        </p:txBody>
      </p:sp>
    </p:spTree>
    <p:extLst>
      <p:ext uri="{BB962C8B-B14F-4D97-AF65-F5344CB8AC3E}">
        <p14:creationId xmlns:p14="http://schemas.microsoft.com/office/powerpoint/2010/main" val="6912538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FR" dirty="0"/>
              <a:t>Ici je montre deux grilles pour les tâches G10 (10% de chance de gain). La grille high et la grille low. Le point de changement est dans la partie supérieure de la grille pour la “high” et inférieure pour la ”;low”</a:t>
            </a:r>
          </a:p>
          <a:p>
            <a:r>
              <a:rPr lang="en-GB" dirty="0"/>
              <a:t>G</a:t>
            </a:r>
            <a:r>
              <a:rPr lang="en-FR" dirty="0"/>
              <a:t>ains sûrs</a:t>
            </a:r>
          </a:p>
          <a:p>
            <a:r>
              <a:rPr lang="en-FR" dirty="0"/>
              <a:t>En moyenne les participants changeront d’option entre les lignes 9 et 10. Les versions high et low ont la même chance d’être vues par les participants, donc le choix raitonel est lui aussi entre les lignes 9 et 10</a:t>
            </a:r>
          </a:p>
          <a:p>
            <a:r>
              <a:rPr lang="en-FR" dirty="0"/>
              <a:t>Donc si les participants choisissent de manière aléatoire</a:t>
            </a:r>
          </a:p>
          <a:p>
            <a:r>
              <a:rPr lang="en-FR" dirty="0"/>
              <a:t>, alors ils changeront d’option en moyenne entre les lignes 9 et 10, donc en moyenne les choix se situeront au niveau du choix rationel, et il n’y aura pas de déviation du choix rationel,.</a:t>
            </a:r>
          </a:p>
          <a:p>
            <a:endParaRPr lang="en-FR" dirty="0"/>
          </a:p>
          <a:p>
            <a:r>
              <a:rPr lang="en-FR" dirty="0"/>
              <a:t>Et si ils utilisent un heuristique de type pull to the middle et bien en moyenne ils sont au milieu et donc ça ne crée pas de déviation non plus. </a:t>
            </a:r>
          </a:p>
        </p:txBody>
      </p:sp>
      <p:sp>
        <p:nvSpPr>
          <p:cNvPr id="4" name="Slide Number Placeholder 3"/>
          <p:cNvSpPr>
            <a:spLocks noGrp="1"/>
          </p:cNvSpPr>
          <p:nvPr>
            <p:ph type="sldNum" sz="quarter" idx="5"/>
          </p:nvPr>
        </p:nvSpPr>
        <p:spPr/>
        <p:txBody>
          <a:bodyPr/>
          <a:lstStyle/>
          <a:p>
            <a:fld id="{F2A22429-EC18-0A43-B3FE-D8F80F9DDDA6}" type="slidenum">
              <a:rPr lang="en-FR" smtClean="0"/>
              <a:t>17</a:t>
            </a:fld>
            <a:endParaRPr lang="en-FR"/>
          </a:p>
        </p:txBody>
      </p:sp>
    </p:spTree>
    <p:extLst>
      <p:ext uri="{BB962C8B-B14F-4D97-AF65-F5344CB8AC3E}">
        <p14:creationId xmlns:p14="http://schemas.microsoft.com/office/powerpoint/2010/main" val="2129021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FR" dirty="0"/>
              <a:t>Ici on voit la position des différents points de changement. </a:t>
            </a:r>
            <a:r>
              <a:rPr lang="en-GB" dirty="0"/>
              <a:t>P</a:t>
            </a:r>
            <a:r>
              <a:rPr lang="en-FR" dirty="0"/>
              <a:t>our qu’ils ne soient pas toujours à la même distance du centre de la grille, peuvent être à différentes distances. Par exemple pour la tâche G10 vue précédemment, le point de changement est entre les lignes 12 et 13. Cependnat pour les la tâche G75 le point de changement est entre les lignes 12 et 14. Ceci permet de varier la distance au centre des points de changements rationels, parce que les participants voient 32 grilles donc ils pourraient se rendre compte que les points de changement rationels ne varient pas. </a:t>
            </a:r>
          </a:p>
        </p:txBody>
      </p:sp>
      <p:sp>
        <p:nvSpPr>
          <p:cNvPr id="4" name="Slide Number Placeholder 3"/>
          <p:cNvSpPr>
            <a:spLocks noGrp="1"/>
          </p:cNvSpPr>
          <p:nvPr>
            <p:ph type="sldNum" sz="quarter" idx="5"/>
          </p:nvPr>
        </p:nvSpPr>
        <p:spPr/>
        <p:txBody>
          <a:bodyPr/>
          <a:lstStyle/>
          <a:p>
            <a:fld id="{F2A22429-EC18-0A43-B3FE-D8F80F9DDDA6}" type="slidenum">
              <a:rPr lang="en-FR" smtClean="0"/>
              <a:t>18</a:t>
            </a:fld>
            <a:endParaRPr lang="en-FR"/>
          </a:p>
        </p:txBody>
      </p:sp>
    </p:spTree>
    <p:extLst>
      <p:ext uri="{BB962C8B-B14F-4D97-AF65-F5344CB8AC3E}">
        <p14:creationId xmlns:p14="http://schemas.microsoft.com/office/powerpoint/2010/main" val="27014417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FR" dirty="0"/>
              <a:t>Ici on voit les données avec les déviations maximales permises par les grilles, si les participants déviaient dans le sens prédit par la PT. </a:t>
            </a:r>
          </a:p>
          <a:p>
            <a:endParaRPr lang="en-FR" dirty="0"/>
          </a:p>
        </p:txBody>
      </p:sp>
      <p:sp>
        <p:nvSpPr>
          <p:cNvPr id="4" name="Slide Number Placeholder 3"/>
          <p:cNvSpPr>
            <a:spLocks noGrp="1"/>
          </p:cNvSpPr>
          <p:nvPr>
            <p:ph type="sldNum" sz="quarter" idx="5"/>
          </p:nvPr>
        </p:nvSpPr>
        <p:spPr/>
        <p:txBody>
          <a:bodyPr/>
          <a:lstStyle/>
          <a:p>
            <a:fld id="{F2A22429-EC18-0A43-B3FE-D8F80F9DDDA6}" type="slidenum">
              <a:rPr lang="en-FR" smtClean="0"/>
              <a:t>19</a:t>
            </a:fld>
            <a:endParaRPr lang="en-FR"/>
          </a:p>
        </p:txBody>
      </p:sp>
    </p:spTree>
    <p:extLst>
      <p:ext uri="{BB962C8B-B14F-4D97-AF65-F5344CB8AC3E}">
        <p14:creationId xmlns:p14="http://schemas.microsoft.com/office/powerpoint/2010/main" val="1983520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FR" dirty="0"/>
              <a:t>Ici on voit une simulation avec 200 participants qui changent tout le temps d’option entre les lignes 9 et 10. On voit que cela ne produit pas d’effet en moyenne. En L75 et G75 voit de petites déviation liées à un déséquilibres entre le nombre de grilles “high” et de “low. </a:t>
            </a:r>
          </a:p>
        </p:txBody>
      </p:sp>
      <p:sp>
        <p:nvSpPr>
          <p:cNvPr id="4" name="Slide Number Placeholder 3"/>
          <p:cNvSpPr>
            <a:spLocks noGrp="1"/>
          </p:cNvSpPr>
          <p:nvPr>
            <p:ph type="sldNum" sz="quarter" idx="5"/>
          </p:nvPr>
        </p:nvSpPr>
        <p:spPr/>
        <p:txBody>
          <a:bodyPr/>
          <a:lstStyle/>
          <a:p>
            <a:fld id="{F2A22429-EC18-0A43-B3FE-D8F80F9DDDA6}" type="slidenum">
              <a:rPr lang="en-FR" smtClean="0"/>
              <a:t>20</a:t>
            </a:fld>
            <a:endParaRPr lang="en-FR"/>
          </a:p>
        </p:txBody>
      </p:sp>
    </p:spTree>
    <p:extLst>
      <p:ext uri="{BB962C8B-B14F-4D97-AF65-F5344CB8AC3E}">
        <p14:creationId xmlns:p14="http://schemas.microsoft.com/office/powerpoint/2010/main" val="8322971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FR" dirty="0"/>
              <a:t>Ici on voit une simulation avec 200 participants qui répondent de manière aléatioire. En moyenne il n’y a pas d’effet. </a:t>
            </a:r>
          </a:p>
        </p:txBody>
      </p:sp>
      <p:sp>
        <p:nvSpPr>
          <p:cNvPr id="4" name="Slide Number Placeholder 3"/>
          <p:cNvSpPr>
            <a:spLocks noGrp="1"/>
          </p:cNvSpPr>
          <p:nvPr>
            <p:ph type="sldNum" sz="quarter" idx="5"/>
          </p:nvPr>
        </p:nvSpPr>
        <p:spPr/>
        <p:txBody>
          <a:bodyPr/>
          <a:lstStyle/>
          <a:p>
            <a:fld id="{F2A22429-EC18-0A43-B3FE-D8F80F9DDDA6}" type="slidenum">
              <a:rPr lang="en-FR" smtClean="0"/>
              <a:t>21</a:t>
            </a:fld>
            <a:endParaRPr lang="en-FR"/>
          </a:p>
        </p:txBody>
      </p:sp>
    </p:spTree>
    <p:extLst>
      <p:ext uri="{BB962C8B-B14F-4D97-AF65-F5344CB8AC3E}">
        <p14:creationId xmlns:p14="http://schemas.microsoft.com/office/powerpoint/2010/main" val="28863131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R" dirty="0"/>
          </a:p>
        </p:txBody>
      </p:sp>
      <p:sp>
        <p:nvSpPr>
          <p:cNvPr id="4" name="Slide Number Placeholder 3"/>
          <p:cNvSpPr>
            <a:spLocks noGrp="1"/>
          </p:cNvSpPr>
          <p:nvPr>
            <p:ph type="sldNum" sz="quarter" idx="5"/>
          </p:nvPr>
        </p:nvSpPr>
        <p:spPr/>
        <p:txBody>
          <a:bodyPr/>
          <a:lstStyle/>
          <a:p>
            <a:fld id="{F2A22429-EC18-0A43-B3FE-D8F80F9DDDA6}" type="slidenum">
              <a:rPr lang="en-FR" smtClean="0"/>
              <a:t>28</a:t>
            </a:fld>
            <a:endParaRPr lang="en-FR"/>
          </a:p>
        </p:txBody>
      </p:sp>
    </p:spTree>
    <p:extLst>
      <p:ext uri="{BB962C8B-B14F-4D97-AF65-F5344CB8AC3E}">
        <p14:creationId xmlns:p14="http://schemas.microsoft.com/office/powerpoint/2010/main" val="35628863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0CA7F-36B4-E9E3-208B-25E6E988CE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1EBFA6-B4C1-D8A4-F360-2C2CBEEC2D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0A4155-08A8-A01C-DF04-70E88A2F8531}"/>
              </a:ext>
            </a:extLst>
          </p:cNvPr>
          <p:cNvSpPr>
            <a:spLocks noGrp="1"/>
          </p:cNvSpPr>
          <p:nvPr>
            <p:ph type="body" idx="1"/>
          </p:nvPr>
        </p:nvSpPr>
        <p:spPr/>
        <p:txBody>
          <a:bodyPr/>
          <a:lstStyle/>
          <a:p>
            <a:endParaRPr lang="en-FR" dirty="0"/>
          </a:p>
        </p:txBody>
      </p:sp>
      <p:sp>
        <p:nvSpPr>
          <p:cNvPr id="4" name="Slide Number Placeholder 3">
            <a:extLst>
              <a:ext uri="{FF2B5EF4-FFF2-40B4-BE49-F238E27FC236}">
                <a16:creationId xmlns:a16="http://schemas.microsoft.com/office/drawing/2014/main" id="{4869C6FD-3237-324D-9FCE-56C40B614460}"/>
              </a:ext>
            </a:extLst>
          </p:cNvPr>
          <p:cNvSpPr>
            <a:spLocks noGrp="1"/>
          </p:cNvSpPr>
          <p:nvPr>
            <p:ph type="sldNum" sz="quarter" idx="5"/>
          </p:nvPr>
        </p:nvSpPr>
        <p:spPr/>
        <p:txBody>
          <a:bodyPr/>
          <a:lstStyle/>
          <a:p>
            <a:fld id="{F2A22429-EC18-0A43-B3FE-D8F80F9DDDA6}" type="slidenum">
              <a:rPr lang="en-FR" smtClean="0"/>
              <a:t>29</a:t>
            </a:fld>
            <a:endParaRPr lang="en-FR"/>
          </a:p>
        </p:txBody>
      </p:sp>
    </p:spTree>
    <p:extLst>
      <p:ext uri="{BB962C8B-B14F-4D97-AF65-F5344CB8AC3E}">
        <p14:creationId xmlns:p14="http://schemas.microsoft.com/office/powerpoint/2010/main" val="7428726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E1015-04AF-A3B7-2053-47341DFF3C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A81753-99F4-D512-0724-24F296746A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00C46F-8618-66DF-7DB7-27A50D18687E}"/>
              </a:ext>
            </a:extLst>
          </p:cNvPr>
          <p:cNvSpPr>
            <a:spLocks noGrp="1"/>
          </p:cNvSpPr>
          <p:nvPr>
            <p:ph type="body" idx="1"/>
          </p:nvPr>
        </p:nvSpPr>
        <p:spPr/>
        <p:txBody>
          <a:bodyPr/>
          <a:lstStyle/>
          <a:p>
            <a:endParaRPr lang="en-FR" dirty="0"/>
          </a:p>
        </p:txBody>
      </p:sp>
      <p:sp>
        <p:nvSpPr>
          <p:cNvPr id="4" name="Slide Number Placeholder 3">
            <a:extLst>
              <a:ext uri="{FF2B5EF4-FFF2-40B4-BE49-F238E27FC236}">
                <a16:creationId xmlns:a16="http://schemas.microsoft.com/office/drawing/2014/main" id="{0BB34B27-8757-B53E-11C7-7B94CEFA7137}"/>
              </a:ext>
            </a:extLst>
          </p:cNvPr>
          <p:cNvSpPr>
            <a:spLocks noGrp="1"/>
          </p:cNvSpPr>
          <p:nvPr>
            <p:ph type="sldNum" sz="quarter" idx="5"/>
          </p:nvPr>
        </p:nvSpPr>
        <p:spPr/>
        <p:txBody>
          <a:bodyPr/>
          <a:lstStyle/>
          <a:p>
            <a:fld id="{F2A22429-EC18-0A43-B3FE-D8F80F9DDDA6}" type="slidenum">
              <a:rPr lang="en-FR" smtClean="0"/>
              <a:t>30</a:t>
            </a:fld>
            <a:endParaRPr lang="en-FR"/>
          </a:p>
        </p:txBody>
      </p:sp>
    </p:spTree>
    <p:extLst>
      <p:ext uri="{BB962C8B-B14F-4D97-AF65-F5344CB8AC3E}">
        <p14:creationId xmlns:p14="http://schemas.microsoft.com/office/powerpoint/2010/main" val="1782030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F93E8-A20C-2D3B-F7EB-1E8A2B7F94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435C6F-2BF2-75DC-4C32-24C46FDFC8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E06B2A-3E0C-191C-3729-AF21DF6F19AF}"/>
              </a:ext>
            </a:extLst>
          </p:cNvPr>
          <p:cNvSpPr>
            <a:spLocks noGrp="1"/>
          </p:cNvSpPr>
          <p:nvPr>
            <p:ph type="body" idx="1"/>
          </p:nvPr>
        </p:nvSpPr>
        <p:spPr/>
        <p:txBody>
          <a:bodyPr/>
          <a:lstStyle/>
          <a:p>
            <a:endParaRPr lang="en-FR" dirty="0"/>
          </a:p>
        </p:txBody>
      </p:sp>
      <p:sp>
        <p:nvSpPr>
          <p:cNvPr id="4" name="Slide Number Placeholder 3">
            <a:extLst>
              <a:ext uri="{FF2B5EF4-FFF2-40B4-BE49-F238E27FC236}">
                <a16:creationId xmlns:a16="http://schemas.microsoft.com/office/drawing/2014/main" id="{81306B9A-AA31-F772-92CB-24F1BB5D851D}"/>
              </a:ext>
            </a:extLst>
          </p:cNvPr>
          <p:cNvSpPr>
            <a:spLocks noGrp="1"/>
          </p:cNvSpPr>
          <p:nvPr>
            <p:ph type="sldNum" sz="quarter" idx="5"/>
          </p:nvPr>
        </p:nvSpPr>
        <p:spPr/>
        <p:txBody>
          <a:bodyPr/>
          <a:lstStyle/>
          <a:p>
            <a:fld id="{F2A22429-EC18-0A43-B3FE-D8F80F9DDDA6}" type="slidenum">
              <a:rPr lang="en-FR" smtClean="0"/>
              <a:t>31</a:t>
            </a:fld>
            <a:endParaRPr lang="en-FR"/>
          </a:p>
        </p:txBody>
      </p:sp>
    </p:spTree>
    <p:extLst>
      <p:ext uri="{BB962C8B-B14F-4D97-AF65-F5344CB8AC3E}">
        <p14:creationId xmlns:p14="http://schemas.microsoft.com/office/powerpoint/2010/main" val="38950397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3EFBB-EF0F-0C97-BD89-B84C8167A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DE8C57-9B94-BE45-2AEE-73C53533E9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ABAFC4-1001-9A98-70BD-4DB3AAC68EAE}"/>
              </a:ext>
            </a:extLst>
          </p:cNvPr>
          <p:cNvSpPr>
            <a:spLocks noGrp="1"/>
          </p:cNvSpPr>
          <p:nvPr>
            <p:ph type="body" idx="1"/>
          </p:nvPr>
        </p:nvSpPr>
        <p:spPr/>
        <p:txBody>
          <a:bodyPr/>
          <a:lstStyle/>
          <a:p>
            <a:endParaRPr lang="en-FR" dirty="0"/>
          </a:p>
        </p:txBody>
      </p:sp>
      <p:sp>
        <p:nvSpPr>
          <p:cNvPr id="4" name="Slide Number Placeholder 3">
            <a:extLst>
              <a:ext uri="{FF2B5EF4-FFF2-40B4-BE49-F238E27FC236}">
                <a16:creationId xmlns:a16="http://schemas.microsoft.com/office/drawing/2014/main" id="{E79705FA-7EC7-D9D0-B73C-779D4BE9DF86}"/>
              </a:ext>
            </a:extLst>
          </p:cNvPr>
          <p:cNvSpPr>
            <a:spLocks noGrp="1"/>
          </p:cNvSpPr>
          <p:nvPr>
            <p:ph type="sldNum" sz="quarter" idx="5"/>
          </p:nvPr>
        </p:nvSpPr>
        <p:spPr/>
        <p:txBody>
          <a:bodyPr/>
          <a:lstStyle/>
          <a:p>
            <a:fld id="{F2A22429-EC18-0A43-B3FE-D8F80F9DDDA6}" type="slidenum">
              <a:rPr lang="en-FR" smtClean="0"/>
              <a:t>32</a:t>
            </a:fld>
            <a:endParaRPr lang="en-FR"/>
          </a:p>
        </p:txBody>
      </p:sp>
    </p:spTree>
    <p:extLst>
      <p:ext uri="{BB962C8B-B14F-4D97-AF65-F5344CB8AC3E}">
        <p14:creationId xmlns:p14="http://schemas.microsoft.com/office/powerpoint/2010/main" val="5291139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205FD-3368-5E7F-57E6-027133AE0D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658823-98AD-3737-757C-5179A590F2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906561-DA2D-6363-0423-EAAE3B58920E}"/>
              </a:ext>
            </a:extLst>
          </p:cNvPr>
          <p:cNvSpPr>
            <a:spLocks noGrp="1"/>
          </p:cNvSpPr>
          <p:nvPr>
            <p:ph type="body" idx="1"/>
          </p:nvPr>
        </p:nvSpPr>
        <p:spPr/>
        <p:txBody>
          <a:bodyPr/>
          <a:lstStyle/>
          <a:p>
            <a:endParaRPr lang="en-FR" dirty="0"/>
          </a:p>
        </p:txBody>
      </p:sp>
      <p:sp>
        <p:nvSpPr>
          <p:cNvPr id="4" name="Slide Number Placeholder 3">
            <a:extLst>
              <a:ext uri="{FF2B5EF4-FFF2-40B4-BE49-F238E27FC236}">
                <a16:creationId xmlns:a16="http://schemas.microsoft.com/office/drawing/2014/main" id="{67F39269-9697-B910-581D-1DF7C40C7C06}"/>
              </a:ext>
            </a:extLst>
          </p:cNvPr>
          <p:cNvSpPr>
            <a:spLocks noGrp="1"/>
          </p:cNvSpPr>
          <p:nvPr>
            <p:ph type="sldNum" sz="quarter" idx="5"/>
          </p:nvPr>
        </p:nvSpPr>
        <p:spPr/>
        <p:txBody>
          <a:bodyPr/>
          <a:lstStyle/>
          <a:p>
            <a:fld id="{F2A22429-EC18-0A43-B3FE-D8F80F9DDDA6}" type="slidenum">
              <a:rPr lang="en-FR" smtClean="0"/>
              <a:t>37</a:t>
            </a:fld>
            <a:endParaRPr lang="en-FR"/>
          </a:p>
        </p:txBody>
      </p:sp>
    </p:spTree>
    <p:extLst>
      <p:ext uri="{BB962C8B-B14F-4D97-AF65-F5344CB8AC3E}">
        <p14:creationId xmlns:p14="http://schemas.microsoft.com/office/powerpoint/2010/main" val="8126823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C3EB9-F538-B1FA-D480-2D1577423E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81CA21-B59F-945A-D0D5-FDF1560A8B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E696FA-F3B5-5798-6DE2-73BD96576D10}"/>
              </a:ext>
            </a:extLst>
          </p:cNvPr>
          <p:cNvSpPr>
            <a:spLocks noGrp="1"/>
          </p:cNvSpPr>
          <p:nvPr>
            <p:ph type="body" idx="1"/>
          </p:nvPr>
        </p:nvSpPr>
        <p:spPr/>
        <p:txBody>
          <a:bodyPr/>
          <a:lstStyle/>
          <a:p>
            <a:endParaRPr lang="en-FR" dirty="0"/>
          </a:p>
        </p:txBody>
      </p:sp>
      <p:sp>
        <p:nvSpPr>
          <p:cNvPr id="4" name="Slide Number Placeholder 3">
            <a:extLst>
              <a:ext uri="{FF2B5EF4-FFF2-40B4-BE49-F238E27FC236}">
                <a16:creationId xmlns:a16="http://schemas.microsoft.com/office/drawing/2014/main" id="{00F22E7F-831B-0984-C764-2CBB3F3E5523}"/>
              </a:ext>
            </a:extLst>
          </p:cNvPr>
          <p:cNvSpPr>
            <a:spLocks noGrp="1"/>
          </p:cNvSpPr>
          <p:nvPr>
            <p:ph type="sldNum" sz="quarter" idx="5"/>
          </p:nvPr>
        </p:nvSpPr>
        <p:spPr/>
        <p:txBody>
          <a:bodyPr/>
          <a:lstStyle/>
          <a:p>
            <a:fld id="{F2A22429-EC18-0A43-B3FE-D8F80F9DDDA6}" type="slidenum">
              <a:rPr lang="en-FR" smtClean="0"/>
              <a:t>38</a:t>
            </a:fld>
            <a:endParaRPr lang="en-FR"/>
          </a:p>
        </p:txBody>
      </p:sp>
    </p:spTree>
    <p:extLst>
      <p:ext uri="{BB962C8B-B14F-4D97-AF65-F5344CB8AC3E}">
        <p14:creationId xmlns:p14="http://schemas.microsoft.com/office/powerpoint/2010/main" val="14050808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69E59-40A3-1375-39DE-7963F7C7880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FR"/>
          </a:p>
        </p:txBody>
      </p:sp>
      <p:sp>
        <p:nvSpPr>
          <p:cNvPr id="3" name="Subtitle 2">
            <a:extLst>
              <a:ext uri="{FF2B5EF4-FFF2-40B4-BE49-F238E27FC236}">
                <a16:creationId xmlns:a16="http://schemas.microsoft.com/office/drawing/2014/main" id="{BE7C9FBD-D44A-C8A7-4EDE-70AB98ABC5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FR"/>
          </a:p>
        </p:txBody>
      </p:sp>
      <p:sp>
        <p:nvSpPr>
          <p:cNvPr id="4" name="Date Placeholder 3">
            <a:extLst>
              <a:ext uri="{FF2B5EF4-FFF2-40B4-BE49-F238E27FC236}">
                <a16:creationId xmlns:a16="http://schemas.microsoft.com/office/drawing/2014/main" id="{92572E65-BCB4-0853-C38C-BE3DA646E8A4}"/>
              </a:ext>
            </a:extLst>
          </p:cNvPr>
          <p:cNvSpPr>
            <a:spLocks noGrp="1"/>
          </p:cNvSpPr>
          <p:nvPr>
            <p:ph type="dt" sz="half" idx="10"/>
          </p:nvPr>
        </p:nvSpPr>
        <p:spPr/>
        <p:txBody>
          <a:bodyPr/>
          <a:lstStyle/>
          <a:p>
            <a:fld id="{CAF714CE-3AC8-F343-B9BE-F1A3B5B46C9D}" type="datetimeFigureOut">
              <a:rPr lang="en-FR" smtClean="0"/>
              <a:t>10/02/2026</a:t>
            </a:fld>
            <a:endParaRPr lang="en-FR"/>
          </a:p>
        </p:txBody>
      </p:sp>
      <p:sp>
        <p:nvSpPr>
          <p:cNvPr id="5" name="Footer Placeholder 4">
            <a:extLst>
              <a:ext uri="{FF2B5EF4-FFF2-40B4-BE49-F238E27FC236}">
                <a16:creationId xmlns:a16="http://schemas.microsoft.com/office/drawing/2014/main" id="{BE0B0060-C838-ACC7-ABEE-FDF91DF3BD66}"/>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D1A4006A-ACB0-B6F1-5939-618FAEE5DB3D}"/>
              </a:ext>
            </a:extLst>
          </p:cNvPr>
          <p:cNvSpPr>
            <a:spLocks noGrp="1"/>
          </p:cNvSpPr>
          <p:nvPr>
            <p:ph type="sldNum" sz="quarter" idx="12"/>
          </p:nvPr>
        </p:nvSpPr>
        <p:spPr/>
        <p:txBody>
          <a:bodyPr/>
          <a:lstStyle/>
          <a:p>
            <a:fld id="{3952E9A8-BE8A-F949-890B-0779218DA3EA}" type="slidenum">
              <a:rPr lang="en-FR" smtClean="0"/>
              <a:t>‹#›</a:t>
            </a:fld>
            <a:endParaRPr lang="en-FR"/>
          </a:p>
        </p:txBody>
      </p:sp>
    </p:spTree>
    <p:extLst>
      <p:ext uri="{BB962C8B-B14F-4D97-AF65-F5344CB8AC3E}">
        <p14:creationId xmlns:p14="http://schemas.microsoft.com/office/powerpoint/2010/main" val="1751560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EACB9-93EA-F57B-26EE-B4408A6296AD}"/>
              </a:ext>
            </a:extLst>
          </p:cNvPr>
          <p:cNvSpPr>
            <a:spLocks noGrp="1"/>
          </p:cNvSpPr>
          <p:nvPr>
            <p:ph type="title"/>
          </p:nvPr>
        </p:nvSpPr>
        <p:spPr/>
        <p:txBody>
          <a:bodyPr/>
          <a:lstStyle/>
          <a:p>
            <a:r>
              <a:rPr lang="en-GB"/>
              <a:t>Click to edit Master title style</a:t>
            </a:r>
            <a:endParaRPr lang="en-FR"/>
          </a:p>
        </p:txBody>
      </p:sp>
      <p:sp>
        <p:nvSpPr>
          <p:cNvPr id="3" name="Content Placeholder 2">
            <a:extLst>
              <a:ext uri="{FF2B5EF4-FFF2-40B4-BE49-F238E27FC236}">
                <a16:creationId xmlns:a16="http://schemas.microsoft.com/office/drawing/2014/main" id="{48505641-12A0-0F30-12F7-D3E6EA80096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FB9677FA-6F05-45D9-66F4-BE002BE9C35E}"/>
              </a:ext>
            </a:extLst>
          </p:cNvPr>
          <p:cNvSpPr>
            <a:spLocks noGrp="1"/>
          </p:cNvSpPr>
          <p:nvPr>
            <p:ph type="dt" sz="half" idx="10"/>
          </p:nvPr>
        </p:nvSpPr>
        <p:spPr/>
        <p:txBody>
          <a:bodyPr/>
          <a:lstStyle/>
          <a:p>
            <a:fld id="{CAF714CE-3AC8-F343-B9BE-F1A3B5B46C9D}" type="datetimeFigureOut">
              <a:rPr lang="en-FR" smtClean="0"/>
              <a:t>10/02/2026</a:t>
            </a:fld>
            <a:endParaRPr lang="en-FR"/>
          </a:p>
        </p:txBody>
      </p:sp>
      <p:sp>
        <p:nvSpPr>
          <p:cNvPr id="5" name="Footer Placeholder 4">
            <a:extLst>
              <a:ext uri="{FF2B5EF4-FFF2-40B4-BE49-F238E27FC236}">
                <a16:creationId xmlns:a16="http://schemas.microsoft.com/office/drawing/2014/main" id="{047E7526-5838-A625-57D1-E6E0633074F1}"/>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E440CD74-29B8-18C0-ECB0-D16C94768681}"/>
              </a:ext>
            </a:extLst>
          </p:cNvPr>
          <p:cNvSpPr>
            <a:spLocks noGrp="1"/>
          </p:cNvSpPr>
          <p:nvPr>
            <p:ph type="sldNum" sz="quarter" idx="12"/>
          </p:nvPr>
        </p:nvSpPr>
        <p:spPr/>
        <p:txBody>
          <a:bodyPr/>
          <a:lstStyle/>
          <a:p>
            <a:fld id="{3952E9A8-BE8A-F949-890B-0779218DA3EA}" type="slidenum">
              <a:rPr lang="en-FR" smtClean="0"/>
              <a:t>‹#›</a:t>
            </a:fld>
            <a:endParaRPr lang="en-FR"/>
          </a:p>
        </p:txBody>
      </p:sp>
    </p:spTree>
    <p:extLst>
      <p:ext uri="{BB962C8B-B14F-4D97-AF65-F5344CB8AC3E}">
        <p14:creationId xmlns:p14="http://schemas.microsoft.com/office/powerpoint/2010/main" val="1630364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C9A41-D9E2-3FD2-7E37-596864E42AB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FR"/>
          </a:p>
        </p:txBody>
      </p:sp>
      <p:sp>
        <p:nvSpPr>
          <p:cNvPr id="3" name="Text Placeholder 2">
            <a:extLst>
              <a:ext uri="{FF2B5EF4-FFF2-40B4-BE49-F238E27FC236}">
                <a16:creationId xmlns:a16="http://schemas.microsoft.com/office/drawing/2014/main" id="{725F9248-28DF-D5E3-8ED4-2D8F17827C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F6DBC42-F1F3-CF96-DDD7-608A69BD1CD1}"/>
              </a:ext>
            </a:extLst>
          </p:cNvPr>
          <p:cNvSpPr>
            <a:spLocks noGrp="1"/>
          </p:cNvSpPr>
          <p:nvPr>
            <p:ph type="dt" sz="half" idx="10"/>
          </p:nvPr>
        </p:nvSpPr>
        <p:spPr/>
        <p:txBody>
          <a:bodyPr/>
          <a:lstStyle/>
          <a:p>
            <a:fld id="{CAF714CE-3AC8-F343-B9BE-F1A3B5B46C9D}" type="datetimeFigureOut">
              <a:rPr lang="en-FR" smtClean="0"/>
              <a:t>10/02/2026</a:t>
            </a:fld>
            <a:endParaRPr lang="en-FR"/>
          </a:p>
        </p:txBody>
      </p:sp>
      <p:sp>
        <p:nvSpPr>
          <p:cNvPr id="5" name="Footer Placeholder 4">
            <a:extLst>
              <a:ext uri="{FF2B5EF4-FFF2-40B4-BE49-F238E27FC236}">
                <a16:creationId xmlns:a16="http://schemas.microsoft.com/office/drawing/2014/main" id="{D340D4CF-1448-C013-953D-DDC78F3A825A}"/>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C926D607-B368-B916-93C0-22D578A545BA}"/>
              </a:ext>
            </a:extLst>
          </p:cNvPr>
          <p:cNvSpPr>
            <a:spLocks noGrp="1"/>
          </p:cNvSpPr>
          <p:nvPr>
            <p:ph type="sldNum" sz="quarter" idx="12"/>
          </p:nvPr>
        </p:nvSpPr>
        <p:spPr/>
        <p:txBody>
          <a:bodyPr/>
          <a:lstStyle/>
          <a:p>
            <a:fld id="{3952E9A8-BE8A-F949-890B-0779218DA3EA}" type="slidenum">
              <a:rPr lang="en-FR" smtClean="0"/>
              <a:t>‹#›</a:t>
            </a:fld>
            <a:endParaRPr lang="en-FR"/>
          </a:p>
        </p:txBody>
      </p:sp>
    </p:spTree>
    <p:extLst>
      <p:ext uri="{BB962C8B-B14F-4D97-AF65-F5344CB8AC3E}">
        <p14:creationId xmlns:p14="http://schemas.microsoft.com/office/powerpoint/2010/main" val="2639471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A564C-7325-09F8-5397-8D41999549B9}"/>
              </a:ext>
            </a:extLst>
          </p:cNvPr>
          <p:cNvSpPr>
            <a:spLocks noGrp="1"/>
          </p:cNvSpPr>
          <p:nvPr>
            <p:ph type="title"/>
          </p:nvPr>
        </p:nvSpPr>
        <p:spPr/>
        <p:txBody>
          <a:bodyPr/>
          <a:lstStyle/>
          <a:p>
            <a:r>
              <a:rPr lang="en-GB"/>
              <a:t>Click to edit Master title style</a:t>
            </a:r>
            <a:endParaRPr lang="en-FR"/>
          </a:p>
        </p:txBody>
      </p:sp>
      <p:sp>
        <p:nvSpPr>
          <p:cNvPr id="3" name="Content Placeholder 2">
            <a:extLst>
              <a:ext uri="{FF2B5EF4-FFF2-40B4-BE49-F238E27FC236}">
                <a16:creationId xmlns:a16="http://schemas.microsoft.com/office/drawing/2014/main" id="{F6A58A63-E561-949F-E900-E90BC63CAAC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Content Placeholder 3">
            <a:extLst>
              <a:ext uri="{FF2B5EF4-FFF2-40B4-BE49-F238E27FC236}">
                <a16:creationId xmlns:a16="http://schemas.microsoft.com/office/drawing/2014/main" id="{77F62C01-9E35-8DD6-7567-0ED1F9F06C6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5" name="Date Placeholder 4">
            <a:extLst>
              <a:ext uri="{FF2B5EF4-FFF2-40B4-BE49-F238E27FC236}">
                <a16:creationId xmlns:a16="http://schemas.microsoft.com/office/drawing/2014/main" id="{6D60C557-153B-19A3-C748-9FB686963ED9}"/>
              </a:ext>
            </a:extLst>
          </p:cNvPr>
          <p:cNvSpPr>
            <a:spLocks noGrp="1"/>
          </p:cNvSpPr>
          <p:nvPr>
            <p:ph type="dt" sz="half" idx="10"/>
          </p:nvPr>
        </p:nvSpPr>
        <p:spPr/>
        <p:txBody>
          <a:bodyPr/>
          <a:lstStyle/>
          <a:p>
            <a:fld id="{CAF714CE-3AC8-F343-B9BE-F1A3B5B46C9D}" type="datetimeFigureOut">
              <a:rPr lang="en-FR" smtClean="0"/>
              <a:t>10/02/2026</a:t>
            </a:fld>
            <a:endParaRPr lang="en-FR"/>
          </a:p>
        </p:txBody>
      </p:sp>
      <p:sp>
        <p:nvSpPr>
          <p:cNvPr id="6" name="Footer Placeholder 5">
            <a:extLst>
              <a:ext uri="{FF2B5EF4-FFF2-40B4-BE49-F238E27FC236}">
                <a16:creationId xmlns:a16="http://schemas.microsoft.com/office/drawing/2014/main" id="{C2241C9C-D956-1F4F-CB71-73584BC4D21E}"/>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65698FD0-632C-2991-B19F-3152825750F2}"/>
              </a:ext>
            </a:extLst>
          </p:cNvPr>
          <p:cNvSpPr>
            <a:spLocks noGrp="1"/>
          </p:cNvSpPr>
          <p:nvPr>
            <p:ph type="sldNum" sz="quarter" idx="12"/>
          </p:nvPr>
        </p:nvSpPr>
        <p:spPr/>
        <p:txBody>
          <a:bodyPr/>
          <a:lstStyle/>
          <a:p>
            <a:fld id="{3952E9A8-BE8A-F949-890B-0779218DA3EA}" type="slidenum">
              <a:rPr lang="en-FR" smtClean="0"/>
              <a:t>‹#›</a:t>
            </a:fld>
            <a:endParaRPr lang="en-FR"/>
          </a:p>
        </p:txBody>
      </p:sp>
    </p:spTree>
    <p:extLst>
      <p:ext uri="{BB962C8B-B14F-4D97-AF65-F5344CB8AC3E}">
        <p14:creationId xmlns:p14="http://schemas.microsoft.com/office/powerpoint/2010/main" val="1009185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B13FB-7135-6C1C-7A76-756074A74DDC}"/>
              </a:ext>
            </a:extLst>
          </p:cNvPr>
          <p:cNvSpPr>
            <a:spLocks noGrp="1"/>
          </p:cNvSpPr>
          <p:nvPr>
            <p:ph type="title"/>
          </p:nvPr>
        </p:nvSpPr>
        <p:spPr>
          <a:xfrm>
            <a:off x="839788" y="365125"/>
            <a:ext cx="10515600" cy="1325563"/>
          </a:xfrm>
        </p:spPr>
        <p:txBody>
          <a:bodyPr/>
          <a:lstStyle/>
          <a:p>
            <a:r>
              <a:rPr lang="en-GB"/>
              <a:t>Click to edit Master title style</a:t>
            </a:r>
            <a:endParaRPr lang="en-FR"/>
          </a:p>
        </p:txBody>
      </p:sp>
      <p:sp>
        <p:nvSpPr>
          <p:cNvPr id="3" name="Text Placeholder 2">
            <a:extLst>
              <a:ext uri="{FF2B5EF4-FFF2-40B4-BE49-F238E27FC236}">
                <a16:creationId xmlns:a16="http://schemas.microsoft.com/office/drawing/2014/main" id="{B0CE7D7F-9774-EE4B-4A81-7B52E93904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3360A28-45E6-44E1-589B-CBA61478DFB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5" name="Text Placeholder 4">
            <a:extLst>
              <a:ext uri="{FF2B5EF4-FFF2-40B4-BE49-F238E27FC236}">
                <a16:creationId xmlns:a16="http://schemas.microsoft.com/office/drawing/2014/main" id="{201759D7-FBD5-20B5-F140-D49A028FFE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8E70BD3-7DFC-5701-B642-13BCCE78C81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7" name="Date Placeholder 6">
            <a:extLst>
              <a:ext uri="{FF2B5EF4-FFF2-40B4-BE49-F238E27FC236}">
                <a16:creationId xmlns:a16="http://schemas.microsoft.com/office/drawing/2014/main" id="{0EB11642-ADFA-1BEA-9C4B-7694E50279C3}"/>
              </a:ext>
            </a:extLst>
          </p:cNvPr>
          <p:cNvSpPr>
            <a:spLocks noGrp="1"/>
          </p:cNvSpPr>
          <p:nvPr>
            <p:ph type="dt" sz="half" idx="10"/>
          </p:nvPr>
        </p:nvSpPr>
        <p:spPr/>
        <p:txBody>
          <a:bodyPr/>
          <a:lstStyle/>
          <a:p>
            <a:fld id="{CAF714CE-3AC8-F343-B9BE-F1A3B5B46C9D}" type="datetimeFigureOut">
              <a:rPr lang="en-FR" smtClean="0"/>
              <a:t>10/02/2026</a:t>
            </a:fld>
            <a:endParaRPr lang="en-FR"/>
          </a:p>
        </p:txBody>
      </p:sp>
      <p:sp>
        <p:nvSpPr>
          <p:cNvPr id="8" name="Footer Placeholder 7">
            <a:extLst>
              <a:ext uri="{FF2B5EF4-FFF2-40B4-BE49-F238E27FC236}">
                <a16:creationId xmlns:a16="http://schemas.microsoft.com/office/drawing/2014/main" id="{4C138577-E837-FB1D-D438-97FBAFFD78BA}"/>
              </a:ext>
            </a:extLst>
          </p:cNvPr>
          <p:cNvSpPr>
            <a:spLocks noGrp="1"/>
          </p:cNvSpPr>
          <p:nvPr>
            <p:ph type="ftr" sz="quarter" idx="11"/>
          </p:nvPr>
        </p:nvSpPr>
        <p:spPr/>
        <p:txBody>
          <a:bodyPr/>
          <a:lstStyle/>
          <a:p>
            <a:endParaRPr lang="en-FR"/>
          </a:p>
        </p:txBody>
      </p:sp>
      <p:sp>
        <p:nvSpPr>
          <p:cNvPr id="9" name="Slide Number Placeholder 8">
            <a:extLst>
              <a:ext uri="{FF2B5EF4-FFF2-40B4-BE49-F238E27FC236}">
                <a16:creationId xmlns:a16="http://schemas.microsoft.com/office/drawing/2014/main" id="{C0320159-4B59-B0C9-F70D-5C717C3818A1}"/>
              </a:ext>
            </a:extLst>
          </p:cNvPr>
          <p:cNvSpPr>
            <a:spLocks noGrp="1"/>
          </p:cNvSpPr>
          <p:nvPr>
            <p:ph type="sldNum" sz="quarter" idx="12"/>
          </p:nvPr>
        </p:nvSpPr>
        <p:spPr/>
        <p:txBody>
          <a:bodyPr/>
          <a:lstStyle/>
          <a:p>
            <a:fld id="{3952E9A8-BE8A-F949-890B-0779218DA3EA}" type="slidenum">
              <a:rPr lang="en-FR" smtClean="0"/>
              <a:t>‹#›</a:t>
            </a:fld>
            <a:endParaRPr lang="en-FR"/>
          </a:p>
        </p:txBody>
      </p:sp>
    </p:spTree>
    <p:extLst>
      <p:ext uri="{BB962C8B-B14F-4D97-AF65-F5344CB8AC3E}">
        <p14:creationId xmlns:p14="http://schemas.microsoft.com/office/powerpoint/2010/main" val="227776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D8FDE-3783-91A9-026C-E67D0B7269DF}"/>
              </a:ext>
            </a:extLst>
          </p:cNvPr>
          <p:cNvSpPr>
            <a:spLocks noGrp="1"/>
          </p:cNvSpPr>
          <p:nvPr>
            <p:ph type="title"/>
          </p:nvPr>
        </p:nvSpPr>
        <p:spPr/>
        <p:txBody>
          <a:bodyPr/>
          <a:lstStyle/>
          <a:p>
            <a:r>
              <a:rPr lang="en-GB"/>
              <a:t>Click to edit Master title style</a:t>
            </a:r>
            <a:endParaRPr lang="en-FR"/>
          </a:p>
        </p:txBody>
      </p:sp>
      <p:sp>
        <p:nvSpPr>
          <p:cNvPr id="3" name="Date Placeholder 2">
            <a:extLst>
              <a:ext uri="{FF2B5EF4-FFF2-40B4-BE49-F238E27FC236}">
                <a16:creationId xmlns:a16="http://schemas.microsoft.com/office/drawing/2014/main" id="{38081BB8-8799-06DF-888F-98844D9F50CF}"/>
              </a:ext>
            </a:extLst>
          </p:cNvPr>
          <p:cNvSpPr>
            <a:spLocks noGrp="1"/>
          </p:cNvSpPr>
          <p:nvPr>
            <p:ph type="dt" sz="half" idx="10"/>
          </p:nvPr>
        </p:nvSpPr>
        <p:spPr/>
        <p:txBody>
          <a:bodyPr/>
          <a:lstStyle/>
          <a:p>
            <a:fld id="{CAF714CE-3AC8-F343-B9BE-F1A3B5B46C9D}" type="datetimeFigureOut">
              <a:rPr lang="en-FR" smtClean="0"/>
              <a:t>10/02/2026</a:t>
            </a:fld>
            <a:endParaRPr lang="en-FR"/>
          </a:p>
        </p:txBody>
      </p:sp>
      <p:sp>
        <p:nvSpPr>
          <p:cNvPr id="4" name="Footer Placeholder 3">
            <a:extLst>
              <a:ext uri="{FF2B5EF4-FFF2-40B4-BE49-F238E27FC236}">
                <a16:creationId xmlns:a16="http://schemas.microsoft.com/office/drawing/2014/main" id="{D693DC51-961C-0C73-1503-48E92EB17FAD}"/>
              </a:ext>
            </a:extLst>
          </p:cNvPr>
          <p:cNvSpPr>
            <a:spLocks noGrp="1"/>
          </p:cNvSpPr>
          <p:nvPr>
            <p:ph type="ftr" sz="quarter" idx="11"/>
          </p:nvPr>
        </p:nvSpPr>
        <p:spPr/>
        <p:txBody>
          <a:bodyPr/>
          <a:lstStyle/>
          <a:p>
            <a:endParaRPr lang="en-FR"/>
          </a:p>
        </p:txBody>
      </p:sp>
      <p:sp>
        <p:nvSpPr>
          <p:cNvPr id="5" name="Slide Number Placeholder 4">
            <a:extLst>
              <a:ext uri="{FF2B5EF4-FFF2-40B4-BE49-F238E27FC236}">
                <a16:creationId xmlns:a16="http://schemas.microsoft.com/office/drawing/2014/main" id="{EEE01AC4-E310-4502-9159-242C984B24A2}"/>
              </a:ext>
            </a:extLst>
          </p:cNvPr>
          <p:cNvSpPr>
            <a:spLocks noGrp="1"/>
          </p:cNvSpPr>
          <p:nvPr>
            <p:ph type="sldNum" sz="quarter" idx="12"/>
          </p:nvPr>
        </p:nvSpPr>
        <p:spPr/>
        <p:txBody>
          <a:bodyPr/>
          <a:lstStyle/>
          <a:p>
            <a:fld id="{3952E9A8-BE8A-F949-890B-0779218DA3EA}" type="slidenum">
              <a:rPr lang="en-FR" smtClean="0"/>
              <a:t>‹#›</a:t>
            </a:fld>
            <a:endParaRPr lang="en-FR"/>
          </a:p>
        </p:txBody>
      </p:sp>
    </p:spTree>
    <p:extLst>
      <p:ext uri="{BB962C8B-B14F-4D97-AF65-F5344CB8AC3E}">
        <p14:creationId xmlns:p14="http://schemas.microsoft.com/office/powerpoint/2010/main" val="3553603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DC04EF-47FF-1E9D-EF06-A748A8A12E78}"/>
              </a:ext>
            </a:extLst>
          </p:cNvPr>
          <p:cNvSpPr>
            <a:spLocks noGrp="1"/>
          </p:cNvSpPr>
          <p:nvPr>
            <p:ph type="dt" sz="half" idx="10"/>
          </p:nvPr>
        </p:nvSpPr>
        <p:spPr/>
        <p:txBody>
          <a:bodyPr/>
          <a:lstStyle/>
          <a:p>
            <a:fld id="{CAF714CE-3AC8-F343-B9BE-F1A3B5B46C9D}" type="datetimeFigureOut">
              <a:rPr lang="en-FR" smtClean="0"/>
              <a:t>10/02/2026</a:t>
            </a:fld>
            <a:endParaRPr lang="en-FR"/>
          </a:p>
        </p:txBody>
      </p:sp>
      <p:sp>
        <p:nvSpPr>
          <p:cNvPr id="3" name="Footer Placeholder 2">
            <a:extLst>
              <a:ext uri="{FF2B5EF4-FFF2-40B4-BE49-F238E27FC236}">
                <a16:creationId xmlns:a16="http://schemas.microsoft.com/office/drawing/2014/main" id="{535D93E9-8F28-D110-6D2E-BD8FD48FB028}"/>
              </a:ext>
            </a:extLst>
          </p:cNvPr>
          <p:cNvSpPr>
            <a:spLocks noGrp="1"/>
          </p:cNvSpPr>
          <p:nvPr>
            <p:ph type="ftr" sz="quarter" idx="11"/>
          </p:nvPr>
        </p:nvSpPr>
        <p:spPr/>
        <p:txBody>
          <a:bodyPr/>
          <a:lstStyle/>
          <a:p>
            <a:endParaRPr lang="en-FR"/>
          </a:p>
        </p:txBody>
      </p:sp>
      <p:sp>
        <p:nvSpPr>
          <p:cNvPr id="4" name="Slide Number Placeholder 3">
            <a:extLst>
              <a:ext uri="{FF2B5EF4-FFF2-40B4-BE49-F238E27FC236}">
                <a16:creationId xmlns:a16="http://schemas.microsoft.com/office/drawing/2014/main" id="{89276240-BCDF-ECC6-4CC3-75D0067BEC4B}"/>
              </a:ext>
            </a:extLst>
          </p:cNvPr>
          <p:cNvSpPr>
            <a:spLocks noGrp="1"/>
          </p:cNvSpPr>
          <p:nvPr>
            <p:ph type="sldNum" sz="quarter" idx="12"/>
          </p:nvPr>
        </p:nvSpPr>
        <p:spPr/>
        <p:txBody>
          <a:bodyPr/>
          <a:lstStyle/>
          <a:p>
            <a:fld id="{3952E9A8-BE8A-F949-890B-0779218DA3EA}" type="slidenum">
              <a:rPr lang="en-FR" smtClean="0"/>
              <a:t>‹#›</a:t>
            </a:fld>
            <a:endParaRPr lang="en-FR"/>
          </a:p>
        </p:txBody>
      </p:sp>
    </p:spTree>
    <p:extLst>
      <p:ext uri="{BB962C8B-B14F-4D97-AF65-F5344CB8AC3E}">
        <p14:creationId xmlns:p14="http://schemas.microsoft.com/office/powerpoint/2010/main" val="3888014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D6C08-0E04-876F-AC98-B35504C5914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R"/>
          </a:p>
        </p:txBody>
      </p:sp>
      <p:sp>
        <p:nvSpPr>
          <p:cNvPr id="3" name="Content Placeholder 2">
            <a:extLst>
              <a:ext uri="{FF2B5EF4-FFF2-40B4-BE49-F238E27FC236}">
                <a16:creationId xmlns:a16="http://schemas.microsoft.com/office/drawing/2014/main" id="{B565F1A0-FB21-1FEE-451D-4C6E739C08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Text Placeholder 3">
            <a:extLst>
              <a:ext uri="{FF2B5EF4-FFF2-40B4-BE49-F238E27FC236}">
                <a16:creationId xmlns:a16="http://schemas.microsoft.com/office/drawing/2014/main" id="{30A72808-E880-ECA0-C9B2-5EB2D1A7B2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B5EE7BA-12BB-C5CF-22B8-DEA2545FBE5B}"/>
              </a:ext>
            </a:extLst>
          </p:cNvPr>
          <p:cNvSpPr>
            <a:spLocks noGrp="1"/>
          </p:cNvSpPr>
          <p:nvPr>
            <p:ph type="dt" sz="half" idx="10"/>
          </p:nvPr>
        </p:nvSpPr>
        <p:spPr/>
        <p:txBody>
          <a:bodyPr/>
          <a:lstStyle/>
          <a:p>
            <a:fld id="{CAF714CE-3AC8-F343-B9BE-F1A3B5B46C9D}" type="datetimeFigureOut">
              <a:rPr lang="en-FR" smtClean="0"/>
              <a:t>10/02/2026</a:t>
            </a:fld>
            <a:endParaRPr lang="en-FR"/>
          </a:p>
        </p:txBody>
      </p:sp>
      <p:sp>
        <p:nvSpPr>
          <p:cNvPr id="6" name="Footer Placeholder 5">
            <a:extLst>
              <a:ext uri="{FF2B5EF4-FFF2-40B4-BE49-F238E27FC236}">
                <a16:creationId xmlns:a16="http://schemas.microsoft.com/office/drawing/2014/main" id="{9AE031A6-7D5B-5775-0F01-CFEE2DA10BF2}"/>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5AD2EA4F-AE77-01E4-D526-C53933FB3EE9}"/>
              </a:ext>
            </a:extLst>
          </p:cNvPr>
          <p:cNvSpPr>
            <a:spLocks noGrp="1"/>
          </p:cNvSpPr>
          <p:nvPr>
            <p:ph type="sldNum" sz="quarter" idx="12"/>
          </p:nvPr>
        </p:nvSpPr>
        <p:spPr/>
        <p:txBody>
          <a:bodyPr/>
          <a:lstStyle/>
          <a:p>
            <a:fld id="{3952E9A8-BE8A-F949-890B-0779218DA3EA}" type="slidenum">
              <a:rPr lang="en-FR" smtClean="0"/>
              <a:t>‹#›</a:t>
            </a:fld>
            <a:endParaRPr lang="en-FR"/>
          </a:p>
        </p:txBody>
      </p:sp>
    </p:spTree>
    <p:extLst>
      <p:ext uri="{BB962C8B-B14F-4D97-AF65-F5344CB8AC3E}">
        <p14:creationId xmlns:p14="http://schemas.microsoft.com/office/powerpoint/2010/main" val="174552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587C3-64BA-3D31-0093-6CE64751B68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R"/>
          </a:p>
        </p:txBody>
      </p:sp>
      <p:sp>
        <p:nvSpPr>
          <p:cNvPr id="3" name="Picture Placeholder 2">
            <a:extLst>
              <a:ext uri="{FF2B5EF4-FFF2-40B4-BE49-F238E27FC236}">
                <a16:creationId xmlns:a16="http://schemas.microsoft.com/office/drawing/2014/main" id="{4213A10A-5EA8-D081-D1C1-AE3C2D621B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FR"/>
          </a:p>
        </p:txBody>
      </p:sp>
      <p:sp>
        <p:nvSpPr>
          <p:cNvPr id="4" name="Text Placeholder 3">
            <a:extLst>
              <a:ext uri="{FF2B5EF4-FFF2-40B4-BE49-F238E27FC236}">
                <a16:creationId xmlns:a16="http://schemas.microsoft.com/office/drawing/2014/main" id="{A6AC5BE3-E4A5-9624-A860-937E6D5BE2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E19FFCC-686B-C8A0-F0DE-DAD09E683033}"/>
              </a:ext>
            </a:extLst>
          </p:cNvPr>
          <p:cNvSpPr>
            <a:spLocks noGrp="1"/>
          </p:cNvSpPr>
          <p:nvPr>
            <p:ph type="dt" sz="half" idx="10"/>
          </p:nvPr>
        </p:nvSpPr>
        <p:spPr/>
        <p:txBody>
          <a:bodyPr/>
          <a:lstStyle/>
          <a:p>
            <a:fld id="{CAF714CE-3AC8-F343-B9BE-F1A3B5B46C9D}" type="datetimeFigureOut">
              <a:rPr lang="en-FR" smtClean="0"/>
              <a:t>10/02/2026</a:t>
            </a:fld>
            <a:endParaRPr lang="en-FR"/>
          </a:p>
        </p:txBody>
      </p:sp>
      <p:sp>
        <p:nvSpPr>
          <p:cNvPr id="6" name="Footer Placeholder 5">
            <a:extLst>
              <a:ext uri="{FF2B5EF4-FFF2-40B4-BE49-F238E27FC236}">
                <a16:creationId xmlns:a16="http://schemas.microsoft.com/office/drawing/2014/main" id="{C659A3C7-0B93-922F-98EF-927BB27C6D5A}"/>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6CFC6C55-CE2F-71C8-405A-1CED594479EF}"/>
              </a:ext>
            </a:extLst>
          </p:cNvPr>
          <p:cNvSpPr>
            <a:spLocks noGrp="1"/>
          </p:cNvSpPr>
          <p:nvPr>
            <p:ph type="sldNum" sz="quarter" idx="12"/>
          </p:nvPr>
        </p:nvSpPr>
        <p:spPr/>
        <p:txBody>
          <a:bodyPr/>
          <a:lstStyle/>
          <a:p>
            <a:fld id="{3952E9A8-BE8A-F949-890B-0779218DA3EA}" type="slidenum">
              <a:rPr lang="en-FR" smtClean="0"/>
              <a:t>‹#›</a:t>
            </a:fld>
            <a:endParaRPr lang="en-FR"/>
          </a:p>
        </p:txBody>
      </p:sp>
    </p:spTree>
    <p:extLst>
      <p:ext uri="{BB962C8B-B14F-4D97-AF65-F5344CB8AC3E}">
        <p14:creationId xmlns:p14="http://schemas.microsoft.com/office/powerpoint/2010/main" val="3947312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350D5-0274-ECDD-8D8B-DECF89717C3C}"/>
              </a:ext>
            </a:extLst>
          </p:cNvPr>
          <p:cNvSpPr>
            <a:spLocks noGrp="1"/>
          </p:cNvSpPr>
          <p:nvPr>
            <p:ph type="title"/>
          </p:nvPr>
        </p:nvSpPr>
        <p:spPr/>
        <p:txBody>
          <a:bodyPr/>
          <a:lstStyle/>
          <a:p>
            <a:r>
              <a:rPr lang="en-GB"/>
              <a:t>Click to edit Master title style</a:t>
            </a:r>
            <a:endParaRPr lang="en-FR"/>
          </a:p>
        </p:txBody>
      </p:sp>
      <p:sp>
        <p:nvSpPr>
          <p:cNvPr id="3" name="Vertical Text Placeholder 2">
            <a:extLst>
              <a:ext uri="{FF2B5EF4-FFF2-40B4-BE49-F238E27FC236}">
                <a16:creationId xmlns:a16="http://schemas.microsoft.com/office/drawing/2014/main" id="{7D81C8FF-3576-E60A-F074-0E6B400E539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4B3351F0-7A8A-CAB1-B8B0-92D0812B381D}"/>
              </a:ext>
            </a:extLst>
          </p:cNvPr>
          <p:cNvSpPr>
            <a:spLocks noGrp="1"/>
          </p:cNvSpPr>
          <p:nvPr>
            <p:ph type="dt" sz="half" idx="10"/>
          </p:nvPr>
        </p:nvSpPr>
        <p:spPr/>
        <p:txBody>
          <a:bodyPr/>
          <a:lstStyle/>
          <a:p>
            <a:fld id="{CAF714CE-3AC8-F343-B9BE-F1A3B5B46C9D}" type="datetimeFigureOut">
              <a:rPr lang="en-FR" smtClean="0"/>
              <a:t>10/02/2026</a:t>
            </a:fld>
            <a:endParaRPr lang="en-FR"/>
          </a:p>
        </p:txBody>
      </p:sp>
      <p:sp>
        <p:nvSpPr>
          <p:cNvPr id="5" name="Footer Placeholder 4">
            <a:extLst>
              <a:ext uri="{FF2B5EF4-FFF2-40B4-BE49-F238E27FC236}">
                <a16:creationId xmlns:a16="http://schemas.microsoft.com/office/drawing/2014/main" id="{B76A6379-4E3A-CE5A-1258-873822A75910}"/>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BA17114C-0E81-1F27-4D02-AB210F43B47D}"/>
              </a:ext>
            </a:extLst>
          </p:cNvPr>
          <p:cNvSpPr>
            <a:spLocks noGrp="1"/>
          </p:cNvSpPr>
          <p:nvPr>
            <p:ph type="sldNum" sz="quarter" idx="12"/>
          </p:nvPr>
        </p:nvSpPr>
        <p:spPr/>
        <p:txBody>
          <a:bodyPr/>
          <a:lstStyle/>
          <a:p>
            <a:fld id="{3952E9A8-BE8A-F949-890B-0779218DA3EA}" type="slidenum">
              <a:rPr lang="en-FR" smtClean="0"/>
              <a:t>‹#›</a:t>
            </a:fld>
            <a:endParaRPr lang="en-FR"/>
          </a:p>
        </p:txBody>
      </p:sp>
    </p:spTree>
    <p:extLst>
      <p:ext uri="{BB962C8B-B14F-4D97-AF65-F5344CB8AC3E}">
        <p14:creationId xmlns:p14="http://schemas.microsoft.com/office/powerpoint/2010/main" val="3065682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68245B-3913-585B-B777-3EE472A10C5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FR"/>
          </a:p>
        </p:txBody>
      </p:sp>
      <p:sp>
        <p:nvSpPr>
          <p:cNvPr id="3" name="Vertical Text Placeholder 2">
            <a:extLst>
              <a:ext uri="{FF2B5EF4-FFF2-40B4-BE49-F238E27FC236}">
                <a16:creationId xmlns:a16="http://schemas.microsoft.com/office/drawing/2014/main" id="{07D0D312-CF85-E63F-60A4-36F22B294CF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748A09FD-38DA-A5A7-1D4D-2001B16308C4}"/>
              </a:ext>
            </a:extLst>
          </p:cNvPr>
          <p:cNvSpPr>
            <a:spLocks noGrp="1"/>
          </p:cNvSpPr>
          <p:nvPr>
            <p:ph type="dt" sz="half" idx="10"/>
          </p:nvPr>
        </p:nvSpPr>
        <p:spPr/>
        <p:txBody>
          <a:bodyPr/>
          <a:lstStyle/>
          <a:p>
            <a:fld id="{CAF714CE-3AC8-F343-B9BE-F1A3B5B46C9D}" type="datetimeFigureOut">
              <a:rPr lang="en-FR" smtClean="0"/>
              <a:t>10/02/2026</a:t>
            </a:fld>
            <a:endParaRPr lang="en-FR"/>
          </a:p>
        </p:txBody>
      </p:sp>
      <p:sp>
        <p:nvSpPr>
          <p:cNvPr id="5" name="Footer Placeholder 4">
            <a:extLst>
              <a:ext uri="{FF2B5EF4-FFF2-40B4-BE49-F238E27FC236}">
                <a16:creationId xmlns:a16="http://schemas.microsoft.com/office/drawing/2014/main" id="{07DB90EC-8BE6-D221-24C7-3FA6B01FEB62}"/>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40DE9B9F-6E04-B81C-F1A9-E0FBB567A539}"/>
              </a:ext>
            </a:extLst>
          </p:cNvPr>
          <p:cNvSpPr>
            <a:spLocks noGrp="1"/>
          </p:cNvSpPr>
          <p:nvPr>
            <p:ph type="sldNum" sz="quarter" idx="12"/>
          </p:nvPr>
        </p:nvSpPr>
        <p:spPr/>
        <p:txBody>
          <a:bodyPr/>
          <a:lstStyle/>
          <a:p>
            <a:fld id="{3952E9A8-BE8A-F949-890B-0779218DA3EA}" type="slidenum">
              <a:rPr lang="en-FR" smtClean="0"/>
              <a:t>‹#›</a:t>
            </a:fld>
            <a:endParaRPr lang="en-FR"/>
          </a:p>
        </p:txBody>
      </p:sp>
    </p:spTree>
    <p:extLst>
      <p:ext uri="{BB962C8B-B14F-4D97-AF65-F5344CB8AC3E}">
        <p14:creationId xmlns:p14="http://schemas.microsoft.com/office/powerpoint/2010/main" val="1018483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D91CF9-DEFE-928B-E1C7-4D7C35AEE9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FR"/>
          </a:p>
        </p:txBody>
      </p:sp>
      <p:sp>
        <p:nvSpPr>
          <p:cNvPr id="3" name="Text Placeholder 2">
            <a:extLst>
              <a:ext uri="{FF2B5EF4-FFF2-40B4-BE49-F238E27FC236}">
                <a16:creationId xmlns:a16="http://schemas.microsoft.com/office/drawing/2014/main" id="{6045ACD1-61AA-2FA6-EE69-E6A98BDEC3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15DCE343-3018-B00F-6873-2F3625E6EE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AF714CE-3AC8-F343-B9BE-F1A3B5B46C9D}" type="datetimeFigureOut">
              <a:rPr lang="en-FR" smtClean="0"/>
              <a:t>10/02/2026</a:t>
            </a:fld>
            <a:endParaRPr lang="en-FR"/>
          </a:p>
        </p:txBody>
      </p:sp>
      <p:sp>
        <p:nvSpPr>
          <p:cNvPr id="5" name="Footer Placeholder 4">
            <a:extLst>
              <a:ext uri="{FF2B5EF4-FFF2-40B4-BE49-F238E27FC236}">
                <a16:creationId xmlns:a16="http://schemas.microsoft.com/office/drawing/2014/main" id="{1236EAD0-465E-1B12-1B80-E922863679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FR"/>
          </a:p>
        </p:txBody>
      </p:sp>
      <p:sp>
        <p:nvSpPr>
          <p:cNvPr id="6" name="Slide Number Placeholder 5">
            <a:extLst>
              <a:ext uri="{FF2B5EF4-FFF2-40B4-BE49-F238E27FC236}">
                <a16:creationId xmlns:a16="http://schemas.microsoft.com/office/drawing/2014/main" id="{4C036127-F153-CBAB-7B9F-01082A3FDB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952E9A8-BE8A-F949-890B-0779218DA3EA}" type="slidenum">
              <a:rPr lang="en-FR" smtClean="0"/>
              <a:t>‹#›</a:t>
            </a:fld>
            <a:endParaRPr lang="en-FR"/>
          </a:p>
        </p:txBody>
      </p:sp>
    </p:spTree>
    <p:extLst>
      <p:ext uri="{BB962C8B-B14F-4D97-AF65-F5344CB8AC3E}">
        <p14:creationId xmlns:p14="http://schemas.microsoft.com/office/powerpoint/2010/main" val="19497563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217F8-E868-F7E9-3A9C-FC2BC69911C0}"/>
              </a:ext>
            </a:extLst>
          </p:cNvPr>
          <p:cNvSpPr>
            <a:spLocks noGrp="1"/>
          </p:cNvSpPr>
          <p:nvPr>
            <p:ph type="ctrTitle"/>
          </p:nvPr>
        </p:nvSpPr>
        <p:spPr/>
        <p:txBody>
          <a:bodyPr/>
          <a:lstStyle/>
          <a:p>
            <a:r>
              <a:rPr lang="en-FR" dirty="0"/>
              <a:t>Overview of Gildas’ and Bastien experiment</a:t>
            </a:r>
          </a:p>
        </p:txBody>
      </p:sp>
      <p:sp>
        <p:nvSpPr>
          <p:cNvPr id="3" name="Subtitle 2">
            <a:extLst>
              <a:ext uri="{FF2B5EF4-FFF2-40B4-BE49-F238E27FC236}">
                <a16:creationId xmlns:a16="http://schemas.microsoft.com/office/drawing/2014/main" id="{A80C37A4-53BD-80EC-4601-0BF4006B9BE9}"/>
              </a:ext>
            </a:extLst>
          </p:cNvPr>
          <p:cNvSpPr>
            <a:spLocks noGrp="1"/>
          </p:cNvSpPr>
          <p:nvPr>
            <p:ph type="subTitle" idx="1"/>
          </p:nvPr>
        </p:nvSpPr>
        <p:spPr/>
        <p:txBody>
          <a:bodyPr/>
          <a:lstStyle/>
          <a:p>
            <a:r>
              <a:rPr lang="en-FR" dirty="0"/>
              <a:t>08/02/26</a:t>
            </a:r>
          </a:p>
        </p:txBody>
      </p:sp>
    </p:spTree>
    <p:extLst>
      <p:ext uri="{BB962C8B-B14F-4D97-AF65-F5344CB8AC3E}">
        <p14:creationId xmlns:p14="http://schemas.microsoft.com/office/powerpoint/2010/main" val="633072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86E67-FE96-5EBC-5317-EA52C156226D}"/>
              </a:ext>
            </a:extLst>
          </p:cNvPr>
          <p:cNvSpPr>
            <a:spLocks noGrp="1"/>
          </p:cNvSpPr>
          <p:nvPr>
            <p:ph type="title"/>
          </p:nvPr>
        </p:nvSpPr>
        <p:spPr/>
        <p:txBody>
          <a:bodyPr/>
          <a:lstStyle/>
          <a:p>
            <a:r>
              <a:rPr lang="en-FR" dirty="0"/>
              <a:t>Plan</a:t>
            </a:r>
          </a:p>
        </p:txBody>
      </p:sp>
      <p:sp>
        <p:nvSpPr>
          <p:cNvPr id="3" name="Content Placeholder 2">
            <a:extLst>
              <a:ext uri="{FF2B5EF4-FFF2-40B4-BE49-F238E27FC236}">
                <a16:creationId xmlns:a16="http://schemas.microsoft.com/office/drawing/2014/main" id="{BDCFA5EA-8D3D-EDB7-5F05-14096765AD3F}"/>
              </a:ext>
            </a:extLst>
          </p:cNvPr>
          <p:cNvSpPr>
            <a:spLocks noGrp="1"/>
          </p:cNvSpPr>
          <p:nvPr>
            <p:ph idx="1"/>
          </p:nvPr>
        </p:nvSpPr>
        <p:spPr/>
        <p:txBody>
          <a:bodyPr/>
          <a:lstStyle/>
          <a:p>
            <a:r>
              <a:rPr lang="en-FR" b="1" dirty="0"/>
              <a:t>I</a:t>
            </a:r>
            <a:r>
              <a:rPr lang="en-FR" dirty="0"/>
              <a:t> Oprea’s paper recap : results and criticisms</a:t>
            </a:r>
          </a:p>
          <a:p>
            <a:r>
              <a:rPr lang="en-FR" b="1" dirty="0"/>
              <a:t>II</a:t>
            </a:r>
            <a:r>
              <a:rPr lang="en-FR" dirty="0"/>
              <a:t> Our hypotheses and experiment</a:t>
            </a:r>
          </a:p>
          <a:p>
            <a:r>
              <a:rPr lang="en-FR" b="1" dirty="0"/>
              <a:t>III</a:t>
            </a:r>
            <a:r>
              <a:rPr lang="en-FR" dirty="0"/>
              <a:t> Preliminary results: </a:t>
            </a:r>
          </a:p>
          <a:p>
            <a:pPr lvl="1"/>
            <a:r>
              <a:rPr lang="en-FR" dirty="0"/>
              <a:t>Fourfold pattern is found overall as a trend for both lotteries and mirrors</a:t>
            </a:r>
          </a:p>
          <a:p>
            <a:pPr lvl="1"/>
            <a:r>
              <a:rPr lang="en-FR" dirty="0"/>
              <a:t>Cognitive load does not produce between treatment differences</a:t>
            </a:r>
          </a:p>
          <a:p>
            <a:pPr lvl="1"/>
            <a:r>
              <a:rPr lang="en-FR" dirty="0"/>
              <a:t>Sensitivity to cognitive load seems to strengthens the deviations from EV</a:t>
            </a:r>
          </a:p>
        </p:txBody>
      </p:sp>
    </p:spTree>
    <p:extLst>
      <p:ext uri="{BB962C8B-B14F-4D97-AF65-F5344CB8AC3E}">
        <p14:creationId xmlns:p14="http://schemas.microsoft.com/office/powerpoint/2010/main" val="539758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35B73-6FD2-A4C7-CFBB-059300D025CD}"/>
              </a:ext>
            </a:extLst>
          </p:cNvPr>
          <p:cNvSpPr>
            <a:spLocks noGrp="1"/>
          </p:cNvSpPr>
          <p:nvPr>
            <p:ph type="title"/>
          </p:nvPr>
        </p:nvSpPr>
        <p:spPr/>
        <p:txBody>
          <a:bodyPr/>
          <a:lstStyle/>
          <a:p>
            <a:r>
              <a:rPr lang="en-FR" dirty="0"/>
              <a:t>I Oprea’s paper – His thesis</a:t>
            </a:r>
          </a:p>
        </p:txBody>
      </p:sp>
      <p:sp>
        <p:nvSpPr>
          <p:cNvPr id="3" name="Content Placeholder 2">
            <a:extLst>
              <a:ext uri="{FF2B5EF4-FFF2-40B4-BE49-F238E27FC236}">
                <a16:creationId xmlns:a16="http://schemas.microsoft.com/office/drawing/2014/main" id="{67C66567-EF53-8230-7D14-67365B7E46E6}"/>
              </a:ext>
            </a:extLst>
          </p:cNvPr>
          <p:cNvSpPr>
            <a:spLocks noGrp="1"/>
          </p:cNvSpPr>
          <p:nvPr>
            <p:ph idx="1"/>
          </p:nvPr>
        </p:nvSpPr>
        <p:spPr/>
        <p:txBody>
          <a:bodyPr/>
          <a:lstStyle/>
          <a:p>
            <a:r>
              <a:rPr lang="en-FR" dirty="0"/>
              <a:t>Prospect theory’s main prediction, the fourfold pattern of choice (s-shape curve) partly arises due to cognitive factors that are not specific to probabilities, risk or uncertainty.</a:t>
            </a:r>
          </a:p>
          <a:p>
            <a:r>
              <a:rPr lang="en-FR" dirty="0"/>
              <a:t>Rather the complexity of the choice problem (defined as a subjective cost to solve it) produces it also in other problems.</a:t>
            </a:r>
          </a:p>
          <a:p>
            <a:r>
              <a:rPr lang="en-FR" dirty="0"/>
              <a:t>He doesn’t support the idea that there is no difference between situations with risk and situations without risk – at least because risk could increase complexity.</a:t>
            </a:r>
          </a:p>
        </p:txBody>
      </p:sp>
    </p:spTree>
    <p:extLst>
      <p:ext uri="{BB962C8B-B14F-4D97-AF65-F5344CB8AC3E}">
        <p14:creationId xmlns:p14="http://schemas.microsoft.com/office/powerpoint/2010/main" val="2790331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1C6BE-C505-E043-6A3A-DDBF41E0FDCC}"/>
              </a:ext>
            </a:extLst>
          </p:cNvPr>
          <p:cNvSpPr>
            <a:spLocks noGrp="1"/>
          </p:cNvSpPr>
          <p:nvPr>
            <p:ph type="title"/>
          </p:nvPr>
        </p:nvSpPr>
        <p:spPr>
          <a:xfrm>
            <a:off x="838200" y="365126"/>
            <a:ext cx="3370545" cy="874952"/>
          </a:xfrm>
        </p:spPr>
        <p:txBody>
          <a:bodyPr>
            <a:normAutofit/>
          </a:bodyPr>
          <a:lstStyle/>
          <a:p>
            <a:r>
              <a:rPr lang="en-FR" sz="2500" dirty="0"/>
              <a:t>I Oprea’s paper –results</a:t>
            </a:r>
          </a:p>
        </p:txBody>
      </p:sp>
      <p:pic>
        <p:nvPicPr>
          <p:cNvPr id="5" name="Content Placeholder 4" descr="A graph of numbers and letters&#10;&#10;AI-generated content may be incorrect.">
            <a:extLst>
              <a:ext uri="{FF2B5EF4-FFF2-40B4-BE49-F238E27FC236}">
                <a16:creationId xmlns:a16="http://schemas.microsoft.com/office/drawing/2014/main" id="{EA80D1F4-FA01-4B8D-72B0-3EAC86A33984}"/>
              </a:ext>
            </a:extLst>
          </p:cNvPr>
          <p:cNvPicPr>
            <a:picLocks noGrp="1" noChangeAspect="1"/>
          </p:cNvPicPr>
          <p:nvPr>
            <p:ph idx="1"/>
          </p:nvPr>
        </p:nvPicPr>
        <p:blipFill>
          <a:blip r:embed="rId3"/>
          <a:srcRect b="9975"/>
          <a:stretch>
            <a:fillRect/>
          </a:stretch>
        </p:blipFill>
        <p:spPr>
          <a:xfrm>
            <a:off x="5520267" y="101599"/>
            <a:ext cx="6628145" cy="5732671"/>
          </a:xfrm>
        </p:spPr>
      </p:pic>
      <p:sp>
        <p:nvSpPr>
          <p:cNvPr id="3" name="Rectangle 2">
            <a:extLst>
              <a:ext uri="{FF2B5EF4-FFF2-40B4-BE49-F238E27FC236}">
                <a16:creationId xmlns:a16="http://schemas.microsoft.com/office/drawing/2014/main" id="{41A2971F-922B-B8D9-5062-8827AD1BA48B}"/>
              </a:ext>
            </a:extLst>
          </p:cNvPr>
          <p:cNvSpPr/>
          <p:nvPr/>
        </p:nvSpPr>
        <p:spPr>
          <a:xfrm>
            <a:off x="313508" y="5720575"/>
            <a:ext cx="11732532" cy="103582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lvl="1"/>
            <a:r>
              <a:rPr lang="fr-FR" sz="2200" dirty="0">
                <a:solidFill>
                  <a:schemeClr val="tx1"/>
                </a:solidFill>
                <a:sym typeface="Wingdings" panose="05000000000000000000" pitchFamily="2" charset="2"/>
              </a:rPr>
              <a:t></a:t>
            </a:r>
            <a:r>
              <a:rPr lang="en-US" sz="2200" dirty="0">
                <a:solidFill>
                  <a:schemeClr val="tx1"/>
                </a:solidFill>
              </a:rPr>
              <a:t>The fourfold pattern of risk attitudes (G and L tasks ) and loss aversion (A tasks) arise both in lotteries and mirrors (riskless tasks)</a:t>
            </a:r>
          </a:p>
          <a:p>
            <a:pPr lvl="1"/>
            <a:r>
              <a:rPr lang="en-US" sz="2200" dirty="0">
                <a:solidFill>
                  <a:schemeClr val="tx1"/>
                </a:solidFill>
                <a:sym typeface="Wingdings" panose="05000000000000000000" pitchFamily="2" charset="2"/>
              </a:rPr>
              <a:t>Interpretation: they arise from cognitive limitations not inherent to risk</a:t>
            </a:r>
            <a:endParaRPr lang="en-FR" sz="2200" dirty="0">
              <a:solidFill>
                <a:schemeClr val="tx1"/>
              </a:solidFill>
            </a:endParaRPr>
          </a:p>
        </p:txBody>
      </p:sp>
      <p:sp>
        <p:nvSpPr>
          <p:cNvPr id="4" name="TextBox 3">
            <a:extLst>
              <a:ext uri="{FF2B5EF4-FFF2-40B4-BE49-F238E27FC236}">
                <a16:creationId xmlns:a16="http://schemas.microsoft.com/office/drawing/2014/main" id="{CC0F1309-DF0A-F2B6-13BF-B173CEE5982D}"/>
              </a:ext>
            </a:extLst>
          </p:cNvPr>
          <p:cNvSpPr txBox="1"/>
          <p:nvPr/>
        </p:nvSpPr>
        <p:spPr>
          <a:xfrm>
            <a:off x="1903956" y="3582444"/>
            <a:ext cx="3883069" cy="1200329"/>
          </a:xfrm>
          <a:prstGeom prst="rect">
            <a:avLst/>
          </a:prstGeom>
          <a:noFill/>
        </p:spPr>
        <p:txBody>
          <a:bodyPr wrap="square" rtlCol="0">
            <a:spAutoFit/>
          </a:bodyPr>
          <a:lstStyle/>
          <a:p>
            <a:r>
              <a:rPr lang="en-FR" dirty="0"/>
              <a:t>Figure 1. Mean deviations from EV in lotteries (solid gray dots and triangles) and mirrors (hollow dots and trianls)</a:t>
            </a:r>
          </a:p>
        </p:txBody>
      </p:sp>
    </p:spTree>
    <p:extLst>
      <p:ext uri="{BB962C8B-B14F-4D97-AF65-F5344CB8AC3E}">
        <p14:creationId xmlns:p14="http://schemas.microsoft.com/office/powerpoint/2010/main" val="54991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A19E4-6D1C-889D-4BF3-4725FE21CE01}"/>
              </a:ext>
            </a:extLst>
          </p:cNvPr>
          <p:cNvSpPr>
            <a:spLocks noGrp="1"/>
          </p:cNvSpPr>
          <p:nvPr>
            <p:ph type="title"/>
          </p:nvPr>
        </p:nvSpPr>
        <p:spPr>
          <a:xfrm>
            <a:off x="838200" y="365126"/>
            <a:ext cx="2781822" cy="1112946"/>
          </a:xfrm>
        </p:spPr>
        <p:txBody>
          <a:bodyPr>
            <a:normAutofit/>
          </a:bodyPr>
          <a:lstStyle/>
          <a:p>
            <a:r>
              <a:rPr lang="en-FR" sz="2500" dirty="0"/>
              <a:t>I Oprea’s paper –results</a:t>
            </a:r>
          </a:p>
        </p:txBody>
      </p:sp>
      <p:pic>
        <p:nvPicPr>
          <p:cNvPr id="5" name="Content Placeholder 4" descr="A graph of a number of different numbers&#10;&#10;AI-generated content may be incorrect.">
            <a:extLst>
              <a:ext uri="{FF2B5EF4-FFF2-40B4-BE49-F238E27FC236}">
                <a16:creationId xmlns:a16="http://schemas.microsoft.com/office/drawing/2014/main" id="{AD4DEF37-06D8-1B45-E4B6-2E84D3917779}"/>
              </a:ext>
            </a:extLst>
          </p:cNvPr>
          <p:cNvPicPr>
            <a:picLocks noGrp="1" noChangeAspect="1"/>
          </p:cNvPicPr>
          <p:nvPr>
            <p:ph idx="1"/>
          </p:nvPr>
        </p:nvPicPr>
        <p:blipFill>
          <a:blip r:embed="rId3"/>
          <a:srcRect b="18250"/>
          <a:stretch>
            <a:fillRect/>
          </a:stretch>
        </p:blipFill>
        <p:spPr>
          <a:xfrm>
            <a:off x="4175683" y="0"/>
            <a:ext cx="8016318" cy="4846351"/>
          </a:xfrm>
        </p:spPr>
      </p:pic>
      <p:sp>
        <p:nvSpPr>
          <p:cNvPr id="3" name="Rectangle 2">
            <a:extLst>
              <a:ext uri="{FF2B5EF4-FFF2-40B4-BE49-F238E27FC236}">
                <a16:creationId xmlns:a16="http://schemas.microsoft.com/office/drawing/2014/main" id="{F97E48B5-A280-1F7B-5D5A-1670223701E6}"/>
              </a:ext>
            </a:extLst>
          </p:cNvPr>
          <p:cNvSpPr/>
          <p:nvPr/>
        </p:nvSpPr>
        <p:spPr>
          <a:xfrm>
            <a:off x="229734" y="5961168"/>
            <a:ext cx="11732532" cy="74941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lvl="1"/>
            <a:r>
              <a:rPr lang="en-US" sz="2200" dirty="0">
                <a:solidFill>
                  <a:schemeClr val="tx1"/>
                </a:solidFill>
                <a:sym typeface="Wingdings" panose="05000000000000000000" pitchFamily="2" charset="2"/>
              </a:rPr>
              <a:t>Deviations in lotteries and mirrors are correlated at the subject level: .68 (p &lt; 0.001).</a:t>
            </a:r>
          </a:p>
          <a:p>
            <a:pPr lvl="1"/>
            <a:r>
              <a:rPr lang="en-US" sz="2200" dirty="0">
                <a:solidFill>
                  <a:schemeClr val="tx1"/>
                </a:solidFill>
                <a:sym typeface="Wingdings" panose="05000000000000000000" pitchFamily="2" charset="2"/>
              </a:rPr>
              <a:t> It supports the idea of common mechanisms between risky and riskless tasks</a:t>
            </a:r>
          </a:p>
        </p:txBody>
      </p:sp>
    </p:spTree>
    <p:extLst>
      <p:ext uri="{BB962C8B-B14F-4D97-AF65-F5344CB8AC3E}">
        <p14:creationId xmlns:p14="http://schemas.microsoft.com/office/powerpoint/2010/main" val="4193615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D97C8-C367-A7DB-6DF6-6F0E4032A9F6}"/>
              </a:ext>
            </a:extLst>
          </p:cNvPr>
          <p:cNvSpPr>
            <a:spLocks noGrp="1"/>
          </p:cNvSpPr>
          <p:nvPr>
            <p:ph type="title"/>
          </p:nvPr>
        </p:nvSpPr>
        <p:spPr>
          <a:xfrm>
            <a:off x="803366" y="0"/>
            <a:ext cx="9315994" cy="1325563"/>
          </a:xfrm>
        </p:spPr>
        <p:txBody>
          <a:bodyPr/>
          <a:lstStyle/>
          <a:p>
            <a:r>
              <a:rPr lang="en-FR" dirty="0"/>
              <a:t>I Oprea’s paper - Criticisms</a:t>
            </a:r>
          </a:p>
        </p:txBody>
      </p:sp>
      <p:sp>
        <p:nvSpPr>
          <p:cNvPr id="3" name="Content Placeholder 2">
            <a:extLst>
              <a:ext uri="{FF2B5EF4-FFF2-40B4-BE49-F238E27FC236}">
                <a16:creationId xmlns:a16="http://schemas.microsoft.com/office/drawing/2014/main" id="{03A58D46-264D-B92B-2684-033E6FE49233}"/>
              </a:ext>
            </a:extLst>
          </p:cNvPr>
          <p:cNvSpPr>
            <a:spLocks noGrp="1"/>
          </p:cNvSpPr>
          <p:nvPr>
            <p:ph idx="1"/>
          </p:nvPr>
        </p:nvSpPr>
        <p:spPr>
          <a:xfrm>
            <a:off x="397934" y="1825625"/>
            <a:ext cx="3505852" cy="2305455"/>
          </a:xfrm>
        </p:spPr>
        <p:txBody>
          <a:bodyPr>
            <a:normAutofit/>
          </a:bodyPr>
          <a:lstStyle/>
          <a:p>
            <a:pPr marL="457200" lvl="1" indent="0">
              <a:buNone/>
            </a:pPr>
            <a:r>
              <a:rPr lang="en-FR" sz="2200" dirty="0"/>
              <a:t>1) Participants did not understand wether their tasks were risky or not. </a:t>
            </a:r>
            <a:endParaRPr lang="en-FR" dirty="0"/>
          </a:p>
        </p:txBody>
      </p:sp>
      <p:pic>
        <p:nvPicPr>
          <p:cNvPr id="5" name="Picture 4" descr="A graph with red and blue dots&#10;&#10;AI-generated content may be incorrect.">
            <a:extLst>
              <a:ext uri="{FF2B5EF4-FFF2-40B4-BE49-F238E27FC236}">
                <a16:creationId xmlns:a16="http://schemas.microsoft.com/office/drawing/2014/main" id="{82FA20C6-D378-7289-CF14-2397878128B0}"/>
              </a:ext>
            </a:extLst>
          </p:cNvPr>
          <p:cNvPicPr>
            <a:picLocks noChangeAspect="1"/>
          </p:cNvPicPr>
          <p:nvPr/>
        </p:nvPicPr>
        <p:blipFill>
          <a:blip r:embed="rId3"/>
          <a:stretch>
            <a:fillRect/>
          </a:stretch>
        </p:blipFill>
        <p:spPr>
          <a:xfrm>
            <a:off x="3783908" y="1104534"/>
            <a:ext cx="8416801" cy="5050081"/>
          </a:xfrm>
          <a:prstGeom prst="rect">
            <a:avLst/>
          </a:prstGeom>
        </p:spPr>
      </p:pic>
      <p:sp>
        <p:nvSpPr>
          <p:cNvPr id="4" name="TextBox 3">
            <a:extLst>
              <a:ext uri="{FF2B5EF4-FFF2-40B4-BE49-F238E27FC236}">
                <a16:creationId xmlns:a16="http://schemas.microsoft.com/office/drawing/2014/main" id="{E291AB02-8292-69BF-DF61-88284E0A1B80}"/>
              </a:ext>
            </a:extLst>
          </p:cNvPr>
          <p:cNvSpPr txBox="1"/>
          <p:nvPr/>
        </p:nvSpPr>
        <p:spPr>
          <a:xfrm rot="16200000">
            <a:off x="4143494" y="2245431"/>
            <a:ext cx="1706880" cy="369332"/>
          </a:xfrm>
          <a:prstGeom prst="rect">
            <a:avLst/>
          </a:prstGeom>
          <a:noFill/>
        </p:spPr>
        <p:txBody>
          <a:bodyPr wrap="square" rtlCol="0">
            <a:spAutoFit/>
          </a:bodyPr>
          <a:lstStyle/>
          <a:p>
            <a:r>
              <a:rPr lang="fr-FR" dirty="0"/>
              <a:t>% EV</a:t>
            </a:r>
          </a:p>
        </p:txBody>
      </p:sp>
      <p:sp>
        <p:nvSpPr>
          <p:cNvPr id="6" name="TextBox 5">
            <a:extLst>
              <a:ext uri="{FF2B5EF4-FFF2-40B4-BE49-F238E27FC236}">
                <a16:creationId xmlns:a16="http://schemas.microsoft.com/office/drawing/2014/main" id="{EE8815FD-676C-B66E-DB20-541FFE131CFA}"/>
              </a:ext>
            </a:extLst>
          </p:cNvPr>
          <p:cNvSpPr txBox="1"/>
          <p:nvPr/>
        </p:nvSpPr>
        <p:spPr>
          <a:xfrm>
            <a:off x="4656707" y="1388825"/>
            <a:ext cx="1136874" cy="369332"/>
          </a:xfrm>
          <a:prstGeom prst="rect">
            <a:avLst/>
          </a:prstGeom>
          <a:noFill/>
        </p:spPr>
        <p:txBody>
          <a:bodyPr wrap="square" rtlCol="0">
            <a:spAutoFit/>
          </a:bodyPr>
          <a:lstStyle/>
          <a:p>
            <a:r>
              <a:rPr lang="fr-FR" dirty="0"/>
              <a:t>100%  EV</a:t>
            </a:r>
          </a:p>
        </p:txBody>
      </p:sp>
      <p:sp>
        <p:nvSpPr>
          <p:cNvPr id="7" name="TextBox 6">
            <a:extLst>
              <a:ext uri="{FF2B5EF4-FFF2-40B4-BE49-F238E27FC236}">
                <a16:creationId xmlns:a16="http://schemas.microsoft.com/office/drawing/2014/main" id="{0E4EB18F-3FF7-D946-1D64-B693A98CA76B}"/>
              </a:ext>
            </a:extLst>
          </p:cNvPr>
          <p:cNvSpPr txBox="1"/>
          <p:nvPr/>
        </p:nvSpPr>
        <p:spPr>
          <a:xfrm>
            <a:off x="4798816" y="3761748"/>
            <a:ext cx="852657" cy="369332"/>
          </a:xfrm>
          <a:prstGeom prst="rect">
            <a:avLst/>
          </a:prstGeom>
          <a:solidFill>
            <a:schemeClr val="bg1"/>
          </a:solidFill>
        </p:spPr>
        <p:txBody>
          <a:bodyPr wrap="square" rtlCol="0">
            <a:spAutoFit/>
          </a:bodyPr>
          <a:lstStyle/>
          <a:p>
            <a:r>
              <a:rPr lang="fr-FR" dirty="0"/>
              <a:t>0%  EV</a:t>
            </a:r>
          </a:p>
        </p:txBody>
      </p:sp>
      <p:sp>
        <p:nvSpPr>
          <p:cNvPr id="8" name="TextBox 7">
            <a:extLst>
              <a:ext uri="{FF2B5EF4-FFF2-40B4-BE49-F238E27FC236}">
                <a16:creationId xmlns:a16="http://schemas.microsoft.com/office/drawing/2014/main" id="{43D305FB-B5EB-76A1-5794-459D21F1E221}"/>
              </a:ext>
            </a:extLst>
          </p:cNvPr>
          <p:cNvSpPr txBox="1"/>
          <p:nvPr/>
        </p:nvSpPr>
        <p:spPr>
          <a:xfrm>
            <a:off x="5113324" y="4912448"/>
            <a:ext cx="2549760" cy="646331"/>
          </a:xfrm>
          <a:prstGeom prst="rect">
            <a:avLst/>
          </a:prstGeom>
          <a:noFill/>
        </p:spPr>
        <p:txBody>
          <a:bodyPr wrap="square" rtlCol="0">
            <a:spAutoFit/>
          </a:bodyPr>
          <a:lstStyle/>
          <a:p>
            <a:r>
              <a:rPr lang="fr-FR" dirty="0"/>
              <a:t>0 </a:t>
            </a:r>
            <a:r>
              <a:rPr lang="fr-FR" dirty="0" err="1"/>
              <a:t>failed</a:t>
            </a:r>
            <a:r>
              <a:rPr lang="fr-FR" dirty="0"/>
              <a:t> </a:t>
            </a:r>
            <a:r>
              <a:rPr lang="fr-FR" dirty="0" err="1"/>
              <a:t>comprehension</a:t>
            </a:r>
            <a:r>
              <a:rPr lang="fr-FR" dirty="0"/>
              <a:t> questions</a:t>
            </a:r>
          </a:p>
        </p:txBody>
      </p:sp>
      <p:sp>
        <p:nvSpPr>
          <p:cNvPr id="9" name="TextBox 8">
            <a:extLst>
              <a:ext uri="{FF2B5EF4-FFF2-40B4-BE49-F238E27FC236}">
                <a16:creationId xmlns:a16="http://schemas.microsoft.com/office/drawing/2014/main" id="{589198E1-07F7-2A98-1AE7-A91BB2D1D884}"/>
              </a:ext>
            </a:extLst>
          </p:cNvPr>
          <p:cNvSpPr txBox="1"/>
          <p:nvPr/>
        </p:nvSpPr>
        <p:spPr>
          <a:xfrm>
            <a:off x="10519186" y="4565010"/>
            <a:ext cx="2549760" cy="923330"/>
          </a:xfrm>
          <a:prstGeom prst="rect">
            <a:avLst/>
          </a:prstGeom>
          <a:noFill/>
        </p:spPr>
        <p:txBody>
          <a:bodyPr wrap="square" rtlCol="0">
            <a:spAutoFit/>
          </a:bodyPr>
          <a:lstStyle/>
          <a:p>
            <a:r>
              <a:rPr lang="fr-FR" dirty="0"/>
              <a:t>&gt;6 </a:t>
            </a:r>
            <a:r>
              <a:rPr lang="fr-FR" dirty="0" err="1"/>
              <a:t>failed</a:t>
            </a:r>
            <a:r>
              <a:rPr lang="fr-FR" dirty="0"/>
              <a:t> </a:t>
            </a:r>
            <a:r>
              <a:rPr lang="fr-FR" dirty="0" err="1"/>
              <a:t>comprehension</a:t>
            </a:r>
            <a:r>
              <a:rPr lang="fr-FR" dirty="0"/>
              <a:t> </a:t>
            </a:r>
          </a:p>
          <a:p>
            <a:r>
              <a:rPr lang="fr-FR" dirty="0"/>
              <a:t>questions</a:t>
            </a:r>
          </a:p>
        </p:txBody>
      </p:sp>
      <p:sp>
        <p:nvSpPr>
          <p:cNvPr id="10" name="Rectangle 9">
            <a:extLst>
              <a:ext uri="{FF2B5EF4-FFF2-40B4-BE49-F238E27FC236}">
                <a16:creationId xmlns:a16="http://schemas.microsoft.com/office/drawing/2014/main" id="{E8D7597A-9922-5221-582E-1F1C4208B7DA}"/>
              </a:ext>
            </a:extLst>
          </p:cNvPr>
          <p:cNvSpPr/>
          <p:nvPr/>
        </p:nvSpPr>
        <p:spPr>
          <a:xfrm>
            <a:off x="397934" y="5488340"/>
            <a:ext cx="11732532" cy="851807"/>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fr-FR" sz="2200" dirty="0">
                <a:solidFill>
                  <a:schemeClr val="tx1"/>
                </a:solidFill>
                <a:sym typeface="Wingdings" panose="05000000000000000000" pitchFamily="2" charset="2"/>
              </a:rPr>
              <a:t></a:t>
            </a:r>
            <a:r>
              <a:rPr lang="en-FR" sz="2200" dirty="0">
                <a:solidFill>
                  <a:schemeClr val="tx1"/>
                </a:solidFill>
              </a:rPr>
              <a:t>Those who failed less on the comprehension questions had fewer deviations in mirrors than in lotteries</a:t>
            </a:r>
            <a:r>
              <a:rPr lang="fr-FR" sz="2200" dirty="0">
                <a:solidFill>
                  <a:schemeClr val="tx1"/>
                </a:solidFill>
              </a:rPr>
              <a:t> (</a:t>
            </a:r>
            <a:r>
              <a:rPr lang="fr-FR" sz="2200" dirty="0" err="1">
                <a:solidFill>
                  <a:schemeClr val="tx1"/>
                </a:solidFill>
              </a:rPr>
              <a:t>lotteries</a:t>
            </a:r>
            <a:r>
              <a:rPr lang="fr-FR" sz="2200" dirty="0">
                <a:solidFill>
                  <a:schemeClr val="tx1"/>
                </a:solidFill>
              </a:rPr>
              <a:t> are </a:t>
            </a:r>
            <a:r>
              <a:rPr lang="fr-FR" sz="2200" dirty="0" err="1">
                <a:solidFill>
                  <a:schemeClr val="tx1"/>
                </a:solidFill>
              </a:rPr>
              <a:t>consistently</a:t>
            </a:r>
            <a:r>
              <a:rPr lang="fr-FR" sz="2200" dirty="0">
                <a:solidFill>
                  <a:schemeClr val="tx1"/>
                </a:solidFill>
              </a:rPr>
              <a:t> </a:t>
            </a:r>
            <a:r>
              <a:rPr lang="fr-FR" sz="2200" dirty="0" err="1">
                <a:solidFill>
                  <a:schemeClr val="tx1"/>
                </a:solidFill>
              </a:rPr>
              <a:t>away</a:t>
            </a:r>
            <a:r>
              <a:rPr lang="fr-FR" sz="2200" dirty="0">
                <a:solidFill>
                  <a:schemeClr val="tx1"/>
                </a:solidFill>
              </a:rPr>
              <a:t> </a:t>
            </a:r>
            <a:r>
              <a:rPr lang="fr-FR" sz="2200" dirty="0" err="1">
                <a:solidFill>
                  <a:schemeClr val="tx1"/>
                </a:solidFill>
              </a:rPr>
              <a:t>from</a:t>
            </a:r>
            <a:r>
              <a:rPr lang="fr-FR" sz="2200" dirty="0">
                <a:solidFill>
                  <a:schemeClr val="tx1"/>
                </a:solidFill>
              </a:rPr>
              <a:t> EV)</a:t>
            </a:r>
            <a:endParaRPr lang="en-FR" sz="2200" dirty="0">
              <a:solidFill>
                <a:schemeClr val="tx1"/>
              </a:solidFill>
            </a:endParaRPr>
          </a:p>
        </p:txBody>
      </p:sp>
    </p:spTree>
    <p:extLst>
      <p:ext uri="{BB962C8B-B14F-4D97-AF65-F5344CB8AC3E}">
        <p14:creationId xmlns:p14="http://schemas.microsoft.com/office/powerpoint/2010/main" val="4114354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4BCE1-573B-8EA3-B217-AE269D617916}"/>
              </a:ext>
            </a:extLst>
          </p:cNvPr>
          <p:cNvSpPr>
            <a:spLocks noGrp="1"/>
          </p:cNvSpPr>
          <p:nvPr>
            <p:ph type="title"/>
          </p:nvPr>
        </p:nvSpPr>
        <p:spPr>
          <a:xfrm>
            <a:off x="838200" y="43605"/>
            <a:ext cx="10515600" cy="1325563"/>
          </a:xfrm>
        </p:spPr>
        <p:txBody>
          <a:bodyPr/>
          <a:lstStyle/>
          <a:p>
            <a:r>
              <a:rPr lang="en-FR" dirty="0"/>
              <a:t>I Oprea’s paper - Criticisms</a:t>
            </a:r>
          </a:p>
        </p:txBody>
      </p:sp>
      <p:sp>
        <p:nvSpPr>
          <p:cNvPr id="5" name="Content Placeholder 4">
            <a:extLst>
              <a:ext uri="{FF2B5EF4-FFF2-40B4-BE49-F238E27FC236}">
                <a16:creationId xmlns:a16="http://schemas.microsoft.com/office/drawing/2014/main" id="{0DC8E158-1A7C-8E83-7FB5-B1C8703F6D2E}"/>
              </a:ext>
            </a:extLst>
          </p:cNvPr>
          <p:cNvSpPr>
            <a:spLocks noGrp="1"/>
          </p:cNvSpPr>
          <p:nvPr>
            <p:ph idx="1"/>
          </p:nvPr>
        </p:nvSpPr>
        <p:spPr>
          <a:xfrm>
            <a:off x="838200" y="1009595"/>
            <a:ext cx="10515600" cy="4351338"/>
          </a:xfrm>
        </p:spPr>
        <p:txBody>
          <a:bodyPr>
            <a:normAutofit/>
          </a:bodyPr>
          <a:lstStyle/>
          <a:p>
            <a:pPr marL="0" indent="0">
              <a:buNone/>
            </a:pPr>
            <a:r>
              <a:rPr lang="en-FR" sz="2200" dirty="0"/>
              <a:t>2) </a:t>
            </a:r>
            <a:r>
              <a:rPr lang="en-GB" sz="2200" dirty="0"/>
              <a:t>P</a:t>
            </a:r>
            <a:r>
              <a:rPr lang="en-FR" sz="2200" dirty="0"/>
              <a:t>articipants gave noisy answers that did not reflect their preferences and some responded randomly, it artificially created the PT patterns</a:t>
            </a:r>
          </a:p>
        </p:txBody>
      </p:sp>
      <p:pic>
        <p:nvPicPr>
          <p:cNvPr id="10" name="Picture 9" descr="A graph of different indicators&#10;&#10;AI-generated content may be incorrect.">
            <a:extLst>
              <a:ext uri="{FF2B5EF4-FFF2-40B4-BE49-F238E27FC236}">
                <a16:creationId xmlns:a16="http://schemas.microsoft.com/office/drawing/2014/main" id="{C2941294-0C16-3A45-E641-E6F616A274B0}"/>
              </a:ext>
            </a:extLst>
          </p:cNvPr>
          <p:cNvPicPr>
            <a:picLocks noChangeAspect="1"/>
          </p:cNvPicPr>
          <p:nvPr/>
        </p:nvPicPr>
        <p:blipFill>
          <a:blip r:embed="rId3"/>
          <a:stretch>
            <a:fillRect/>
          </a:stretch>
        </p:blipFill>
        <p:spPr>
          <a:xfrm>
            <a:off x="717147" y="1739211"/>
            <a:ext cx="5526382" cy="4351337"/>
          </a:xfrm>
          <a:prstGeom prst="rect">
            <a:avLst/>
          </a:prstGeom>
        </p:spPr>
      </p:pic>
      <p:pic>
        <p:nvPicPr>
          <p:cNvPr id="12" name="Picture 11" descr="A graph of numbers and graphs&#10;&#10;AI-generated content may be incorrect.">
            <a:extLst>
              <a:ext uri="{FF2B5EF4-FFF2-40B4-BE49-F238E27FC236}">
                <a16:creationId xmlns:a16="http://schemas.microsoft.com/office/drawing/2014/main" id="{1FDBF1F5-3A48-5724-411A-4BD692CCBC49}"/>
              </a:ext>
            </a:extLst>
          </p:cNvPr>
          <p:cNvPicPr>
            <a:picLocks noChangeAspect="1"/>
          </p:cNvPicPr>
          <p:nvPr/>
        </p:nvPicPr>
        <p:blipFill>
          <a:blip r:embed="rId4"/>
          <a:stretch>
            <a:fillRect/>
          </a:stretch>
        </p:blipFill>
        <p:spPr>
          <a:xfrm>
            <a:off x="6346860" y="1751480"/>
            <a:ext cx="5526382" cy="4268268"/>
          </a:xfrm>
          <a:prstGeom prst="rect">
            <a:avLst/>
          </a:prstGeom>
        </p:spPr>
      </p:pic>
      <p:sp>
        <p:nvSpPr>
          <p:cNvPr id="15" name="TextBox 14">
            <a:extLst>
              <a:ext uri="{FF2B5EF4-FFF2-40B4-BE49-F238E27FC236}">
                <a16:creationId xmlns:a16="http://schemas.microsoft.com/office/drawing/2014/main" id="{B7E28310-7AE8-2E2B-0C40-BF6FAFA7A78F}"/>
              </a:ext>
            </a:extLst>
          </p:cNvPr>
          <p:cNvSpPr txBox="1"/>
          <p:nvPr/>
        </p:nvSpPr>
        <p:spPr>
          <a:xfrm>
            <a:off x="1742114" y="6168064"/>
            <a:ext cx="8707772" cy="646331"/>
          </a:xfrm>
          <a:prstGeom prst="rect">
            <a:avLst/>
          </a:prstGeom>
          <a:noFill/>
        </p:spPr>
        <p:txBody>
          <a:bodyPr wrap="square" rtlCol="0">
            <a:spAutoFit/>
          </a:bodyPr>
          <a:lstStyle/>
          <a:p>
            <a:r>
              <a:rPr lang="en-FR" dirty="0"/>
              <a:t>Simulated with EV = 70, 62, 38, 18.5% of participants (respectively, grouped by number of errors in comprehension questions), the others answer randomly. </a:t>
            </a:r>
          </a:p>
        </p:txBody>
      </p:sp>
      <p:sp>
        <p:nvSpPr>
          <p:cNvPr id="3" name="TextBox 2">
            <a:extLst>
              <a:ext uri="{FF2B5EF4-FFF2-40B4-BE49-F238E27FC236}">
                <a16:creationId xmlns:a16="http://schemas.microsoft.com/office/drawing/2014/main" id="{C638B1C1-DAFF-069C-AE26-659C78978DFA}"/>
              </a:ext>
            </a:extLst>
          </p:cNvPr>
          <p:cNvSpPr txBox="1"/>
          <p:nvPr/>
        </p:nvSpPr>
        <p:spPr>
          <a:xfrm rot="16200000">
            <a:off x="-315767" y="2396086"/>
            <a:ext cx="1419497" cy="646331"/>
          </a:xfrm>
          <a:prstGeom prst="rect">
            <a:avLst/>
          </a:prstGeom>
          <a:noFill/>
        </p:spPr>
        <p:txBody>
          <a:bodyPr wrap="square" rtlCol="0">
            <a:spAutoFit/>
          </a:bodyPr>
          <a:lstStyle/>
          <a:p>
            <a:r>
              <a:rPr lang="fr-FR" dirty="0" err="1"/>
              <a:t>Deviation</a:t>
            </a:r>
            <a:r>
              <a:rPr lang="fr-FR" dirty="0"/>
              <a:t> </a:t>
            </a:r>
            <a:r>
              <a:rPr lang="fr-FR" dirty="0" err="1"/>
              <a:t>from</a:t>
            </a:r>
            <a:r>
              <a:rPr lang="fr-FR" dirty="0"/>
              <a:t> EV</a:t>
            </a:r>
          </a:p>
        </p:txBody>
      </p:sp>
      <p:sp>
        <p:nvSpPr>
          <p:cNvPr id="4" name="TextBox 3">
            <a:extLst>
              <a:ext uri="{FF2B5EF4-FFF2-40B4-BE49-F238E27FC236}">
                <a16:creationId xmlns:a16="http://schemas.microsoft.com/office/drawing/2014/main" id="{CE1F4DDF-7B36-92BA-613A-A787C1A5D28A}"/>
              </a:ext>
            </a:extLst>
          </p:cNvPr>
          <p:cNvSpPr txBox="1"/>
          <p:nvPr/>
        </p:nvSpPr>
        <p:spPr>
          <a:xfrm>
            <a:off x="4164081" y="1729452"/>
            <a:ext cx="3203370" cy="369332"/>
          </a:xfrm>
          <a:prstGeom prst="rect">
            <a:avLst/>
          </a:prstGeom>
          <a:noFill/>
        </p:spPr>
        <p:txBody>
          <a:bodyPr wrap="square" rtlCol="0">
            <a:spAutoFit/>
          </a:bodyPr>
          <a:lstStyle/>
          <a:p>
            <a:r>
              <a:rPr lang="fr-FR" dirty="0"/>
              <a:t>(per </a:t>
            </a:r>
            <a:r>
              <a:rPr lang="fr-FR" dirty="0" err="1"/>
              <a:t>comprehension</a:t>
            </a:r>
            <a:r>
              <a:rPr lang="fr-FR" dirty="0"/>
              <a:t> group)</a:t>
            </a:r>
          </a:p>
        </p:txBody>
      </p:sp>
      <p:cxnSp>
        <p:nvCxnSpPr>
          <p:cNvPr id="7" name="Straight Arrow Connector 6">
            <a:extLst>
              <a:ext uri="{FF2B5EF4-FFF2-40B4-BE49-F238E27FC236}">
                <a16:creationId xmlns:a16="http://schemas.microsoft.com/office/drawing/2014/main" id="{02FE10F9-2E82-D1AF-384B-072B342429F4}"/>
              </a:ext>
            </a:extLst>
          </p:cNvPr>
          <p:cNvCxnSpPr>
            <a:cxnSpLocks/>
            <a:stCxn id="9" idx="2"/>
          </p:cNvCxnSpPr>
          <p:nvPr/>
        </p:nvCxnSpPr>
        <p:spPr>
          <a:xfrm>
            <a:off x="656621" y="2243259"/>
            <a:ext cx="565194" cy="514993"/>
          </a:xfrm>
          <a:prstGeom prst="straightConnector1">
            <a:avLst/>
          </a:prstGeom>
          <a:ln>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5E1FEFAB-07C5-422E-AA80-C87EC424864B}"/>
              </a:ext>
            </a:extLst>
          </p:cNvPr>
          <p:cNvSpPr txBox="1"/>
          <p:nvPr/>
        </p:nvSpPr>
        <p:spPr>
          <a:xfrm>
            <a:off x="-11900" y="1596928"/>
            <a:ext cx="1337042" cy="646331"/>
          </a:xfrm>
          <a:prstGeom prst="rect">
            <a:avLst/>
          </a:prstGeom>
          <a:noFill/>
        </p:spPr>
        <p:txBody>
          <a:bodyPr wrap="square" rtlCol="0">
            <a:spAutoFit/>
          </a:bodyPr>
          <a:lstStyle/>
          <a:p>
            <a:r>
              <a:rPr lang="fr-FR" dirty="0" err="1"/>
              <a:t>grey</a:t>
            </a:r>
            <a:r>
              <a:rPr lang="fr-FR" dirty="0"/>
              <a:t>: 100% </a:t>
            </a:r>
            <a:r>
              <a:rPr lang="fr-FR" dirty="0" err="1"/>
              <a:t>random</a:t>
            </a:r>
            <a:endParaRPr lang="fr-FR" dirty="0"/>
          </a:p>
        </p:txBody>
      </p:sp>
      <p:sp>
        <p:nvSpPr>
          <p:cNvPr id="13" name="Rectangle 12">
            <a:extLst>
              <a:ext uri="{FF2B5EF4-FFF2-40B4-BE49-F238E27FC236}">
                <a16:creationId xmlns:a16="http://schemas.microsoft.com/office/drawing/2014/main" id="{256DB3DB-2872-CE5E-B1D3-5161DA1760D1}"/>
              </a:ext>
            </a:extLst>
          </p:cNvPr>
          <p:cNvSpPr/>
          <p:nvPr/>
        </p:nvSpPr>
        <p:spPr>
          <a:xfrm>
            <a:off x="229734" y="6124899"/>
            <a:ext cx="11732532" cy="68949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fr-FR" sz="2200" dirty="0">
                <a:solidFill>
                  <a:schemeClr val="tx1"/>
                </a:solidFill>
                <a:sym typeface="Wingdings" panose="05000000000000000000" pitchFamily="2" charset="2"/>
              </a:rPr>
              <a:t></a:t>
            </a:r>
            <a:r>
              <a:rPr lang="fr-FR" sz="2200" dirty="0" err="1">
                <a:solidFill>
                  <a:schemeClr val="tx1"/>
                </a:solidFill>
                <a:sym typeface="Wingdings" panose="05000000000000000000" pitchFamily="2" charset="2"/>
              </a:rPr>
              <a:t>Random</a:t>
            </a:r>
            <a:r>
              <a:rPr lang="fr-FR" sz="2200" dirty="0">
                <a:solidFill>
                  <a:schemeClr val="tx1"/>
                </a:solidFill>
                <a:sym typeface="Wingdings" panose="05000000000000000000" pitchFamily="2" charset="2"/>
              </a:rPr>
              <a:t> </a:t>
            </a:r>
            <a:r>
              <a:rPr lang="fr-FR" sz="2200" dirty="0" err="1">
                <a:solidFill>
                  <a:schemeClr val="tx1"/>
                </a:solidFill>
                <a:sym typeface="Wingdings" panose="05000000000000000000" pitchFamily="2" charset="2"/>
              </a:rPr>
              <a:t>answers</a:t>
            </a:r>
            <a:r>
              <a:rPr lang="fr-FR" sz="2200" dirty="0">
                <a:solidFill>
                  <a:schemeClr val="tx1"/>
                </a:solidFill>
                <a:sym typeface="Wingdings" panose="05000000000000000000" pitchFamily="2" charset="2"/>
              </a:rPr>
              <a:t> in </a:t>
            </a:r>
            <a:r>
              <a:rPr lang="fr-FR" sz="2200" dirty="0" err="1">
                <a:solidFill>
                  <a:schemeClr val="tx1"/>
                </a:solidFill>
                <a:sym typeface="Wingdings" panose="05000000000000000000" pitchFamily="2" charset="2"/>
              </a:rPr>
              <a:t>Oprea’s</a:t>
            </a:r>
            <a:r>
              <a:rPr lang="fr-FR" sz="2200" dirty="0">
                <a:solidFill>
                  <a:schemeClr val="tx1"/>
                </a:solidFill>
                <a:sym typeface="Wingdings" panose="05000000000000000000" pitchFamily="2" charset="2"/>
              </a:rPr>
              <a:t> design </a:t>
            </a:r>
            <a:r>
              <a:rPr lang="fr-FR" sz="2200" dirty="0" err="1">
                <a:solidFill>
                  <a:schemeClr val="tx1"/>
                </a:solidFill>
                <a:sym typeface="Wingdings" panose="05000000000000000000" pitchFamily="2" charset="2"/>
              </a:rPr>
              <a:t>would</a:t>
            </a:r>
            <a:r>
              <a:rPr lang="fr-FR" sz="2200" dirty="0">
                <a:solidFill>
                  <a:schemeClr val="tx1"/>
                </a:solidFill>
                <a:sym typeface="Wingdings" panose="05000000000000000000" pitchFamily="2" charset="2"/>
              </a:rPr>
              <a:t> </a:t>
            </a:r>
            <a:r>
              <a:rPr lang="fr-FR" sz="2200" dirty="0" err="1">
                <a:solidFill>
                  <a:schemeClr val="tx1"/>
                </a:solidFill>
                <a:sym typeface="Wingdings" panose="05000000000000000000" pitchFamily="2" charset="2"/>
              </a:rPr>
              <a:t>create</a:t>
            </a:r>
            <a:r>
              <a:rPr lang="fr-FR" sz="2200" dirty="0">
                <a:solidFill>
                  <a:schemeClr val="tx1"/>
                </a:solidFill>
                <a:sym typeface="Wingdings" panose="05000000000000000000" pitchFamily="2" charset="2"/>
              </a:rPr>
              <a:t> </a:t>
            </a:r>
            <a:r>
              <a:rPr lang="fr-FR" sz="2200" dirty="0" err="1">
                <a:solidFill>
                  <a:schemeClr val="tx1"/>
                </a:solidFill>
                <a:sym typeface="Wingdings" panose="05000000000000000000" pitchFamily="2" charset="2"/>
              </a:rPr>
              <a:t>deviations</a:t>
            </a:r>
            <a:r>
              <a:rPr lang="fr-FR" sz="2200" dirty="0">
                <a:solidFill>
                  <a:schemeClr val="tx1"/>
                </a:solidFill>
                <a:sym typeface="Wingdings" panose="05000000000000000000" pitchFamily="2" charset="2"/>
              </a:rPr>
              <a:t> </a:t>
            </a:r>
            <a:r>
              <a:rPr lang="fr-FR" sz="2200" dirty="0" err="1">
                <a:solidFill>
                  <a:schemeClr val="tx1"/>
                </a:solidFill>
                <a:sym typeface="Wingdings" panose="05000000000000000000" pitchFamily="2" charset="2"/>
              </a:rPr>
              <a:t>from</a:t>
            </a:r>
            <a:r>
              <a:rPr lang="fr-FR" sz="2200" dirty="0">
                <a:solidFill>
                  <a:schemeClr val="tx1"/>
                </a:solidFill>
                <a:sym typeface="Wingdings" panose="05000000000000000000" pitchFamily="2" charset="2"/>
              </a:rPr>
              <a:t> EV(</a:t>
            </a:r>
            <a:r>
              <a:rPr lang="fr-FR" sz="2200" dirty="0" err="1">
                <a:solidFill>
                  <a:schemeClr val="tx1"/>
                </a:solidFill>
                <a:sym typeface="Wingdings" panose="05000000000000000000" pitchFamily="2" charset="2"/>
              </a:rPr>
              <a:t>grey</a:t>
            </a:r>
            <a:r>
              <a:rPr lang="fr-FR" sz="2200" dirty="0">
                <a:solidFill>
                  <a:schemeClr val="tx1"/>
                </a:solidFill>
                <a:sym typeface="Wingdings" panose="05000000000000000000" pitchFamily="2" charset="2"/>
              </a:rPr>
              <a:t> bars)</a:t>
            </a:r>
          </a:p>
          <a:p>
            <a:pPr lvl="1"/>
            <a:r>
              <a:rPr lang="fr-FR" sz="2200" dirty="0">
                <a:solidFill>
                  <a:schemeClr val="tx1"/>
                </a:solidFill>
                <a:sym typeface="Wingdings" panose="05000000000000000000" pitchFamily="2" charset="2"/>
              </a:rPr>
              <a:t>People </a:t>
            </a:r>
            <a:r>
              <a:rPr lang="fr-FR" sz="2200" dirty="0" err="1">
                <a:solidFill>
                  <a:schemeClr val="tx1"/>
                </a:solidFill>
                <a:sym typeface="Wingdings" panose="05000000000000000000" pitchFamily="2" charset="2"/>
              </a:rPr>
              <a:t>who</a:t>
            </a:r>
            <a:r>
              <a:rPr lang="fr-FR" sz="2200" dirty="0">
                <a:solidFill>
                  <a:schemeClr val="tx1"/>
                </a:solidFill>
                <a:sym typeface="Wingdings" panose="05000000000000000000" pitchFamily="2" charset="2"/>
              </a:rPr>
              <a:t> </a:t>
            </a:r>
            <a:r>
              <a:rPr lang="fr-FR" sz="2200" dirty="0" err="1">
                <a:solidFill>
                  <a:schemeClr val="tx1"/>
                </a:solidFill>
                <a:sym typeface="Wingdings" panose="05000000000000000000" pitchFamily="2" charset="2"/>
              </a:rPr>
              <a:t>understood</a:t>
            </a:r>
            <a:r>
              <a:rPr lang="fr-FR" sz="2200" dirty="0">
                <a:solidFill>
                  <a:schemeClr val="tx1"/>
                </a:solidFill>
                <a:sym typeface="Wingdings" panose="05000000000000000000" pitchFamily="2" charset="2"/>
              </a:rPr>
              <a:t> the </a:t>
            </a:r>
            <a:r>
              <a:rPr lang="fr-FR" sz="2200" dirty="0" err="1">
                <a:solidFill>
                  <a:schemeClr val="tx1"/>
                </a:solidFill>
                <a:sym typeface="Wingdings" panose="05000000000000000000" pitchFamily="2" charset="2"/>
              </a:rPr>
              <a:t>task</a:t>
            </a:r>
            <a:r>
              <a:rPr lang="fr-FR" sz="2200" dirty="0">
                <a:solidFill>
                  <a:schemeClr val="tx1"/>
                </a:solidFill>
                <a:sym typeface="Wingdings" panose="05000000000000000000" pitchFamily="2" charset="2"/>
              </a:rPr>
              <a:t> </a:t>
            </a:r>
            <a:r>
              <a:rPr lang="fr-FR" sz="2200" dirty="0" err="1">
                <a:solidFill>
                  <a:schemeClr val="tx1"/>
                </a:solidFill>
                <a:sym typeface="Wingdings" panose="05000000000000000000" pitchFamily="2" charset="2"/>
              </a:rPr>
              <a:t>less</a:t>
            </a:r>
            <a:r>
              <a:rPr lang="fr-FR" sz="2200" dirty="0">
                <a:solidFill>
                  <a:schemeClr val="tx1"/>
                </a:solidFill>
                <a:sym typeface="Wingdings" panose="05000000000000000000" pitchFamily="2" charset="2"/>
              </a:rPr>
              <a:t> express more </a:t>
            </a:r>
            <a:r>
              <a:rPr lang="fr-FR" sz="2200" dirty="0" err="1">
                <a:solidFill>
                  <a:schemeClr val="tx1"/>
                </a:solidFill>
                <a:sym typeface="Wingdings" panose="05000000000000000000" pitchFamily="2" charset="2"/>
              </a:rPr>
              <a:t>deviation</a:t>
            </a:r>
            <a:r>
              <a:rPr lang="fr-FR" sz="2200" dirty="0">
                <a:solidFill>
                  <a:schemeClr val="tx1"/>
                </a:solidFill>
                <a:sym typeface="Wingdings" panose="05000000000000000000" pitchFamily="2" charset="2"/>
              </a:rPr>
              <a:t> </a:t>
            </a:r>
            <a:r>
              <a:rPr lang="fr-FR" sz="2200" dirty="0" err="1">
                <a:solidFill>
                  <a:schemeClr val="tx1"/>
                </a:solidFill>
                <a:sym typeface="Wingdings" panose="05000000000000000000" pitchFamily="2" charset="2"/>
              </a:rPr>
              <a:t>likely</a:t>
            </a:r>
            <a:r>
              <a:rPr lang="fr-FR" sz="2200" dirty="0">
                <a:solidFill>
                  <a:schemeClr val="tx1"/>
                </a:solidFill>
                <a:sym typeface="Wingdings" panose="05000000000000000000" pitchFamily="2" charset="2"/>
              </a:rPr>
              <a:t> due to </a:t>
            </a:r>
            <a:r>
              <a:rPr lang="fr-FR" sz="2200" dirty="0" err="1">
                <a:solidFill>
                  <a:schemeClr val="tx1"/>
                </a:solidFill>
                <a:sym typeface="Wingdings" panose="05000000000000000000" pitchFamily="2" charset="2"/>
              </a:rPr>
              <a:t>randomness</a:t>
            </a:r>
            <a:endParaRPr lang="en-FR" sz="2200" dirty="0">
              <a:solidFill>
                <a:schemeClr val="tx1"/>
              </a:solidFill>
            </a:endParaRPr>
          </a:p>
        </p:txBody>
      </p:sp>
    </p:spTree>
    <p:extLst>
      <p:ext uri="{BB962C8B-B14F-4D97-AF65-F5344CB8AC3E}">
        <p14:creationId xmlns:p14="http://schemas.microsoft.com/office/powerpoint/2010/main" val="642523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39244-8DDB-9194-E444-4D51DC2BF7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28C41B-4B91-EB13-520E-7BED7096B034}"/>
              </a:ext>
            </a:extLst>
          </p:cNvPr>
          <p:cNvSpPr>
            <a:spLocks noGrp="1"/>
          </p:cNvSpPr>
          <p:nvPr>
            <p:ph type="title"/>
          </p:nvPr>
        </p:nvSpPr>
        <p:spPr/>
        <p:txBody>
          <a:bodyPr/>
          <a:lstStyle/>
          <a:p>
            <a:r>
              <a:rPr lang="en-FR" dirty="0"/>
              <a:t>II Our experiment – RQ</a:t>
            </a:r>
          </a:p>
        </p:txBody>
      </p:sp>
      <p:sp>
        <p:nvSpPr>
          <p:cNvPr id="3" name="Content Placeholder 2">
            <a:extLst>
              <a:ext uri="{FF2B5EF4-FFF2-40B4-BE49-F238E27FC236}">
                <a16:creationId xmlns:a16="http://schemas.microsoft.com/office/drawing/2014/main" id="{2D9FB8C1-B690-861B-40D7-D5DFF346C817}"/>
              </a:ext>
            </a:extLst>
          </p:cNvPr>
          <p:cNvSpPr>
            <a:spLocks noGrp="1"/>
          </p:cNvSpPr>
          <p:nvPr>
            <p:ph idx="1"/>
          </p:nvPr>
        </p:nvSpPr>
        <p:spPr>
          <a:xfrm>
            <a:off x="838200" y="1825625"/>
            <a:ext cx="10515600" cy="3482356"/>
          </a:xfrm>
        </p:spPr>
        <p:txBody>
          <a:bodyPr>
            <a:normAutofit/>
          </a:bodyPr>
          <a:lstStyle/>
          <a:p>
            <a:pPr marL="0" indent="0">
              <a:buNone/>
            </a:pPr>
            <a:r>
              <a:rPr lang="fr-FR" dirty="0"/>
              <a:t>RQ (</a:t>
            </a:r>
            <a:r>
              <a:rPr lang="fr-FR" dirty="0" err="1"/>
              <a:t>same</a:t>
            </a:r>
            <a:r>
              <a:rPr lang="fr-FR" dirty="0"/>
              <a:t> as </a:t>
            </a:r>
            <a:r>
              <a:rPr lang="fr-FR" dirty="0" err="1"/>
              <a:t>Oprea</a:t>
            </a:r>
            <a:r>
              <a:rPr lang="fr-FR" dirty="0"/>
              <a:t>) : </a:t>
            </a:r>
          </a:p>
          <a:p>
            <a:pPr marL="0" indent="0">
              <a:buNone/>
            </a:pPr>
            <a:r>
              <a:rPr lang="en-US" dirty="0"/>
              <a:t>Can prospect theory’s main predictions (fourfold pattern of risk attitude and loss-aversion) be caused (partly) by complexity ?</a:t>
            </a:r>
          </a:p>
          <a:p>
            <a:pPr marL="0" indent="0">
              <a:buNone/>
            </a:pPr>
            <a:endParaRPr lang="fr-FR" dirty="0"/>
          </a:p>
          <a:p>
            <a:pPr marL="0" indent="0">
              <a:buNone/>
            </a:pPr>
            <a:endParaRPr lang="fr-FR" dirty="0"/>
          </a:p>
          <a:p>
            <a:endParaRPr lang="fr-FR" dirty="0"/>
          </a:p>
          <a:p>
            <a:endParaRPr lang="en-FR" dirty="0"/>
          </a:p>
        </p:txBody>
      </p:sp>
    </p:spTree>
    <p:extLst>
      <p:ext uri="{BB962C8B-B14F-4D97-AF65-F5344CB8AC3E}">
        <p14:creationId xmlns:p14="http://schemas.microsoft.com/office/powerpoint/2010/main" val="19525738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5B7AD-82F7-CF91-8075-CFC82CE2AB48}"/>
              </a:ext>
            </a:extLst>
          </p:cNvPr>
          <p:cNvSpPr>
            <a:spLocks noGrp="1"/>
          </p:cNvSpPr>
          <p:nvPr>
            <p:ph type="title"/>
          </p:nvPr>
        </p:nvSpPr>
        <p:spPr/>
        <p:txBody>
          <a:bodyPr/>
          <a:lstStyle/>
          <a:p>
            <a:r>
              <a:rPr lang="en-FR" dirty="0"/>
              <a:t>II Our experiment – Added value</a:t>
            </a:r>
          </a:p>
        </p:txBody>
      </p:sp>
      <p:sp>
        <p:nvSpPr>
          <p:cNvPr id="3" name="Content Placeholder 2">
            <a:extLst>
              <a:ext uri="{FF2B5EF4-FFF2-40B4-BE49-F238E27FC236}">
                <a16:creationId xmlns:a16="http://schemas.microsoft.com/office/drawing/2014/main" id="{F766F69B-264E-A559-6619-837B0A84BFDF}"/>
              </a:ext>
            </a:extLst>
          </p:cNvPr>
          <p:cNvSpPr>
            <a:spLocks noGrp="1"/>
          </p:cNvSpPr>
          <p:nvPr>
            <p:ph idx="1"/>
          </p:nvPr>
        </p:nvSpPr>
        <p:spPr/>
        <p:txBody>
          <a:bodyPr>
            <a:normAutofit fontScale="92500" lnSpcReduction="20000"/>
          </a:bodyPr>
          <a:lstStyle/>
          <a:p>
            <a:r>
              <a:rPr lang="fr-FR" dirty="0" err="1"/>
              <a:t>Create</a:t>
            </a:r>
            <a:r>
              <a:rPr lang="fr-FR" dirty="0"/>
              <a:t> a new design </a:t>
            </a:r>
            <a:r>
              <a:rPr lang="fr-FR" dirty="0" err="1"/>
              <a:t>such</a:t>
            </a:r>
            <a:r>
              <a:rPr lang="fr-FR" dirty="0"/>
              <a:t> </a:t>
            </a:r>
            <a:r>
              <a:rPr lang="fr-FR" dirty="0" err="1"/>
              <a:t>that</a:t>
            </a:r>
            <a:r>
              <a:rPr lang="fr-FR" dirty="0"/>
              <a:t> </a:t>
            </a:r>
            <a:r>
              <a:rPr lang="fr-FR" dirty="0" err="1"/>
              <a:t>random</a:t>
            </a:r>
            <a:r>
              <a:rPr lang="fr-FR" dirty="0"/>
              <a:t> </a:t>
            </a:r>
            <a:r>
              <a:rPr lang="fr-FR" dirty="0" err="1"/>
              <a:t>answers</a:t>
            </a:r>
            <a:r>
              <a:rPr lang="fr-FR" dirty="0"/>
              <a:t> </a:t>
            </a:r>
            <a:r>
              <a:rPr lang="fr-FR" dirty="0" err="1"/>
              <a:t>cannot</a:t>
            </a:r>
            <a:r>
              <a:rPr lang="fr-FR" dirty="0"/>
              <a:t> </a:t>
            </a:r>
            <a:r>
              <a:rPr lang="fr-FR" dirty="0" err="1"/>
              <a:t>generate</a:t>
            </a:r>
            <a:r>
              <a:rPr lang="fr-FR" dirty="0"/>
              <a:t> </a:t>
            </a:r>
            <a:r>
              <a:rPr lang="fr-FR" dirty="0" err="1"/>
              <a:t>deviations</a:t>
            </a:r>
            <a:r>
              <a:rPr lang="fr-FR" dirty="0"/>
              <a:t> </a:t>
            </a:r>
            <a:r>
              <a:rPr lang="fr-FR" dirty="0" err="1"/>
              <a:t>from</a:t>
            </a:r>
            <a:r>
              <a:rPr lang="fr-FR" dirty="0"/>
              <a:t> EV</a:t>
            </a:r>
          </a:p>
          <a:p>
            <a:r>
              <a:rPr lang="fr-FR" dirty="0"/>
              <a:t>Do not </a:t>
            </a:r>
            <a:r>
              <a:rPr lang="fr-FR" dirty="0" err="1"/>
              <a:t>explain</a:t>
            </a:r>
            <a:r>
              <a:rPr lang="fr-FR" dirty="0"/>
              <a:t> </a:t>
            </a:r>
            <a:r>
              <a:rPr lang="fr-FR" dirty="0" err="1"/>
              <a:t>deviations</a:t>
            </a:r>
            <a:r>
              <a:rPr lang="fr-FR" dirty="0"/>
              <a:t> by </a:t>
            </a:r>
            <a:r>
              <a:rPr lang="en-GB" dirty="0"/>
              <a:t>compromise heuristics and pull-to-the-</a:t>
            </a:r>
            <a:r>
              <a:rPr lang="en-GB" dirty="0" err="1"/>
              <a:t>center</a:t>
            </a:r>
            <a:r>
              <a:rPr lang="en-GB" dirty="0"/>
              <a:t> heuristics</a:t>
            </a:r>
            <a:r>
              <a:rPr lang="fr-FR" dirty="0"/>
              <a:t>. </a:t>
            </a:r>
            <a:r>
              <a:rPr lang="fr-FR" dirty="0" err="1"/>
              <a:t>They</a:t>
            </a:r>
            <a:r>
              <a:rPr lang="fr-FR" dirty="0"/>
              <a:t> </a:t>
            </a:r>
            <a:r>
              <a:rPr lang="fr-FR" dirty="0" err="1"/>
              <a:t>could</a:t>
            </a:r>
            <a:r>
              <a:rPr lang="fr-FR" dirty="0"/>
              <a:t> lead the </a:t>
            </a:r>
            <a:r>
              <a:rPr lang="fr-FR" dirty="0" err="1"/>
              <a:t>results</a:t>
            </a:r>
            <a:r>
              <a:rPr lang="fr-FR" dirty="0"/>
              <a:t> </a:t>
            </a:r>
            <a:r>
              <a:rPr lang="fr-FR" dirty="0" err="1"/>
              <a:t>obtained</a:t>
            </a:r>
            <a:r>
              <a:rPr lang="fr-FR" dirty="0"/>
              <a:t> by </a:t>
            </a:r>
            <a:r>
              <a:rPr lang="fr-FR" dirty="0" err="1"/>
              <a:t>MPLs</a:t>
            </a:r>
            <a:r>
              <a:rPr lang="fr-FR" dirty="0"/>
              <a:t> to have </a:t>
            </a:r>
            <a:r>
              <a:rPr lang="fr-FR" dirty="0" err="1"/>
              <a:t>less</a:t>
            </a:r>
            <a:r>
              <a:rPr lang="fr-FR" dirty="0"/>
              <a:t> </a:t>
            </a:r>
            <a:r>
              <a:rPr lang="fr-FR" dirty="0" err="1"/>
              <a:t>external</a:t>
            </a:r>
            <a:r>
              <a:rPr lang="fr-FR" dirty="0"/>
              <a:t> </a:t>
            </a:r>
            <a:r>
              <a:rPr lang="fr-FR" dirty="0" err="1"/>
              <a:t>validity</a:t>
            </a:r>
            <a:r>
              <a:rPr lang="fr-FR" dirty="0"/>
              <a:t>.</a:t>
            </a:r>
          </a:p>
          <a:p>
            <a:pPr marL="0" indent="0">
              <a:buNone/>
            </a:pPr>
            <a:r>
              <a:rPr lang="fr-FR" dirty="0"/>
              <a:t>    Example </a:t>
            </a:r>
            <a:r>
              <a:rPr lang="fr-FR" dirty="0" err="1"/>
              <a:t>mechanisms</a:t>
            </a:r>
            <a:r>
              <a:rPr lang="fr-FR" dirty="0"/>
              <a:t> </a:t>
            </a:r>
            <a:r>
              <a:rPr lang="fr-FR" dirty="0" err="1"/>
              <a:t>that</a:t>
            </a:r>
            <a:r>
              <a:rPr lang="fr-FR" dirty="0"/>
              <a:t> </a:t>
            </a:r>
            <a:r>
              <a:rPr lang="fr-FR" dirty="0" err="1"/>
              <a:t>we</a:t>
            </a:r>
            <a:r>
              <a:rPr lang="fr-FR" dirty="0"/>
              <a:t> </a:t>
            </a:r>
            <a:r>
              <a:rPr lang="fr-FR" dirty="0" err="1"/>
              <a:t>would</a:t>
            </a:r>
            <a:r>
              <a:rPr lang="fr-FR" dirty="0"/>
              <a:t> </a:t>
            </a:r>
            <a:r>
              <a:rPr lang="fr-FR" dirty="0" err="1"/>
              <a:t>identify</a:t>
            </a:r>
            <a:r>
              <a:rPr lang="fr-FR" dirty="0"/>
              <a:t> :</a:t>
            </a:r>
          </a:p>
          <a:p>
            <a:pPr lvl="2"/>
            <a:r>
              <a:rPr lang="en-FR" altLang="en-FR" dirty="0">
                <a:solidFill>
                  <a:srgbClr val="000000"/>
                </a:solidFill>
                <a:latin typeface="Aptos" panose="020B0004020202020204" pitchFamily="34" charset="0"/>
                <a:cs typeface="Arial" panose="020B0604020202020204" pitchFamily="34" charset="0"/>
              </a:rPr>
              <a:t>attentional allocation bias (e.g. Bordalo et al. 2025 WP), </a:t>
            </a:r>
          </a:p>
          <a:p>
            <a:pPr lvl="2"/>
            <a:r>
              <a:rPr lang="en-FR" altLang="en-FR" dirty="0">
                <a:solidFill>
                  <a:srgbClr val="000000"/>
                </a:solidFill>
                <a:latin typeface="Aptos" panose="020B0004020202020204" pitchFamily="34" charset="0"/>
                <a:cs typeface="Arial" panose="020B0604020202020204" pitchFamily="34" charset="0"/>
              </a:rPr>
              <a:t>noisy coding (e.g. Vieider, 2024)</a:t>
            </a:r>
          </a:p>
          <a:p>
            <a:pPr lvl="2"/>
            <a:r>
              <a:rPr lang="en-FR" altLang="en-FR" dirty="0">
                <a:solidFill>
                  <a:srgbClr val="000000"/>
                </a:solidFill>
                <a:latin typeface="Aptos" panose="020B0004020202020204" pitchFamily="34" charset="0"/>
                <a:cs typeface="Arial" panose="020B0604020202020204" pitchFamily="34" charset="0"/>
              </a:rPr>
              <a:t>cognitive boundary repulsion (Bedi et al., 2025 WP)</a:t>
            </a:r>
          </a:p>
          <a:p>
            <a:pPr marL="971550" lvl="1" indent="-514350">
              <a:buAutoNum type="arabicParenR"/>
            </a:pPr>
            <a:endParaRPr lang="fr-FR" dirty="0"/>
          </a:p>
          <a:p>
            <a:r>
              <a:rPr lang="en-FR" dirty="0"/>
              <a:t>Directly manipulate working memory load, which is a crucial component in almost all types of complexit</a:t>
            </a:r>
            <a:r>
              <a:rPr lang="fr-FR" dirty="0"/>
              <a:t>y </a:t>
            </a:r>
            <a:r>
              <a:rPr lang="fr-FR" dirty="0" err="1"/>
              <a:t>processings</a:t>
            </a:r>
            <a:r>
              <a:rPr lang="en-FR" dirty="0"/>
              <a:t> (computational or representational)</a:t>
            </a:r>
          </a:p>
          <a:p>
            <a:endParaRPr lang="fr-FR" dirty="0"/>
          </a:p>
          <a:p>
            <a:endParaRPr lang="en-FR" dirty="0"/>
          </a:p>
        </p:txBody>
      </p:sp>
    </p:spTree>
    <p:extLst>
      <p:ext uri="{BB962C8B-B14F-4D97-AF65-F5344CB8AC3E}">
        <p14:creationId xmlns:p14="http://schemas.microsoft.com/office/powerpoint/2010/main" val="2586942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E6ED4-0A2D-F4C0-D1B3-41ABE20EC24F}"/>
              </a:ext>
            </a:extLst>
          </p:cNvPr>
          <p:cNvSpPr>
            <a:spLocks noGrp="1"/>
          </p:cNvSpPr>
          <p:nvPr>
            <p:ph type="title"/>
          </p:nvPr>
        </p:nvSpPr>
        <p:spPr/>
        <p:txBody>
          <a:bodyPr/>
          <a:lstStyle/>
          <a:p>
            <a:r>
              <a:rPr lang="en-FR" dirty="0"/>
              <a:t>II Our experiment – Added value</a:t>
            </a:r>
          </a:p>
        </p:txBody>
      </p:sp>
      <p:sp>
        <p:nvSpPr>
          <p:cNvPr id="3" name="Content Placeholder 2">
            <a:extLst>
              <a:ext uri="{FF2B5EF4-FFF2-40B4-BE49-F238E27FC236}">
                <a16:creationId xmlns:a16="http://schemas.microsoft.com/office/drawing/2014/main" id="{60CB8BC4-6F21-0E64-03DC-09424FD07412}"/>
              </a:ext>
            </a:extLst>
          </p:cNvPr>
          <p:cNvSpPr>
            <a:spLocks noGrp="1"/>
          </p:cNvSpPr>
          <p:nvPr>
            <p:ph idx="1"/>
          </p:nvPr>
        </p:nvSpPr>
        <p:spPr>
          <a:xfrm>
            <a:off x="838200" y="1690688"/>
            <a:ext cx="10515600" cy="4664956"/>
          </a:xfrm>
        </p:spPr>
        <p:txBody>
          <a:bodyPr>
            <a:normAutofit lnSpcReduction="10000"/>
          </a:bodyPr>
          <a:lstStyle/>
          <a:p>
            <a:r>
              <a:rPr lang="en-FR" dirty="0"/>
              <a:t>Why our experiment is very complementary with his:</a:t>
            </a:r>
          </a:p>
          <a:p>
            <a:r>
              <a:rPr lang="en-FR" dirty="0"/>
              <a:t>3) We distinguish between two types of mechanisms that could explain Oprea’s results: </a:t>
            </a:r>
          </a:p>
          <a:p>
            <a:pPr lvl="1"/>
            <a:r>
              <a:rPr lang="en-FR" dirty="0"/>
              <a:t>“</a:t>
            </a:r>
            <a:r>
              <a:rPr lang="en-GB" dirty="0"/>
              <a:t>noisy valuations, anchoring-and-adjustment heuristics, compromise heuristics and pull-to-the-</a:t>
            </a:r>
            <a:r>
              <a:rPr lang="en-GB" dirty="0" err="1"/>
              <a:t>center</a:t>
            </a:r>
            <a:r>
              <a:rPr lang="en-GB" dirty="0"/>
              <a:t> heuristics” (Oprea, 2025). He argues that they are due to complexity. But they are closely related to the MPLs format.</a:t>
            </a:r>
          </a:p>
          <a:p>
            <a:pPr lvl="1"/>
            <a:r>
              <a:rPr lang="en-FR" altLang="en-FR" dirty="0">
                <a:solidFill>
                  <a:srgbClr val="000000"/>
                </a:solidFill>
                <a:latin typeface="Aptos" panose="020B0004020202020204" pitchFamily="34" charset="0"/>
                <a:cs typeface="Arial" panose="020B0604020202020204" pitchFamily="34" charset="0"/>
              </a:rPr>
              <a:t>Other potential candidates are more general: the probability weighting would not be a special outgrowth of the MPLs à la Oprea valuation task but would reflect more general cognitive biases.</a:t>
            </a:r>
          </a:p>
          <a:p>
            <a:pPr lvl="2"/>
            <a:r>
              <a:rPr lang="en-FR" altLang="en-FR" dirty="0">
                <a:solidFill>
                  <a:srgbClr val="000000"/>
                </a:solidFill>
                <a:latin typeface="Aptos" panose="020B0004020202020204" pitchFamily="34" charset="0"/>
                <a:cs typeface="Arial" panose="020B0604020202020204" pitchFamily="34" charset="0"/>
              </a:rPr>
              <a:t>attentional bias (e.g. Bordalo et al. 2025), </a:t>
            </a:r>
          </a:p>
          <a:p>
            <a:pPr lvl="2"/>
            <a:r>
              <a:rPr lang="en-FR" altLang="en-FR" dirty="0">
                <a:solidFill>
                  <a:srgbClr val="000000"/>
                </a:solidFill>
                <a:latin typeface="Aptos" panose="020B0004020202020204" pitchFamily="34" charset="0"/>
                <a:cs typeface="Arial" panose="020B0604020202020204" pitchFamily="34" charset="0"/>
              </a:rPr>
              <a:t>noisy coding (e.g. Vieider, 2024) or </a:t>
            </a:r>
          </a:p>
          <a:p>
            <a:pPr lvl="2"/>
            <a:r>
              <a:rPr lang="en-FR" altLang="en-FR" dirty="0">
                <a:solidFill>
                  <a:srgbClr val="000000"/>
                </a:solidFill>
                <a:latin typeface="Aptos" panose="020B0004020202020204" pitchFamily="34" charset="0"/>
                <a:cs typeface="Arial" panose="020B0604020202020204" pitchFamily="34" charset="0"/>
              </a:rPr>
              <a:t>cognitive boundary repulsion (Ruff, 2025 WP)</a:t>
            </a:r>
          </a:p>
          <a:p>
            <a:pPr marL="914400" lvl="2" indent="0">
              <a:buNone/>
            </a:pPr>
            <a:endParaRPr kumimoji="0" lang="en-FR" altLang="en-FR" sz="4000" b="0" i="0" u="none" strike="noStrike" cap="none" normalizeH="0" baseline="0" dirty="0">
              <a:ln>
                <a:noFill/>
              </a:ln>
              <a:solidFill>
                <a:schemeClr val="tx1"/>
              </a:solidFill>
              <a:effectLst/>
              <a:latin typeface="Aptos" panose="020B0004020202020204" pitchFamily="34" charset="0"/>
            </a:endParaRPr>
          </a:p>
          <a:p>
            <a:endParaRPr lang="en-GB" dirty="0"/>
          </a:p>
        </p:txBody>
      </p:sp>
    </p:spTree>
    <p:extLst>
      <p:ext uri="{BB962C8B-B14F-4D97-AF65-F5344CB8AC3E}">
        <p14:creationId xmlns:p14="http://schemas.microsoft.com/office/powerpoint/2010/main" val="2599429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FBD1F-C1AE-787E-11C3-1B5EFB1C10F0}"/>
              </a:ext>
            </a:extLst>
          </p:cNvPr>
          <p:cNvSpPr>
            <a:spLocks noGrp="1"/>
          </p:cNvSpPr>
          <p:nvPr>
            <p:ph type="title"/>
          </p:nvPr>
        </p:nvSpPr>
        <p:spPr/>
        <p:txBody>
          <a:bodyPr/>
          <a:lstStyle/>
          <a:p>
            <a:r>
              <a:rPr lang="en-FR" dirty="0"/>
              <a:t>II O</a:t>
            </a:r>
            <a:r>
              <a:rPr lang="en-GB" dirty="0"/>
              <a:t>u</a:t>
            </a:r>
            <a:r>
              <a:rPr lang="en-FR" dirty="0"/>
              <a:t>r experiment - Overview</a:t>
            </a:r>
          </a:p>
        </p:txBody>
      </p:sp>
      <p:sp>
        <p:nvSpPr>
          <p:cNvPr id="3" name="Content Placeholder 2">
            <a:extLst>
              <a:ext uri="{FF2B5EF4-FFF2-40B4-BE49-F238E27FC236}">
                <a16:creationId xmlns:a16="http://schemas.microsoft.com/office/drawing/2014/main" id="{2DF7FBF2-4117-EE12-96EE-88CC143F38B9}"/>
              </a:ext>
            </a:extLst>
          </p:cNvPr>
          <p:cNvSpPr>
            <a:spLocks noGrp="1"/>
          </p:cNvSpPr>
          <p:nvPr>
            <p:ph idx="1"/>
          </p:nvPr>
        </p:nvSpPr>
        <p:spPr/>
        <p:txBody>
          <a:bodyPr>
            <a:normAutofit/>
          </a:bodyPr>
          <a:lstStyle/>
          <a:p>
            <a:r>
              <a:rPr lang="en-FR" dirty="0"/>
              <a:t>First part of the experiment : calibration</a:t>
            </a:r>
          </a:p>
          <a:p>
            <a:pPr lvl="1"/>
            <a:r>
              <a:rPr lang="en-GB" dirty="0"/>
              <a:t>After having filled the demographics, participants see the span task instructions and the first part instructions.</a:t>
            </a:r>
          </a:p>
          <a:p>
            <a:pPr lvl="1"/>
            <a:r>
              <a:rPr lang="en-GB" dirty="0"/>
              <a:t>They play 9 rounds of span task with a staircase procedure.</a:t>
            </a:r>
          </a:p>
          <a:p>
            <a:pPr lvl="2"/>
            <a:r>
              <a:rPr lang="en-GB" dirty="0"/>
              <a:t>100% accuracy =&gt; next span length increases by one.</a:t>
            </a:r>
          </a:p>
          <a:p>
            <a:pPr lvl="2"/>
            <a:r>
              <a:rPr lang="en-GB" dirty="0"/>
              <a:t>Not 100% accurate twice in a row =&gt; next span length decreases by one.</a:t>
            </a:r>
          </a:p>
          <a:p>
            <a:pPr lvl="1"/>
            <a:r>
              <a:rPr lang="en-GB" dirty="0"/>
              <a:t>Their goal is to achieve the highest span length at the end of the ninth round. They are incentivized for it.</a:t>
            </a:r>
          </a:p>
        </p:txBody>
      </p:sp>
    </p:spTree>
    <p:extLst>
      <p:ext uri="{BB962C8B-B14F-4D97-AF65-F5344CB8AC3E}">
        <p14:creationId xmlns:p14="http://schemas.microsoft.com/office/powerpoint/2010/main" val="13329417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7F71C-9E90-BFD1-3760-BA9B4B9CFB2E}"/>
              </a:ext>
            </a:extLst>
          </p:cNvPr>
          <p:cNvSpPr>
            <a:spLocks noGrp="1"/>
          </p:cNvSpPr>
          <p:nvPr>
            <p:ph type="title"/>
          </p:nvPr>
        </p:nvSpPr>
        <p:spPr/>
        <p:txBody>
          <a:bodyPr/>
          <a:lstStyle/>
          <a:p>
            <a:r>
              <a:rPr lang="en-FR" dirty="0"/>
              <a:t>II O</a:t>
            </a:r>
            <a:r>
              <a:rPr lang="en-GB" dirty="0"/>
              <a:t>u</a:t>
            </a:r>
            <a:r>
              <a:rPr lang="en-FR" dirty="0"/>
              <a:t>r experiment – Overview</a:t>
            </a:r>
            <a:r>
              <a:rPr lang="fr-FR" dirty="0"/>
              <a:t> </a:t>
            </a:r>
            <a:endParaRPr lang="en-FR" dirty="0"/>
          </a:p>
        </p:txBody>
      </p:sp>
      <p:sp>
        <p:nvSpPr>
          <p:cNvPr id="7" name="Rounded Rectangle 6">
            <a:extLst>
              <a:ext uri="{FF2B5EF4-FFF2-40B4-BE49-F238E27FC236}">
                <a16:creationId xmlns:a16="http://schemas.microsoft.com/office/drawing/2014/main" id="{03AF5F37-1CD1-88C3-649A-5B9AF181BC3D}"/>
              </a:ext>
            </a:extLst>
          </p:cNvPr>
          <p:cNvSpPr>
            <a:spLocks/>
          </p:cNvSpPr>
          <p:nvPr/>
        </p:nvSpPr>
        <p:spPr>
          <a:xfrm>
            <a:off x="2735173" y="2432854"/>
            <a:ext cx="944943" cy="51309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dirty="0">
                <a:solidFill>
                  <a:schemeClr val="tx1"/>
                </a:solidFill>
              </a:rPr>
              <a:t>?</a:t>
            </a:r>
          </a:p>
        </p:txBody>
      </p:sp>
      <p:sp>
        <p:nvSpPr>
          <p:cNvPr id="8" name="TextBox 7">
            <a:extLst>
              <a:ext uri="{FF2B5EF4-FFF2-40B4-BE49-F238E27FC236}">
                <a16:creationId xmlns:a16="http://schemas.microsoft.com/office/drawing/2014/main" id="{3DF6F3F6-7594-3E07-59D7-7AA4270A6393}"/>
              </a:ext>
            </a:extLst>
          </p:cNvPr>
          <p:cNvSpPr txBox="1"/>
          <p:nvPr/>
        </p:nvSpPr>
        <p:spPr>
          <a:xfrm>
            <a:off x="1652631" y="-679508"/>
            <a:ext cx="184731" cy="369332"/>
          </a:xfrm>
          <a:prstGeom prst="rect">
            <a:avLst/>
          </a:prstGeom>
          <a:noFill/>
        </p:spPr>
        <p:txBody>
          <a:bodyPr wrap="none" rtlCol="0">
            <a:spAutoFit/>
          </a:bodyPr>
          <a:lstStyle/>
          <a:p>
            <a:endParaRPr lang="en-FR" dirty="0"/>
          </a:p>
        </p:txBody>
      </p:sp>
      <p:cxnSp>
        <p:nvCxnSpPr>
          <p:cNvPr id="12" name="Straight Arrow Connector 11">
            <a:extLst>
              <a:ext uri="{FF2B5EF4-FFF2-40B4-BE49-F238E27FC236}">
                <a16:creationId xmlns:a16="http://schemas.microsoft.com/office/drawing/2014/main" id="{7E5C1D00-DC16-1D7D-A6FF-5ADDC09B690E}"/>
              </a:ext>
            </a:extLst>
          </p:cNvPr>
          <p:cNvCxnSpPr>
            <a:cxnSpLocks/>
          </p:cNvCxnSpPr>
          <p:nvPr/>
        </p:nvCxnSpPr>
        <p:spPr>
          <a:xfrm>
            <a:off x="2233627" y="2686499"/>
            <a:ext cx="501546"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a:extLst>
              <a:ext uri="{FF2B5EF4-FFF2-40B4-BE49-F238E27FC236}">
                <a16:creationId xmlns:a16="http://schemas.microsoft.com/office/drawing/2014/main" id="{0B40A84C-0204-BF02-74DB-A504006FB412}"/>
              </a:ext>
            </a:extLst>
          </p:cNvPr>
          <p:cNvSpPr>
            <a:spLocks/>
          </p:cNvSpPr>
          <p:nvPr/>
        </p:nvSpPr>
        <p:spPr>
          <a:xfrm>
            <a:off x="1288684" y="2429950"/>
            <a:ext cx="944943" cy="51309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dirty="0">
                <a:solidFill>
                  <a:schemeClr val="tx1"/>
                </a:solidFill>
              </a:rPr>
              <a:t>1, 2, 3</a:t>
            </a:r>
          </a:p>
        </p:txBody>
      </p:sp>
      <p:sp>
        <p:nvSpPr>
          <p:cNvPr id="23" name="Rounded Rectangle 22">
            <a:extLst>
              <a:ext uri="{FF2B5EF4-FFF2-40B4-BE49-F238E27FC236}">
                <a16:creationId xmlns:a16="http://schemas.microsoft.com/office/drawing/2014/main" id="{EC3B63D7-4E6B-4457-BA0F-DA4859B42C27}"/>
              </a:ext>
            </a:extLst>
          </p:cNvPr>
          <p:cNvSpPr>
            <a:spLocks/>
          </p:cNvSpPr>
          <p:nvPr/>
        </p:nvSpPr>
        <p:spPr>
          <a:xfrm>
            <a:off x="5624254" y="2717261"/>
            <a:ext cx="944943" cy="51309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dirty="0">
                <a:solidFill>
                  <a:schemeClr val="tx1"/>
                </a:solidFill>
              </a:rPr>
              <a:t>?</a:t>
            </a:r>
          </a:p>
        </p:txBody>
      </p:sp>
      <p:cxnSp>
        <p:nvCxnSpPr>
          <p:cNvPr id="24" name="Straight Arrow Connector 23">
            <a:extLst>
              <a:ext uri="{FF2B5EF4-FFF2-40B4-BE49-F238E27FC236}">
                <a16:creationId xmlns:a16="http://schemas.microsoft.com/office/drawing/2014/main" id="{92129BB2-792A-037D-4E27-904A055A5E92}"/>
              </a:ext>
            </a:extLst>
          </p:cNvPr>
          <p:cNvCxnSpPr>
            <a:cxnSpLocks/>
          </p:cNvCxnSpPr>
          <p:nvPr/>
        </p:nvCxnSpPr>
        <p:spPr>
          <a:xfrm>
            <a:off x="5122708" y="2965072"/>
            <a:ext cx="501546"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a:extLst>
              <a:ext uri="{FF2B5EF4-FFF2-40B4-BE49-F238E27FC236}">
                <a16:creationId xmlns:a16="http://schemas.microsoft.com/office/drawing/2014/main" id="{7639B032-36AA-6AFC-072B-FDAC7144F837}"/>
              </a:ext>
            </a:extLst>
          </p:cNvPr>
          <p:cNvSpPr>
            <a:spLocks/>
          </p:cNvSpPr>
          <p:nvPr/>
        </p:nvSpPr>
        <p:spPr>
          <a:xfrm>
            <a:off x="5624254" y="2117749"/>
            <a:ext cx="944943" cy="51309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dirty="0">
                <a:solidFill>
                  <a:schemeClr val="tx1"/>
                </a:solidFill>
              </a:rPr>
              <a:t>?</a:t>
            </a:r>
          </a:p>
        </p:txBody>
      </p:sp>
      <p:cxnSp>
        <p:nvCxnSpPr>
          <p:cNvPr id="27" name="Straight Arrow Connector 26">
            <a:extLst>
              <a:ext uri="{FF2B5EF4-FFF2-40B4-BE49-F238E27FC236}">
                <a16:creationId xmlns:a16="http://schemas.microsoft.com/office/drawing/2014/main" id="{9C1E922E-91F4-54E7-1B31-409F612A6183}"/>
              </a:ext>
            </a:extLst>
          </p:cNvPr>
          <p:cNvCxnSpPr>
            <a:cxnSpLocks/>
          </p:cNvCxnSpPr>
          <p:nvPr/>
        </p:nvCxnSpPr>
        <p:spPr>
          <a:xfrm>
            <a:off x="5122708" y="2418277"/>
            <a:ext cx="501546"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EFF0A652-2D25-5903-79C0-A124A56BC773}"/>
              </a:ext>
            </a:extLst>
          </p:cNvPr>
          <p:cNvCxnSpPr>
            <a:cxnSpLocks/>
            <a:stCxn id="7" idx="3"/>
          </p:cNvCxnSpPr>
          <p:nvPr/>
        </p:nvCxnSpPr>
        <p:spPr>
          <a:xfrm flipV="1">
            <a:off x="3680116" y="2406955"/>
            <a:ext cx="497649" cy="28244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8995B5DD-46FE-8664-E189-BF8AD3738A06}"/>
              </a:ext>
            </a:extLst>
          </p:cNvPr>
          <p:cNvCxnSpPr>
            <a:cxnSpLocks/>
          </p:cNvCxnSpPr>
          <p:nvPr/>
        </p:nvCxnSpPr>
        <p:spPr>
          <a:xfrm>
            <a:off x="3680116" y="2716785"/>
            <a:ext cx="501546" cy="24590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35" name="Graphic 34" descr="Tick with solid fill">
            <a:extLst>
              <a:ext uri="{FF2B5EF4-FFF2-40B4-BE49-F238E27FC236}">
                <a16:creationId xmlns:a16="http://schemas.microsoft.com/office/drawing/2014/main" id="{8326ADCC-0041-9F34-C241-2E73EE5F15B9}"/>
              </a:ext>
            </a:extLst>
          </p:cNvPr>
          <p:cNvPicPr>
            <a:picLocks/>
          </p:cNvPicPr>
          <p:nvPr/>
        </p:nvPicPr>
        <p:blipFill>
          <a:blip r:embed="rId3">
            <a:extLst>
              <a:ext uri="{96DAC541-7B7A-43D3-8B79-37D633B846F1}">
                <asvg:svgBlip xmlns:asvg="http://schemas.microsoft.com/office/drawing/2016/SVG/main" r:embed="rId4"/>
              </a:ext>
            </a:extLst>
          </a:blip>
          <a:stretch>
            <a:fillRect/>
          </a:stretch>
        </p:blipFill>
        <p:spPr>
          <a:xfrm>
            <a:off x="3769210" y="2204515"/>
            <a:ext cx="266034" cy="282447"/>
          </a:xfrm>
          <a:prstGeom prst="rect">
            <a:avLst/>
          </a:prstGeom>
        </p:spPr>
      </p:pic>
      <p:pic>
        <p:nvPicPr>
          <p:cNvPr id="37" name="Graphic 36" descr="Close with solid fill">
            <a:extLst>
              <a:ext uri="{FF2B5EF4-FFF2-40B4-BE49-F238E27FC236}">
                <a16:creationId xmlns:a16="http://schemas.microsoft.com/office/drawing/2014/main" id="{703F70D7-A06C-E342-B826-A7C5DDFC025F}"/>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3769210" y="2926813"/>
            <a:ext cx="283272" cy="245902"/>
          </a:xfrm>
          <a:prstGeom prst="rect">
            <a:avLst/>
          </a:prstGeom>
        </p:spPr>
      </p:pic>
      <p:sp>
        <p:nvSpPr>
          <p:cNvPr id="56" name="TextBox 55">
            <a:extLst>
              <a:ext uri="{FF2B5EF4-FFF2-40B4-BE49-F238E27FC236}">
                <a16:creationId xmlns:a16="http://schemas.microsoft.com/office/drawing/2014/main" id="{45262355-E29F-FDB7-CDFD-15C56580447A}"/>
              </a:ext>
            </a:extLst>
          </p:cNvPr>
          <p:cNvSpPr txBox="1"/>
          <p:nvPr/>
        </p:nvSpPr>
        <p:spPr>
          <a:xfrm>
            <a:off x="6722139" y="2469362"/>
            <a:ext cx="1155031" cy="369332"/>
          </a:xfrm>
          <a:prstGeom prst="rect">
            <a:avLst/>
          </a:prstGeom>
          <a:noFill/>
        </p:spPr>
        <p:txBody>
          <a:bodyPr wrap="square" rtlCol="0">
            <a:spAutoFit/>
          </a:bodyPr>
          <a:lstStyle/>
          <a:p>
            <a:r>
              <a:rPr lang="en-FR" dirty="0"/>
              <a:t>9 rounds</a:t>
            </a:r>
          </a:p>
        </p:txBody>
      </p:sp>
      <p:sp>
        <p:nvSpPr>
          <p:cNvPr id="112" name="Rounded Rectangle 111">
            <a:extLst>
              <a:ext uri="{FF2B5EF4-FFF2-40B4-BE49-F238E27FC236}">
                <a16:creationId xmlns:a16="http://schemas.microsoft.com/office/drawing/2014/main" id="{E8FD836A-E9AE-96F8-74DE-E0EBC16080C8}"/>
              </a:ext>
            </a:extLst>
          </p:cNvPr>
          <p:cNvSpPr>
            <a:spLocks/>
          </p:cNvSpPr>
          <p:nvPr/>
        </p:nvSpPr>
        <p:spPr>
          <a:xfrm>
            <a:off x="2715907" y="4212132"/>
            <a:ext cx="944943" cy="51309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dirty="0">
                <a:solidFill>
                  <a:srgbClr val="FF0000"/>
                </a:solidFill>
              </a:rPr>
              <a:t>1, 2, 3</a:t>
            </a:r>
            <a:r>
              <a:rPr lang="fr-FR" dirty="0">
                <a:solidFill>
                  <a:srgbClr val="FF0000"/>
                </a:solidFill>
              </a:rPr>
              <a:t>,4</a:t>
            </a:r>
            <a:endParaRPr lang="en-FR" dirty="0">
              <a:solidFill>
                <a:srgbClr val="FF0000"/>
              </a:solidFill>
            </a:endParaRPr>
          </a:p>
        </p:txBody>
      </p:sp>
      <p:cxnSp>
        <p:nvCxnSpPr>
          <p:cNvPr id="113" name="Straight Arrow Connector 112">
            <a:extLst>
              <a:ext uri="{FF2B5EF4-FFF2-40B4-BE49-F238E27FC236}">
                <a16:creationId xmlns:a16="http://schemas.microsoft.com/office/drawing/2014/main" id="{5AF19488-A15D-652C-406B-25A34832A7C8}"/>
              </a:ext>
            </a:extLst>
          </p:cNvPr>
          <p:cNvCxnSpPr>
            <a:cxnSpLocks/>
            <a:stCxn id="10" idx="3"/>
          </p:cNvCxnSpPr>
          <p:nvPr/>
        </p:nvCxnSpPr>
        <p:spPr>
          <a:xfrm>
            <a:off x="2221574" y="4208229"/>
            <a:ext cx="494333" cy="25754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8" name="Rounded Rectangle 127">
            <a:extLst>
              <a:ext uri="{FF2B5EF4-FFF2-40B4-BE49-F238E27FC236}">
                <a16:creationId xmlns:a16="http://schemas.microsoft.com/office/drawing/2014/main" id="{F329E849-76D1-8B9C-6BC2-901F3B235701}"/>
              </a:ext>
            </a:extLst>
          </p:cNvPr>
          <p:cNvSpPr>
            <a:spLocks/>
          </p:cNvSpPr>
          <p:nvPr/>
        </p:nvSpPr>
        <p:spPr>
          <a:xfrm>
            <a:off x="5608885" y="4210160"/>
            <a:ext cx="944943" cy="513098"/>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dirty="0">
                <a:solidFill>
                  <a:srgbClr val="0070C0"/>
                </a:solidFill>
              </a:rPr>
              <a:t>?</a:t>
            </a:r>
          </a:p>
        </p:txBody>
      </p:sp>
      <p:cxnSp>
        <p:nvCxnSpPr>
          <p:cNvPr id="129" name="Straight Arrow Connector 128">
            <a:extLst>
              <a:ext uri="{FF2B5EF4-FFF2-40B4-BE49-F238E27FC236}">
                <a16:creationId xmlns:a16="http://schemas.microsoft.com/office/drawing/2014/main" id="{AAEE5A3A-2AD2-8E2D-A8CC-70ABC5E79FA0}"/>
              </a:ext>
            </a:extLst>
          </p:cNvPr>
          <p:cNvCxnSpPr>
            <a:cxnSpLocks/>
          </p:cNvCxnSpPr>
          <p:nvPr/>
        </p:nvCxnSpPr>
        <p:spPr>
          <a:xfrm>
            <a:off x="5107339" y="4463805"/>
            <a:ext cx="501546"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0" name="Rounded Rectangle 129">
            <a:extLst>
              <a:ext uri="{FF2B5EF4-FFF2-40B4-BE49-F238E27FC236}">
                <a16:creationId xmlns:a16="http://schemas.microsoft.com/office/drawing/2014/main" id="{67041849-3EAF-1CE5-3BEA-DFB42FD66830}"/>
              </a:ext>
            </a:extLst>
          </p:cNvPr>
          <p:cNvSpPr>
            <a:spLocks/>
          </p:cNvSpPr>
          <p:nvPr/>
        </p:nvSpPr>
        <p:spPr>
          <a:xfrm>
            <a:off x="4162396" y="4207256"/>
            <a:ext cx="944943" cy="51309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dirty="0">
                <a:solidFill>
                  <a:srgbClr val="FF0000"/>
                </a:solidFill>
              </a:rPr>
              <a:t>?</a:t>
            </a:r>
          </a:p>
        </p:txBody>
      </p:sp>
      <p:cxnSp>
        <p:nvCxnSpPr>
          <p:cNvPr id="131" name="Straight Arrow Connector 130">
            <a:extLst>
              <a:ext uri="{FF2B5EF4-FFF2-40B4-BE49-F238E27FC236}">
                <a16:creationId xmlns:a16="http://schemas.microsoft.com/office/drawing/2014/main" id="{2CE5633D-D7E0-8D88-6BDD-55BE9D930606}"/>
              </a:ext>
            </a:extLst>
          </p:cNvPr>
          <p:cNvCxnSpPr>
            <a:cxnSpLocks/>
          </p:cNvCxnSpPr>
          <p:nvPr/>
        </p:nvCxnSpPr>
        <p:spPr>
          <a:xfrm>
            <a:off x="3660850" y="4466981"/>
            <a:ext cx="501546"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3" name="TextBox 132">
            <a:extLst>
              <a:ext uri="{FF2B5EF4-FFF2-40B4-BE49-F238E27FC236}">
                <a16:creationId xmlns:a16="http://schemas.microsoft.com/office/drawing/2014/main" id="{D7272A8F-3469-5C1D-483D-86BF3CB5A0AF}"/>
              </a:ext>
            </a:extLst>
          </p:cNvPr>
          <p:cNvSpPr txBox="1"/>
          <p:nvPr/>
        </p:nvSpPr>
        <p:spPr>
          <a:xfrm>
            <a:off x="1233331" y="3501745"/>
            <a:ext cx="886846" cy="369332"/>
          </a:xfrm>
          <a:prstGeom prst="rect">
            <a:avLst/>
          </a:prstGeom>
          <a:noFill/>
          <a:ln>
            <a:noFill/>
          </a:ln>
        </p:spPr>
        <p:txBody>
          <a:bodyPr wrap="none" rtlCol="0">
            <a:spAutoFit/>
          </a:bodyPr>
          <a:lstStyle/>
          <a:p>
            <a:r>
              <a:rPr lang="en-FR" dirty="0">
                <a:solidFill>
                  <a:srgbClr val="0070C0"/>
                </a:solidFill>
              </a:rPr>
              <a:t>Source</a:t>
            </a:r>
          </a:p>
        </p:txBody>
      </p:sp>
      <p:sp>
        <p:nvSpPr>
          <p:cNvPr id="134" name="TextBox 133">
            <a:extLst>
              <a:ext uri="{FF2B5EF4-FFF2-40B4-BE49-F238E27FC236}">
                <a16:creationId xmlns:a16="http://schemas.microsoft.com/office/drawing/2014/main" id="{6B404848-B907-8332-115E-3820492D8328}"/>
              </a:ext>
            </a:extLst>
          </p:cNvPr>
          <p:cNvSpPr txBox="1"/>
          <p:nvPr/>
        </p:nvSpPr>
        <p:spPr>
          <a:xfrm>
            <a:off x="2768357" y="3837924"/>
            <a:ext cx="781945" cy="369332"/>
          </a:xfrm>
          <a:prstGeom prst="rect">
            <a:avLst/>
          </a:prstGeom>
          <a:noFill/>
        </p:spPr>
        <p:txBody>
          <a:bodyPr wrap="none" rtlCol="0">
            <a:spAutoFit/>
          </a:bodyPr>
          <a:lstStyle/>
          <a:p>
            <a:r>
              <a:rPr lang="en-FR" dirty="0">
                <a:solidFill>
                  <a:srgbClr val="FF0000"/>
                </a:solidFill>
              </a:rPr>
              <a:t>Target</a:t>
            </a:r>
          </a:p>
        </p:txBody>
      </p:sp>
      <p:sp>
        <p:nvSpPr>
          <p:cNvPr id="136" name="TextBox 135">
            <a:extLst>
              <a:ext uri="{FF2B5EF4-FFF2-40B4-BE49-F238E27FC236}">
                <a16:creationId xmlns:a16="http://schemas.microsoft.com/office/drawing/2014/main" id="{98D577C1-92EF-320D-FE10-ABC3A753787E}"/>
              </a:ext>
            </a:extLst>
          </p:cNvPr>
          <p:cNvSpPr txBox="1"/>
          <p:nvPr/>
        </p:nvSpPr>
        <p:spPr>
          <a:xfrm>
            <a:off x="4172558" y="3844591"/>
            <a:ext cx="781945" cy="369332"/>
          </a:xfrm>
          <a:prstGeom prst="rect">
            <a:avLst/>
          </a:prstGeom>
          <a:noFill/>
        </p:spPr>
        <p:txBody>
          <a:bodyPr wrap="none" rtlCol="0">
            <a:spAutoFit/>
          </a:bodyPr>
          <a:lstStyle/>
          <a:p>
            <a:r>
              <a:rPr lang="en-FR" dirty="0">
                <a:solidFill>
                  <a:srgbClr val="FF0000"/>
                </a:solidFill>
              </a:rPr>
              <a:t>Target</a:t>
            </a:r>
          </a:p>
        </p:txBody>
      </p:sp>
      <p:sp>
        <p:nvSpPr>
          <p:cNvPr id="137" name="TextBox 136">
            <a:extLst>
              <a:ext uri="{FF2B5EF4-FFF2-40B4-BE49-F238E27FC236}">
                <a16:creationId xmlns:a16="http://schemas.microsoft.com/office/drawing/2014/main" id="{5FBA223D-9482-2B06-EFBB-AA94218D369A}"/>
              </a:ext>
            </a:extLst>
          </p:cNvPr>
          <p:cNvSpPr txBox="1"/>
          <p:nvPr/>
        </p:nvSpPr>
        <p:spPr>
          <a:xfrm>
            <a:off x="5576759" y="3835021"/>
            <a:ext cx="886846" cy="369332"/>
          </a:xfrm>
          <a:prstGeom prst="rect">
            <a:avLst/>
          </a:prstGeom>
          <a:noFill/>
        </p:spPr>
        <p:txBody>
          <a:bodyPr wrap="none" rtlCol="0">
            <a:spAutoFit/>
          </a:bodyPr>
          <a:lstStyle/>
          <a:p>
            <a:r>
              <a:rPr lang="en-FR" dirty="0">
                <a:solidFill>
                  <a:srgbClr val="0070C0"/>
                </a:solidFill>
              </a:rPr>
              <a:t>Source</a:t>
            </a:r>
          </a:p>
        </p:txBody>
      </p:sp>
      <p:sp>
        <p:nvSpPr>
          <p:cNvPr id="138" name="TextBox 137">
            <a:extLst>
              <a:ext uri="{FF2B5EF4-FFF2-40B4-BE49-F238E27FC236}">
                <a16:creationId xmlns:a16="http://schemas.microsoft.com/office/drawing/2014/main" id="{F5E4FE61-8FDF-4E69-C112-E90D8720A1F8}"/>
              </a:ext>
            </a:extLst>
          </p:cNvPr>
          <p:cNvSpPr txBox="1"/>
          <p:nvPr/>
        </p:nvSpPr>
        <p:spPr>
          <a:xfrm>
            <a:off x="6752007" y="4233502"/>
            <a:ext cx="1155031" cy="369332"/>
          </a:xfrm>
          <a:prstGeom prst="rect">
            <a:avLst/>
          </a:prstGeom>
          <a:noFill/>
        </p:spPr>
        <p:txBody>
          <a:bodyPr wrap="square" rtlCol="0">
            <a:spAutoFit/>
          </a:bodyPr>
          <a:lstStyle/>
          <a:p>
            <a:r>
              <a:rPr lang="en-FR" dirty="0"/>
              <a:t>6 rounds</a:t>
            </a:r>
          </a:p>
        </p:txBody>
      </p:sp>
      <p:cxnSp>
        <p:nvCxnSpPr>
          <p:cNvPr id="164" name="Straight Arrow Connector 163">
            <a:extLst>
              <a:ext uri="{FF2B5EF4-FFF2-40B4-BE49-F238E27FC236}">
                <a16:creationId xmlns:a16="http://schemas.microsoft.com/office/drawing/2014/main" id="{877DD60E-1558-AEA5-6312-A5017CAA33AB}"/>
              </a:ext>
            </a:extLst>
          </p:cNvPr>
          <p:cNvCxnSpPr>
            <a:cxnSpLocks/>
            <a:stCxn id="33" idx="3"/>
            <a:endCxn id="178" idx="1"/>
          </p:cNvCxnSpPr>
          <p:nvPr/>
        </p:nvCxnSpPr>
        <p:spPr>
          <a:xfrm>
            <a:off x="3135605" y="5522809"/>
            <a:ext cx="554319" cy="26654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8" name="Rounded Rectangle 167">
            <a:extLst>
              <a:ext uri="{FF2B5EF4-FFF2-40B4-BE49-F238E27FC236}">
                <a16:creationId xmlns:a16="http://schemas.microsoft.com/office/drawing/2014/main" id="{9089DE11-F627-54A7-6277-F8645CD6167D}"/>
              </a:ext>
            </a:extLst>
          </p:cNvPr>
          <p:cNvSpPr>
            <a:spLocks/>
          </p:cNvSpPr>
          <p:nvPr/>
        </p:nvSpPr>
        <p:spPr>
          <a:xfrm>
            <a:off x="5150640" y="5530836"/>
            <a:ext cx="944943" cy="513098"/>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dirty="0">
                <a:solidFill>
                  <a:schemeClr val="tx1"/>
                </a:solidFill>
              </a:rPr>
              <a:t>?</a:t>
            </a:r>
          </a:p>
        </p:txBody>
      </p:sp>
      <p:cxnSp>
        <p:nvCxnSpPr>
          <p:cNvPr id="169" name="Straight Arrow Connector 168">
            <a:extLst>
              <a:ext uri="{FF2B5EF4-FFF2-40B4-BE49-F238E27FC236}">
                <a16:creationId xmlns:a16="http://schemas.microsoft.com/office/drawing/2014/main" id="{4BE4A781-1C5E-DE6F-B9C8-AD1D9EB76932}"/>
              </a:ext>
            </a:extLst>
          </p:cNvPr>
          <p:cNvCxnSpPr>
            <a:cxnSpLocks/>
          </p:cNvCxnSpPr>
          <p:nvPr/>
        </p:nvCxnSpPr>
        <p:spPr>
          <a:xfrm>
            <a:off x="4649094" y="5790561"/>
            <a:ext cx="501546"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74" name="TextBox 173">
            <a:extLst>
              <a:ext uri="{FF2B5EF4-FFF2-40B4-BE49-F238E27FC236}">
                <a16:creationId xmlns:a16="http://schemas.microsoft.com/office/drawing/2014/main" id="{F8E96ED2-B4C7-AAB3-80C5-44FC4E060E66}"/>
              </a:ext>
            </a:extLst>
          </p:cNvPr>
          <p:cNvSpPr txBox="1"/>
          <p:nvPr/>
        </p:nvSpPr>
        <p:spPr>
          <a:xfrm>
            <a:off x="6722139" y="5354869"/>
            <a:ext cx="1820065" cy="923330"/>
          </a:xfrm>
          <a:prstGeom prst="rect">
            <a:avLst/>
          </a:prstGeom>
          <a:noFill/>
        </p:spPr>
        <p:txBody>
          <a:bodyPr wrap="square" rtlCol="0">
            <a:spAutoFit/>
          </a:bodyPr>
          <a:lstStyle/>
          <a:p>
            <a:r>
              <a:rPr lang="en-FR" dirty="0"/>
              <a:t>16 rounds lotteries, and 16 mirrors</a:t>
            </a:r>
          </a:p>
        </p:txBody>
      </p:sp>
      <p:sp>
        <p:nvSpPr>
          <p:cNvPr id="178" name="Rounded Rectangle 177">
            <a:extLst>
              <a:ext uri="{FF2B5EF4-FFF2-40B4-BE49-F238E27FC236}">
                <a16:creationId xmlns:a16="http://schemas.microsoft.com/office/drawing/2014/main" id="{C63CF943-6BCF-E887-C850-05426C9B9613}"/>
              </a:ext>
            </a:extLst>
          </p:cNvPr>
          <p:cNvSpPr>
            <a:spLocks/>
          </p:cNvSpPr>
          <p:nvPr/>
        </p:nvSpPr>
        <p:spPr>
          <a:xfrm>
            <a:off x="3689924" y="5532808"/>
            <a:ext cx="944943" cy="513098"/>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dirty="0">
                <a:solidFill>
                  <a:schemeClr val="tx1"/>
                </a:solidFill>
              </a:rPr>
              <a:t>MPL</a:t>
            </a:r>
          </a:p>
        </p:txBody>
      </p:sp>
      <p:sp>
        <p:nvSpPr>
          <p:cNvPr id="184" name="Right Brace 183">
            <a:extLst>
              <a:ext uri="{FF2B5EF4-FFF2-40B4-BE49-F238E27FC236}">
                <a16:creationId xmlns:a16="http://schemas.microsoft.com/office/drawing/2014/main" id="{7798F1BB-99FA-D615-F8A0-8F5E8CEF52DA}"/>
              </a:ext>
            </a:extLst>
          </p:cNvPr>
          <p:cNvSpPr/>
          <p:nvPr/>
        </p:nvSpPr>
        <p:spPr>
          <a:xfrm>
            <a:off x="8612503" y="2157622"/>
            <a:ext cx="358207" cy="1105943"/>
          </a:xfrm>
          <a:prstGeom prst="rightBrace">
            <a:avLst>
              <a:gd name="adj1" fmla="val 8333"/>
              <a:gd name="adj2" fmla="val 51741"/>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FR">
              <a:ln>
                <a:solidFill>
                  <a:schemeClr val="tx1"/>
                </a:solidFill>
              </a:ln>
              <a:solidFill>
                <a:sysClr val="windowText" lastClr="000000"/>
              </a:solidFill>
            </a:endParaRPr>
          </a:p>
        </p:txBody>
      </p:sp>
      <p:sp>
        <p:nvSpPr>
          <p:cNvPr id="185" name="TextBox 184">
            <a:extLst>
              <a:ext uri="{FF2B5EF4-FFF2-40B4-BE49-F238E27FC236}">
                <a16:creationId xmlns:a16="http://schemas.microsoft.com/office/drawing/2014/main" id="{E24643EE-E9C5-5012-1F18-57C0834E07B5}"/>
              </a:ext>
            </a:extLst>
          </p:cNvPr>
          <p:cNvSpPr txBox="1"/>
          <p:nvPr/>
        </p:nvSpPr>
        <p:spPr>
          <a:xfrm>
            <a:off x="9413426" y="2128999"/>
            <a:ext cx="1854547" cy="1200329"/>
          </a:xfrm>
          <a:prstGeom prst="rect">
            <a:avLst/>
          </a:prstGeom>
          <a:noFill/>
        </p:spPr>
        <p:txBody>
          <a:bodyPr wrap="square" rtlCol="0">
            <a:spAutoFit/>
          </a:bodyPr>
          <a:lstStyle/>
          <a:p>
            <a:r>
              <a:rPr lang="en-FR" b="1" dirty="0"/>
              <a:t>I </a:t>
            </a:r>
            <a:r>
              <a:rPr lang="fr-FR" b="1" dirty="0"/>
              <a:t>SPAN TASK </a:t>
            </a:r>
            <a:r>
              <a:rPr lang="en-FR" b="1" dirty="0"/>
              <a:t>Calibration</a:t>
            </a:r>
            <a:br>
              <a:rPr lang="en-FR" dirty="0"/>
            </a:br>
            <a:r>
              <a:rPr lang="en-FR" dirty="0"/>
              <a:t>Incentivized for span max length</a:t>
            </a:r>
          </a:p>
        </p:txBody>
      </p:sp>
      <p:sp>
        <p:nvSpPr>
          <p:cNvPr id="186" name="Right Brace 185">
            <a:extLst>
              <a:ext uri="{FF2B5EF4-FFF2-40B4-BE49-F238E27FC236}">
                <a16:creationId xmlns:a16="http://schemas.microsoft.com/office/drawing/2014/main" id="{CAD955AC-FC09-EB88-DBAD-B5578593FDD9}"/>
              </a:ext>
            </a:extLst>
          </p:cNvPr>
          <p:cNvSpPr/>
          <p:nvPr/>
        </p:nvSpPr>
        <p:spPr>
          <a:xfrm>
            <a:off x="8613659" y="3798544"/>
            <a:ext cx="358207" cy="1105943"/>
          </a:xfrm>
          <a:prstGeom prst="rightBrace">
            <a:avLst>
              <a:gd name="adj1" fmla="val 8333"/>
              <a:gd name="adj2" fmla="val 51741"/>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FR">
              <a:ln>
                <a:solidFill>
                  <a:schemeClr val="tx1"/>
                </a:solidFill>
              </a:ln>
              <a:solidFill>
                <a:sysClr val="windowText" lastClr="000000"/>
              </a:solidFill>
            </a:endParaRPr>
          </a:p>
        </p:txBody>
      </p:sp>
      <p:sp>
        <p:nvSpPr>
          <p:cNvPr id="187" name="TextBox 186">
            <a:extLst>
              <a:ext uri="{FF2B5EF4-FFF2-40B4-BE49-F238E27FC236}">
                <a16:creationId xmlns:a16="http://schemas.microsoft.com/office/drawing/2014/main" id="{AC3BF111-B743-D7A0-4047-51478D16024F}"/>
              </a:ext>
            </a:extLst>
          </p:cNvPr>
          <p:cNvSpPr txBox="1"/>
          <p:nvPr/>
        </p:nvSpPr>
        <p:spPr>
          <a:xfrm>
            <a:off x="9413426" y="3438230"/>
            <a:ext cx="2508930" cy="1754326"/>
          </a:xfrm>
          <a:prstGeom prst="rect">
            <a:avLst/>
          </a:prstGeom>
          <a:noFill/>
        </p:spPr>
        <p:txBody>
          <a:bodyPr wrap="square" rtlCol="0">
            <a:spAutoFit/>
          </a:bodyPr>
          <a:lstStyle/>
          <a:p>
            <a:r>
              <a:rPr lang="en-FR" b="1" dirty="0"/>
              <a:t>II </a:t>
            </a:r>
            <a:r>
              <a:rPr lang="fr-FR" b="1" dirty="0"/>
              <a:t>SPAN TASK </a:t>
            </a:r>
            <a:r>
              <a:rPr lang="en-FR" b="1" dirty="0"/>
              <a:t>Cognitive load sensitivity</a:t>
            </a:r>
            <a:r>
              <a:rPr lang="fr-FR" b="1" dirty="0"/>
              <a:t> </a:t>
            </a:r>
            <a:r>
              <a:rPr lang="fr-FR" b="1" dirty="0" err="1"/>
              <a:t>measurement</a:t>
            </a:r>
            <a:br>
              <a:rPr lang="en-FR" dirty="0"/>
            </a:br>
            <a:r>
              <a:rPr lang="en-FR" dirty="0"/>
              <a:t>Incentivized twice more for source than target</a:t>
            </a:r>
          </a:p>
        </p:txBody>
      </p:sp>
      <p:sp>
        <p:nvSpPr>
          <p:cNvPr id="190" name="Right Brace 189">
            <a:extLst>
              <a:ext uri="{FF2B5EF4-FFF2-40B4-BE49-F238E27FC236}">
                <a16:creationId xmlns:a16="http://schemas.microsoft.com/office/drawing/2014/main" id="{F2C5ECC1-CD84-3235-0C0F-46E129D9FD75}"/>
              </a:ext>
            </a:extLst>
          </p:cNvPr>
          <p:cNvSpPr/>
          <p:nvPr/>
        </p:nvSpPr>
        <p:spPr>
          <a:xfrm>
            <a:off x="8612504" y="5260483"/>
            <a:ext cx="358207" cy="1105943"/>
          </a:xfrm>
          <a:prstGeom prst="rightBrace">
            <a:avLst>
              <a:gd name="adj1" fmla="val 8333"/>
              <a:gd name="adj2" fmla="val 51741"/>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FR">
              <a:ln>
                <a:solidFill>
                  <a:schemeClr val="tx1"/>
                </a:solidFill>
              </a:ln>
              <a:solidFill>
                <a:sysClr val="windowText" lastClr="000000"/>
              </a:solidFill>
            </a:endParaRPr>
          </a:p>
        </p:txBody>
      </p:sp>
      <p:sp>
        <p:nvSpPr>
          <p:cNvPr id="191" name="TextBox 190">
            <a:extLst>
              <a:ext uri="{FF2B5EF4-FFF2-40B4-BE49-F238E27FC236}">
                <a16:creationId xmlns:a16="http://schemas.microsoft.com/office/drawing/2014/main" id="{F530E07E-AF91-87E1-AB1F-2C3141749210}"/>
              </a:ext>
            </a:extLst>
          </p:cNvPr>
          <p:cNvSpPr txBox="1"/>
          <p:nvPr/>
        </p:nvSpPr>
        <p:spPr>
          <a:xfrm>
            <a:off x="9413426" y="5305270"/>
            <a:ext cx="2508930" cy="1477328"/>
          </a:xfrm>
          <a:prstGeom prst="rect">
            <a:avLst/>
          </a:prstGeom>
          <a:noFill/>
        </p:spPr>
        <p:txBody>
          <a:bodyPr wrap="square" rtlCol="0">
            <a:spAutoFit/>
          </a:bodyPr>
          <a:lstStyle/>
          <a:p>
            <a:r>
              <a:rPr lang="en-FR" b="1" dirty="0"/>
              <a:t>III </a:t>
            </a:r>
            <a:r>
              <a:rPr lang="fr-FR" b="1" dirty="0" err="1"/>
              <a:t>Economic</a:t>
            </a:r>
            <a:r>
              <a:rPr lang="fr-FR" b="1" dirty="0"/>
              <a:t> </a:t>
            </a:r>
            <a:r>
              <a:rPr lang="en-FR" b="1" dirty="0"/>
              <a:t>Choices</a:t>
            </a:r>
            <a:r>
              <a:rPr lang="fr-FR" b="1" dirty="0"/>
              <a:t> + SPAN cognitive </a:t>
            </a:r>
            <a:r>
              <a:rPr lang="fr-FR" b="1" dirty="0" err="1"/>
              <a:t>load</a:t>
            </a:r>
            <a:br>
              <a:rPr lang="en-FR" dirty="0"/>
            </a:br>
            <a:r>
              <a:rPr lang="en-FR" dirty="0"/>
              <a:t>Incentivized twice more for source than target (on average)</a:t>
            </a:r>
          </a:p>
        </p:txBody>
      </p:sp>
      <p:sp>
        <p:nvSpPr>
          <p:cNvPr id="192" name="TextBox 191">
            <a:extLst>
              <a:ext uri="{FF2B5EF4-FFF2-40B4-BE49-F238E27FC236}">
                <a16:creationId xmlns:a16="http://schemas.microsoft.com/office/drawing/2014/main" id="{D7E362E6-3F31-E1A7-E184-2C66300CEE5C}"/>
              </a:ext>
            </a:extLst>
          </p:cNvPr>
          <p:cNvSpPr txBox="1"/>
          <p:nvPr/>
        </p:nvSpPr>
        <p:spPr>
          <a:xfrm>
            <a:off x="1087655" y="1531070"/>
            <a:ext cx="2562142" cy="369332"/>
          </a:xfrm>
          <a:prstGeom prst="rect">
            <a:avLst/>
          </a:prstGeom>
          <a:noFill/>
        </p:spPr>
        <p:txBody>
          <a:bodyPr wrap="square" rtlCol="0">
            <a:spAutoFit/>
          </a:bodyPr>
          <a:lstStyle/>
          <a:p>
            <a:r>
              <a:rPr lang="en-FR" dirty="0"/>
              <a:t>There are three parts :</a:t>
            </a:r>
          </a:p>
        </p:txBody>
      </p:sp>
      <p:sp>
        <p:nvSpPr>
          <p:cNvPr id="5" name="Rounded Rectangle 4">
            <a:extLst>
              <a:ext uri="{FF2B5EF4-FFF2-40B4-BE49-F238E27FC236}">
                <a16:creationId xmlns:a16="http://schemas.microsoft.com/office/drawing/2014/main" id="{4E9B96EA-E0A7-6F17-049F-F2AF2DD22E22}"/>
              </a:ext>
            </a:extLst>
          </p:cNvPr>
          <p:cNvSpPr>
            <a:spLocks/>
          </p:cNvSpPr>
          <p:nvPr/>
        </p:nvSpPr>
        <p:spPr>
          <a:xfrm>
            <a:off x="4197031" y="2710594"/>
            <a:ext cx="944943" cy="51309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dirty="0">
                <a:solidFill>
                  <a:schemeClr val="tx1"/>
                </a:solidFill>
              </a:rPr>
              <a:t>1, 2</a:t>
            </a:r>
          </a:p>
        </p:txBody>
      </p:sp>
      <p:sp>
        <p:nvSpPr>
          <p:cNvPr id="6" name="Rounded Rectangle 5">
            <a:extLst>
              <a:ext uri="{FF2B5EF4-FFF2-40B4-BE49-F238E27FC236}">
                <a16:creationId xmlns:a16="http://schemas.microsoft.com/office/drawing/2014/main" id="{36BD6FFF-7CB7-7658-1568-C9FB9261D023}"/>
              </a:ext>
            </a:extLst>
          </p:cNvPr>
          <p:cNvSpPr>
            <a:spLocks/>
          </p:cNvSpPr>
          <p:nvPr/>
        </p:nvSpPr>
        <p:spPr>
          <a:xfrm>
            <a:off x="4177765" y="2150406"/>
            <a:ext cx="944943" cy="51309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dirty="0">
                <a:solidFill>
                  <a:schemeClr val="tx1"/>
                </a:solidFill>
              </a:rPr>
              <a:t>1, 2, 3, 4</a:t>
            </a:r>
          </a:p>
        </p:txBody>
      </p:sp>
      <p:sp>
        <p:nvSpPr>
          <p:cNvPr id="9" name="Rounded Rectangle 8">
            <a:extLst>
              <a:ext uri="{FF2B5EF4-FFF2-40B4-BE49-F238E27FC236}">
                <a16:creationId xmlns:a16="http://schemas.microsoft.com/office/drawing/2014/main" id="{B93C5A3A-F240-08F7-AFA6-CA8FD7B2BAC9}"/>
              </a:ext>
            </a:extLst>
          </p:cNvPr>
          <p:cNvSpPr>
            <a:spLocks/>
          </p:cNvSpPr>
          <p:nvPr/>
        </p:nvSpPr>
        <p:spPr>
          <a:xfrm>
            <a:off x="1295897" y="4511868"/>
            <a:ext cx="944943" cy="513098"/>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dirty="0">
                <a:solidFill>
                  <a:srgbClr val="0070C0"/>
                </a:solidFill>
              </a:rPr>
              <a:t>1</a:t>
            </a:r>
          </a:p>
        </p:txBody>
      </p:sp>
      <p:sp>
        <p:nvSpPr>
          <p:cNvPr id="10" name="Rounded Rectangle 9">
            <a:extLst>
              <a:ext uri="{FF2B5EF4-FFF2-40B4-BE49-F238E27FC236}">
                <a16:creationId xmlns:a16="http://schemas.microsoft.com/office/drawing/2014/main" id="{58EAD980-9620-8821-B8A5-F6E2CBDC9CD1}"/>
              </a:ext>
            </a:extLst>
          </p:cNvPr>
          <p:cNvSpPr>
            <a:spLocks/>
          </p:cNvSpPr>
          <p:nvPr/>
        </p:nvSpPr>
        <p:spPr>
          <a:xfrm>
            <a:off x="1276631" y="3951680"/>
            <a:ext cx="944943" cy="513098"/>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dirty="0">
                <a:solidFill>
                  <a:srgbClr val="0070C0"/>
                </a:solidFill>
              </a:rPr>
              <a:t>1, 2, 3, 4</a:t>
            </a:r>
          </a:p>
        </p:txBody>
      </p:sp>
      <p:cxnSp>
        <p:nvCxnSpPr>
          <p:cNvPr id="13" name="Straight Arrow Connector 12">
            <a:extLst>
              <a:ext uri="{FF2B5EF4-FFF2-40B4-BE49-F238E27FC236}">
                <a16:creationId xmlns:a16="http://schemas.microsoft.com/office/drawing/2014/main" id="{EBD1894D-7C94-6236-8BE1-B4BCEBBD7861}"/>
              </a:ext>
            </a:extLst>
          </p:cNvPr>
          <p:cNvCxnSpPr>
            <a:cxnSpLocks/>
            <a:stCxn id="9" idx="3"/>
            <a:endCxn id="112" idx="1"/>
          </p:cNvCxnSpPr>
          <p:nvPr/>
        </p:nvCxnSpPr>
        <p:spPr>
          <a:xfrm flipV="1">
            <a:off x="2240840" y="4468681"/>
            <a:ext cx="475067" cy="29973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23C95190-9670-23BC-2107-84206C2731B8}"/>
              </a:ext>
            </a:extLst>
          </p:cNvPr>
          <p:cNvSpPr txBox="1"/>
          <p:nvPr/>
        </p:nvSpPr>
        <p:spPr>
          <a:xfrm>
            <a:off x="0" y="3495362"/>
            <a:ext cx="1295897" cy="369332"/>
          </a:xfrm>
          <a:prstGeom prst="rect">
            <a:avLst/>
          </a:prstGeom>
          <a:noFill/>
        </p:spPr>
        <p:txBody>
          <a:bodyPr wrap="square" rtlCol="0">
            <a:spAutoFit/>
          </a:bodyPr>
          <a:lstStyle/>
          <a:p>
            <a:r>
              <a:rPr lang="en-FR" dirty="0"/>
              <a:t>Treatment:</a:t>
            </a:r>
          </a:p>
        </p:txBody>
      </p:sp>
      <p:sp>
        <p:nvSpPr>
          <p:cNvPr id="21" name="TextBox 20">
            <a:extLst>
              <a:ext uri="{FF2B5EF4-FFF2-40B4-BE49-F238E27FC236}">
                <a16:creationId xmlns:a16="http://schemas.microsoft.com/office/drawing/2014/main" id="{BCBA1AA3-5690-DA5F-A9C9-96D9475F24C3}"/>
              </a:ext>
            </a:extLst>
          </p:cNvPr>
          <p:cNvSpPr txBox="1"/>
          <p:nvPr/>
        </p:nvSpPr>
        <p:spPr>
          <a:xfrm>
            <a:off x="47686" y="4019687"/>
            <a:ext cx="1128292" cy="646331"/>
          </a:xfrm>
          <a:prstGeom prst="rect">
            <a:avLst/>
          </a:prstGeom>
          <a:noFill/>
        </p:spPr>
        <p:txBody>
          <a:bodyPr wrap="square" rtlCol="0">
            <a:spAutoFit/>
          </a:bodyPr>
          <a:lstStyle/>
          <a:p>
            <a:r>
              <a:rPr lang="en-GB" dirty="0"/>
              <a:t>C</a:t>
            </a:r>
            <a:r>
              <a:rPr lang="en-FR" dirty="0"/>
              <a:t>ognitive load</a:t>
            </a:r>
          </a:p>
        </p:txBody>
      </p:sp>
      <p:sp>
        <p:nvSpPr>
          <p:cNvPr id="22" name="TextBox 21">
            <a:extLst>
              <a:ext uri="{FF2B5EF4-FFF2-40B4-BE49-F238E27FC236}">
                <a16:creationId xmlns:a16="http://schemas.microsoft.com/office/drawing/2014/main" id="{C2E8604A-39FC-30DE-2304-76CFB68980CA}"/>
              </a:ext>
            </a:extLst>
          </p:cNvPr>
          <p:cNvSpPr txBox="1"/>
          <p:nvPr/>
        </p:nvSpPr>
        <p:spPr>
          <a:xfrm>
            <a:off x="47686" y="4602834"/>
            <a:ext cx="1043876" cy="369332"/>
          </a:xfrm>
          <a:prstGeom prst="rect">
            <a:avLst/>
          </a:prstGeom>
          <a:noFill/>
        </p:spPr>
        <p:txBody>
          <a:bodyPr wrap="none" rtlCol="0">
            <a:spAutoFit/>
          </a:bodyPr>
          <a:lstStyle/>
          <a:p>
            <a:r>
              <a:rPr lang="en-US" dirty="0"/>
              <a:t>Baseline</a:t>
            </a:r>
            <a:endParaRPr lang="en-FR" dirty="0"/>
          </a:p>
        </p:txBody>
      </p:sp>
      <p:sp>
        <p:nvSpPr>
          <p:cNvPr id="31" name="Rounded Rectangle 30">
            <a:extLst>
              <a:ext uri="{FF2B5EF4-FFF2-40B4-BE49-F238E27FC236}">
                <a16:creationId xmlns:a16="http://schemas.microsoft.com/office/drawing/2014/main" id="{68563840-25FD-167E-F2C4-B49264481CB0}"/>
              </a:ext>
            </a:extLst>
          </p:cNvPr>
          <p:cNvSpPr>
            <a:spLocks/>
          </p:cNvSpPr>
          <p:nvPr/>
        </p:nvSpPr>
        <p:spPr>
          <a:xfrm>
            <a:off x="2209928" y="5826448"/>
            <a:ext cx="944943" cy="513098"/>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dirty="0">
                <a:solidFill>
                  <a:schemeClr val="tx1"/>
                </a:solidFill>
              </a:rPr>
              <a:t>1</a:t>
            </a:r>
          </a:p>
        </p:txBody>
      </p:sp>
      <p:sp>
        <p:nvSpPr>
          <p:cNvPr id="33" name="Rounded Rectangle 32">
            <a:extLst>
              <a:ext uri="{FF2B5EF4-FFF2-40B4-BE49-F238E27FC236}">
                <a16:creationId xmlns:a16="http://schemas.microsoft.com/office/drawing/2014/main" id="{458B0DEE-5F4C-95C0-A76E-2A9BC23FE100}"/>
              </a:ext>
            </a:extLst>
          </p:cNvPr>
          <p:cNvSpPr>
            <a:spLocks/>
          </p:cNvSpPr>
          <p:nvPr/>
        </p:nvSpPr>
        <p:spPr>
          <a:xfrm>
            <a:off x="2190662" y="5266260"/>
            <a:ext cx="944943" cy="513098"/>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FR" dirty="0">
                <a:solidFill>
                  <a:schemeClr val="tx1"/>
                </a:solidFill>
              </a:rPr>
              <a:t>1, 2, 3, 4</a:t>
            </a:r>
          </a:p>
        </p:txBody>
      </p:sp>
      <p:cxnSp>
        <p:nvCxnSpPr>
          <p:cNvPr id="36" name="Straight Arrow Connector 35">
            <a:extLst>
              <a:ext uri="{FF2B5EF4-FFF2-40B4-BE49-F238E27FC236}">
                <a16:creationId xmlns:a16="http://schemas.microsoft.com/office/drawing/2014/main" id="{C12DC79D-00CC-3199-6897-812B77F2F1C3}"/>
              </a:ext>
            </a:extLst>
          </p:cNvPr>
          <p:cNvCxnSpPr>
            <a:cxnSpLocks/>
            <a:stCxn id="31" idx="3"/>
            <a:endCxn id="178" idx="1"/>
          </p:cNvCxnSpPr>
          <p:nvPr/>
        </p:nvCxnSpPr>
        <p:spPr>
          <a:xfrm flipV="1">
            <a:off x="3154871" y="5789357"/>
            <a:ext cx="535053" cy="29364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605A6814-7D55-7FD9-DA4B-A3907052F271}"/>
              </a:ext>
            </a:extLst>
          </p:cNvPr>
          <p:cNvSpPr txBox="1"/>
          <p:nvPr/>
        </p:nvSpPr>
        <p:spPr>
          <a:xfrm>
            <a:off x="838200" y="5276121"/>
            <a:ext cx="1128292" cy="646331"/>
          </a:xfrm>
          <a:prstGeom prst="rect">
            <a:avLst/>
          </a:prstGeom>
          <a:noFill/>
        </p:spPr>
        <p:txBody>
          <a:bodyPr wrap="square" rtlCol="0">
            <a:spAutoFit/>
          </a:bodyPr>
          <a:lstStyle/>
          <a:p>
            <a:r>
              <a:rPr lang="en-GB" dirty="0"/>
              <a:t>C</a:t>
            </a:r>
            <a:r>
              <a:rPr lang="en-FR" dirty="0"/>
              <a:t>ognitive load</a:t>
            </a:r>
          </a:p>
        </p:txBody>
      </p:sp>
      <p:sp>
        <p:nvSpPr>
          <p:cNvPr id="42" name="TextBox 41">
            <a:extLst>
              <a:ext uri="{FF2B5EF4-FFF2-40B4-BE49-F238E27FC236}">
                <a16:creationId xmlns:a16="http://schemas.microsoft.com/office/drawing/2014/main" id="{7AB95C8A-02EA-67B2-4497-73EC5E0013C1}"/>
              </a:ext>
            </a:extLst>
          </p:cNvPr>
          <p:cNvSpPr txBox="1"/>
          <p:nvPr/>
        </p:nvSpPr>
        <p:spPr>
          <a:xfrm>
            <a:off x="838200" y="5859268"/>
            <a:ext cx="1043876" cy="369332"/>
          </a:xfrm>
          <a:prstGeom prst="rect">
            <a:avLst/>
          </a:prstGeom>
          <a:noFill/>
        </p:spPr>
        <p:txBody>
          <a:bodyPr wrap="none" rtlCol="0">
            <a:spAutoFit/>
          </a:bodyPr>
          <a:lstStyle/>
          <a:p>
            <a:r>
              <a:rPr lang="en-US" dirty="0"/>
              <a:t>Baseline</a:t>
            </a:r>
            <a:endParaRPr lang="en-FR" dirty="0"/>
          </a:p>
        </p:txBody>
      </p:sp>
    </p:spTree>
    <p:extLst>
      <p:ext uri="{BB962C8B-B14F-4D97-AF65-F5344CB8AC3E}">
        <p14:creationId xmlns:p14="http://schemas.microsoft.com/office/powerpoint/2010/main" val="907346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C47EA-4F23-8B2B-729D-9F89B0CCDD36}"/>
              </a:ext>
            </a:extLst>
          </p:cNvPr>
          <p:cNvSpPr>
            <a:spLocks noGrp="1"/>
          </p:cNvSpPr>
          <p:nvPr>
            <p:ph type="title"/>
          </p:nvPr>
        </p:nvSpPr>
        <p:spPr/>
        <p:txBody>
          <a:bodyPr/>
          <a:lstStyle/>
          <a:p>
            <a:r>
              <a:rPr lang="en-FR" dirty="0"/>
              <a:t>II Our experiment - Hypotheses</a:t>
            </a:r>
          </a:p>
        </p:txBody>
      </p:sp>
      <p:sp>
        <p:nvSpPr>
          <p:cNvPr id="3" name="Content Placeholder 2">
            <a:extLst>
              <a:ext uri="{FF2B5EF4-FFF2-40B4-BE49-F238E27FC236}">
                <a16:creationId xmlns:a16="http://schemas.microsoft.com/office/drawing/2014/main" id="{A826E960-9824-4BF6-CA3B-BA3214D4786D}"/>
              </a:ext>
            </a:extLst>
          </p:cNvPr>
          <p:cNvSpPr>
            <a:spLocks noGrp="1"/>
          </p:cNvSpPr>
          <p:nvPr>
            <p:ph idx="1"/>
          </p:nvPr>
        </p:nvSpPr>
        <p:spPr/>
        <p:txBody>
          <a:bodyPr>
            <a:normAutofit fontScale="92500" lnSpcReduction="10000"/>
          </a:bodyPr>
          <a:lstStyle/>
          <a:p>
            <a:pPr marL="514350" indent="-514350">
              <a:buAutoNum type="arabicParenR"/>
            </a:pPr>
            <a:endParaRPr lang="fr-FR" dirty="0"/>
          </a:p>
          <a:p>
            <a:pPr marL="0" indent="0">
              <a:buNone/>
            </a:pPr>
            <a:r>
              <a:rPr lang="fr-FR" dirty="0" err="1"/>
              <a:t>Hypotheses</a:t>
            </a:r>
            <a:r>
              <a:rPr lang="fr-FR" dirty="0"/>
              <a:t>:</a:t>
            </a:r>
          </a:p>
          <a:p>
            <a:pPr marL="514350" indent="-514350">
              <a:buAutoNum type="arabicParenR"/>
            </a:pPr>
            <a:r>
              <a:rPr lang="fr-FR" dirty="0"/>
              <a:t>The </a:t>
            </a:r>
            <a:r>
              <a:rPr lang="fr-FR" dirty="0" err="1"/>
              <a:t>fourfold</a:t>
            </a:r>
            <a:r>
              <a:rPr lang="fr-FR" dirty="0"/>
              <a:t> pattern of </a:t>
            </a:r>
            <a:r>
              <a:rPr lang="fr-FR" dirty="0" err="1"/>
              <a:t>risk</a:t>
            </a:r>
            <a:r>
              <a:rPr lang="fr-FR" dirty="0"/>
              <a:t> aversion and </a:t>
            </a:r>
            <a:r>
              <a:rPr lang="fr-FR" dirty="0" err="1"/>
              <a:t>loss</a:t>
            </a:r>
            <a:r>
              <a:rPr lang="fr-FR" dirty="0"/>
              <a:t> aversion </a:t>
            </a:r>
            <a:r>
              <a:rPr lang="fr-FR" dirty="0" err="1"/>
              <a:t>will</a:t>
            </a:r>
            <a:r>
              <a:rPr lang="fr-FR" dirty="0"/>
              <a:t> </a:t>
            </a:r>
            <a:r>
              <a:rPr lang="fr-FR" dirty="0" err="1"/>
              <a:t>be</a:t>
            </a:r>
            <a:r>
              <a:rPr lang="fr-FR" dirty="0"/>
              <a:t> </a:t>
            </a:r>
            <a:r>
              <a:rPr lang="fr-FR" dirty="0" err="1"/>
              <a:t>found</a:t>
            </a:r>
            <a:r>
              <a:rPr lang="fr-FR" dirty="0"/>
              <a:t> in settings </a:t>
            </a:r>
            <a:r>
              <a:rPr lang="fr-FR" dirty="0" err="1"/>
              <a:t>without</a:t>
            </a:r>
            <a:r>
              <a:rPr lang="fr-FR" dirty="0"/>
              <a:t> </a:t>
            </a:r>
            <a:r>
              <a:rPr lang="fr-FR" dirty="0" err="1"/>
              <a:t>risk</a:t>
            </a:r>
            <a:r>
              <a:rPr lang="fr-FR" dirty="0"/>
              <a:t>, </a:t>
            </a:r>
            <a:r>
              <a:rPr lang="fr-FR" dirty="0" err="1"/>
              <a:t>even</a:t>
            </a:r>
            <a:r>
              <a:rPr lang="fr-FR" dirty="0"/>
              <a:t> </a:t>
            </a:r>
            <a:r>
              <a:rPr lang="fr-FR" dirty="0" err="1"/>
              <a:t>when</a:t>
            </a:r>
            <a:r>
              <a:rPr lang="fr-FR" dirty="0"/>
              <a:t> </a:t>
            </a:r>
            <a:r>
              <a:rPr lang="fr-FR" dirty="0" err="1"/>
              <a:t>ruling</a:t>
            </a:r>
            <a:r>
              <a:rPr lang="fr-FR" dirty="0"/>
              <a:t> out the </a:t>
            </a:r>
            <a:r>
              <a:rPr lang="fr-FR" dirty="0" err="1"/>
              <a:t>effects</a:t>
            </a:r>
            <a:r>
              <a:rPr lang="fr-FR" dirty="0"/>
              <a:t> of </a:t>
            </a:r>
            <a:r>
              <a:rPr lang="fr-FR" dirty="0" err="1"/>
              <a:t>random</a:t>
            </a:r>
            <a:r>
              <a:rPr lang="fr-FR" dirty="0"/>
              <a:t> valuation and pull-to-the-middle </a:t>
            </a:r>
            <a:r>
              <a:rPr lang="fr-FR" dirty="0" err="1"/>
              <a:t>effect</a:t>
            </a:r>
            <a:endParaRPr lang="fr-FR" dirty="0"/>
          </a:p>
          <a:p>
            <a:pPr marL="514350" indent="-514350">
              <a:buAutoNum type="arabicParenR"/>
            </a:pPr>
            <a:r>
              <a:rPr lang="fr-FR" dirty="0"/>
              <a:t>Cognitive </a:t>
            </a:r>
            <a:r>
              <a:rPr lang="fr-FR" dirty="0" err="1"/>
              <a:t>load</a:t>
            </a:r>
            <a:r>
              <a:rPr lang="fr-FR" dirty="0"/>
              <a:t> </a:t>
            </a:r>
            <a:r>
              <a:rPr lang="fr-FR" dirty="0" err="1"/>
              <a:t>will</a:t>
            </a:r>
            <a:r>
              <a:rPr lang="fr-FR" dirty="0"/>
              <a:t> </a:t>
            </a:r>
            <a:r>
              <a:rPr lang="fr-FR" dirty="0" err="1"/>
              <a:t>increase</a:t>
            </a:r>
            <a:r>
              <a:rPr lang="fr-FR" dirty="0"/>
              <a:t> the </a:t>
            </a:r>
            <a:r>
              <a:rPr lang="fr-FR" dirty="0" err="1"/>
              <a:t>absolute</a:t>
            </a:r>
            <a:r>
              <a:rPr lang="fr-FR" dirty="0"/>
              <a:t> </a:t>
            </a:r>
            <a:r>
              <a:rPr lang="fr-FR" dirty="0" err="1"/>
              <a:t>deviations</a:t>
            </a:r>
            <a:r>
              <a:rPr lang="fr-FR" dirty="0"/>
              <a:t> </a:t>
            </a:r>
            <a:r>
              <a:rPr lang="fr-FR" dirty="0" err="1"/>
              <a:t>from</a:t>
            </a:r>
            <a:r>
              <a:rPr lang="fr-FR" dirty="0"/>
              <a:t> </a:t>
            </a:r>
            <a:r>
              <a:rPr lang="fr-FR" dirty="0" err="1"/>
              <a:t>expected</a:t>
            </a:r>
            <a:r>
              <a:rPr lang="fr-FR" dirty="0"/>
              <a:t> value and </a:t>
            </a:r>
            <a:r>
              <a:rPr lang="fr-FR" dirty="0" err="1"/>
              <a:t>increase</a:t>
            </a:r>
            <a:r>
              <a:rPr lang="fr-FR" dirty="0"/>
              <a:t> the patterns </a:t>
            </a:r>
            <a:r>
              <a:rPr lang="fr-FR" dirty="0" err="1"/>
              <a:t>predicted</a:t>
            </a:r>
            <a:r>
              <a:rPr lang="fr-FR" dirty="0"/>
              <a:t> in </a:t>
            </a:r>
            <a:r>
              <a:rPr lang="fr-FR" dirty="0" err="1"/>
              <a:t>hypothesis</a:t>
            </a:r>
            <a:r>
              <a:rPr lang="fr-FR" dirty="0"/>
              <a:t> 1</a:t>
            </a:r>
          </a:p>
          <a:p>
            <a:pPr marL="514350" indent="-514350">
              <a:buAutoNum type="arabicParenR"/>
            </a:pPr>
            <a:r>
              <a:rPr lang="fr-FR" dirty="0"/>
              <a:t>The </a:t>
            </a:r>
            <a:r>
              <a:rPr lang="fr-FR" dirty="0" err="1"/>
              <a:t>effects</a:t>
            </a:r>
            <a:r>
              <a:rPr lang="fr-FR" dirty="0"/>
              <a:t> of cognitive </a:t>
            </a:r>
            <a:r>
              <a:rPr lang="fr-FR" dirty="0" err="1"/>
              <a:t>load</a:t>
            </a:r>
            <a:r>
              <a:rPr lang="fr-FR" dirty="0"/>
              <a:t> in the cognitive </a:t>
            </a:r>
            <a:r>
              <a:rPr lang="fr-FR" dirty="0" err="1"/>
              <a:t>load</a:t>
            </a:r>
            <a:r>
              <a:rPr lang="fr-FR" dirty="0"/>
              <a:t> </a:t>
            </a:r>
            <a:r>
              <a:rPr lang="fr-FR" dirty="0" err="1"/>
              <a:t>treatment</a:t>
            </a:r>
            <a:r>
              <a:rPr lang="fr-FR" dirty="0"/>
              <a:t> </a:t>
            </a:r>
            <a:r>
              <a:rPr lang="fr-FR" dirty="0" err="1"/>
              <a:t>will</a:t>
            </a:r>
            <a:r>
              <a:rPr lang="fr-FR" dirty="0"/>
              <a:t> </a:t>
            </a:r>
            <a:r>
              <a:rPr lang="fr-FR" dirty="0" err="1"/>
              <a:t>be</a:t>
            </a:r>
            <a:r>
              <a:rPr lang="fr-FR" dirty="0"/>
              <a:t> </a:t>
            </a:r>
            <a:r>
              <a:rPr lang="fr-FR" dirty="0" err="1"/>
              <a:t>mediated</a:t>
            </a:r>
            <a:r>
              <a:rPr lang="fr-FR" dirty="0"/>
              <a:t> by </a:t>
            </a:r>
            <a:r>
              <a:rPr lang="fr-FR" dirty="0" err="1"/>
              <a:t>sensitivity</a:t>
            </a:r>
            <a:r>
              <a:rPr lang="fr-FR" dirty="0"/>
              <a:t> to cognitive </a:t>
            </a:r>
            <a:r>
              <a:rPr lang="fr-FR" dirty="0" err="1"/>
              <a:t>load</a:t>
            </a:r>
            <a:r>
              <a:rPr lang="fr-FR" dirty="0"/>
              <a:t>. </a:t>
            </a:r>
            <a:r>
              <a:rPr lang="fr-FR" dirty="0" err="1"/>
              <a:t>Sensitivity</a:t>
            </a:r>
            <a:r>
              <a:rPr lang="fr-FR" dirty="0"/>
              <a:t> to cognitive </a:t>
            </a:r>
            <a:r>
              <a:rPr lang="fr-FR" dirty="0" err="1"/>
              <a:t>load</a:t>
            </a:r>
            <a:r>
              <a:rPr lang="fr-FR" dirty="0"/>
              <a:t> </a:t>
            </a:r>
            <a:r>
              <a:rPr lang="fr-FR" dirty="0" err="1"/>
              <a:t>is</a:t>
            </a:r>
            <a:r>
              <a:rPr lang="fr-FR" dirty="0"/>
              <a:t> </a:t>
            </a:r>
            <a:r>
              <a:rPr lang="fr-FR" dirty="0" err="1"/>
              <a:t>measured</a:t>
            </a:r>
            <a:r>
              <a:rPr lang="fr-FR" dirty="0"/>
              <a:t> as the gap in </a:t>
            </a:r>
            <a:r>
              <a:rPr lang="fr-FR" dirty="0" err="1"/>
              <a:t>accuracy</a:t>
            </a:r>
            <a:r>
              <a:rPr lang="fr-FR" dirty="0"/>
              <a:t> </a:t>
            </a:r>
            <a:r>
              <a:rPr lang="fr-FR" dirty="0" err="1"/>
              <a:t>between</a:t>
            </a:r>
            <a:r>
              <a:rPr lang="fr-FR" dirty="0"/>
              <a:t> the source </a:t>
            </a:r>
            <a:r>
              <a:rPr lang="fr-FR" dirty="0" err="1"/>
              <a:t>span</a:t>
            </a:r>
            <a:r>
              <a:rPr lang="fr-FR" dirty="0"/>
              <a:t> </a:t>
            </a:r>
            <a:r>
              <a:rPr lang="fr-FR" dirty="0" err="1"/>
              <a:t>task</a:t>
            </a:r>
            <a:r>
              <a:rPr lang="fr-FR" dirty="0"/>
              <a:t> and the </a:t>
            </a:r>
            <a:r>
              <a:rPr lang="fr-FR" dirty="0" err="1"/>
              <a:t>target</a:t>
            </a:r>
            <a:r>
              <a:rPr lang="fr-FR" dirty="0"/>
              <a:t> </a:t>
            </a:r>
            <a:r>
              <a:rPr lang="fr-FR" dirty="0" err="1"/>
              <a:t>span</a:t>
            </a:r>
            <a:r>
              <a:rPr lang="fr-FR" dirty="0"/>
              <a:t> </a:t>
            </a:r>
            <a:r>
              <a:rPr lang="fr-FR" dirty="0" err="1"/>
              <a:t>task</a:t>
            </a:r>
            <a:r>
              <a:rPr lang="fr-FR" dirty="0"/>
              <a:t> in the second part of the </a:t>
            </a:r>
            <a:r>
              <a:rPr lang="fr-FR" dirty="0" err="1"/>
              <a:t>experiment</a:t>
            </a:r>
            <a:endParaRPr lang="en-FR" dirty="0"/>
          </a:p>
        </p:txBody>
      </p:sp>
    </p:spTree>
    <p:extLst>
      <p:ext uri="{BB962C8B-B14F-4D97-AF65-F5344CB8AC3E}">
        <p14:creationId xmlns:p14="http://schemas.microsoft.com/office/powerpoint/2010/main" val="2524172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236B5-A9E3-5842-0852-1321F3A1D75F}"/>
              </a:ext>
            </a:extLst>
          </p:cNvPr>
          <p:cNvSpPr>
            <a:spLocks noGrp="1"/>
          </p:cNvSpPr>
          <p:nvPr>
            <p:ph type="title"/>
          </p:nvPr>
        </p:nvSpPr>
        <p:spPr/>
        <p:txBody>
          <a:bodyPr/>
          <a:lstStyle/>
          <a:p>
            <a:r>
              <a:rPr lang="en-FR" dirty="0"/>
              <a:t>II Our experiment - Overview</a:t>
            </a:r>
          </a:p>
        </p:txBody>
      </p:sp>
      <p:sp>
        <p:nvSpPr>
          <p:cNvPr id="3" name="Content Placeholder 2">
            <a:extLst>
              <a:ext uri="{FF2B5EF4-FFF2-40B4-BE49-F238E27FC236}">
                <a16:creationId xmlns:a16="http://schemas.microsoft.com/office/drawing/2014/main" id="{92982234-F1D5-B4AC-527D-F9F686913401}"/>
              </a:ext>
            </a:extLst>
          </p:cNvPr>
          <p:cNvSpPr>
            <a:spLocks noGrp="1"/>
          </p:cNvSpPr>
          <p:nvPr>
            <p:ph idx="1"/>
          </p:nvPr>
        </p:nvSpPr>
        <p:spPr>
          <a:xfrm>
            <a:off x="838200" y="1825625"/>
            <a:ext cx="10515600" cy="4667250"/>
          </a:xfrm>
        </p:spPr>
        <p:txBody>
          <a:bodyPr>
            <a:normAutofit fontScale="85000" lnSpcReduction="20000"/>
          </a:bodyPr>
          <a:lstStyle/>
          <a:p>
            <a:r>
              <a:rPr lang="en-FR" dirty="0"/>
              <a:t>Second part of the experiment : cognitive load check and sensitivity measure</a:t>
            </a:r>
          </a:p>
          <a:p>
            <a:pPr lvl="1"/>
            <a:r>
              <a:rPr lang="en-FR" dirty="0"/>
              <a:t>After the first part participants are told that they will play a different game.</a:t>
            </a:r>
          </a:p>
          <a:p>
            <a:pPr lvl="1"/>
            <a:r>
              <a:rPr lang="en-FR" dirty="0"/>
              <a:t>They play two span tasks in a cognitive load paradigm. They first see the “source” span, which induces a memory load. After 5 seconds they see the “target” span, which measures their performance under cognitive load. They must immediately restitute the “target” span afterwards, and then the “source” span. There is no time limit for restitution.</a:t>
            </a:r>
          </a:p>
          <a:p>
            <a:pPr lvl="1"/>
            <a:r>
              <a:rPr lang="en-FR" dirty="0"/>
              <a:t>The source span is in blue and the target span is in red, and the corresponding notepad at the screen matches those colors, so to prevent confusion.</a:t>
            </a:r>
          </a:p>
          <a:p>
            <a:pPr lvl="1"/>
            <a:r>
              <a:rPr lang="en-FR" dirty="0"/>
              <a:t>In the cognitive load treatment, the length of the source span is equal to the maximal span length achieved by the participant at the calibration. In the control treatment, it is composed of 1 digit. For both treatments, the target span is of the maximal length achieved at the calibration.</a:t>
            </a:r>
          </a:p>
          <a:p>
            <a:pPr lvl="1"/>
            <a:r>
              <a:rPr lang="en-FR" dirty="0"/>
              <a:t>Participants are incentivized to restitute both, but the source span incentive is twice higher as the target span incentive, to ensure participants do learn the target span under cognitive load.</a:t>
            </a:r>
          </a:p>
          <a:p>
            <a:pPr lvl="1"/>
            <a:r>
              <a:rPr lang="en-FR" dirty="0"/>
              <a:t>The cognitive load sensitivity variable is the mean accuracy drop between the source and the target span, for each participant.</a:t>
            </a:r>
          </a:p>
        </p:txBody>
      </p:sp>
    </p:spTree>
    <p:extLst>
      <p:ext uri="{BB962C8B-B14F-4D97-AF65-F5344CB8AC3E}">
        <p14:creationId xmlns:p14="http://schemas.microsoft.com/office/powerpoint/2010/main" val="2035026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A3DFF-EC07-A76A-E10F-2EA8EFA0C093}"/>
              </a:ext>
            </a:extLst>
          </p:cNvPr>
          <p:cNvSpPr>
            <a:spLocks noGrp="1"/>
          </p:cNvSpPr>
          <p:nvPr>
            <p:ph type="title"/>
          </p:nvPr>
        </p:nvSpPr>
        <p:spPr/>
        <p:txBody>
          <a:bodyPr/>
          <a:lstStyle/>
          <a:p>
            <a:r>
              <a:rPr lang="en-FR" dirty="0"/>
              <a:t>II Our experiment - Overview</a:t>
            </a:r>
          </a:p>
        </p:txBody>
      </p:sp>
      <p:sp>
        <p:nvSpPr>
          <p:cNvPr id="3" name="Content Placeholder 2">
            <a:extLst>
              <a:ext uri="{FF2B5EF4-FFF2-40B4-BE49-F238E27FC236}">
                <a16:creationId xmlns:a16="http://schemas.microsoft.com/office/drawing/2014/main" id="{1B8C077D-47E2-3F3B-E43A-EC54B2C26B3F}"/>
              </a:ext>
            </a:extLst>
          </p:cNvPr>
          <p:cNvSpPr>
            <a:spLocks noGrp="1"/>
          </p:cNvSpPr>
          <p:nvPr>
            <p:ph idx="1"/>
          </p:nvPr>
        </p:nvSpPr>
        <p:spPr/>
        <p:txBody>
          <a:bodyPr>
            <a:normAutofit/>
          </a:bodyPr>
          <a:lstStyle/>
          <a:p>
            <a:r>
              <a:rPr lang="en-FR" dirty="0"/>
              <a:t>Third part of the experiment: MPLs under cognitive load</a:t>
            </a:r>
          </a:p>
          <a:p>
            <a:pPr lvl="1"/>
            <a:r>
              <a:rPr lang="en-FR" dirty="0"/>
              <a:t>There are two subparts, counterbalanced across subjects: mirrors MPLs first or lotteries MPLs first.</a:t>
            </a:r>
          </a:p>
          <a:p>
            <a:pPr lvl="1"/>
            <a:r>
              <a:rPr lang="en-FR" dirty="0"/>
              <a:t>After the second part, participants see the instructions of the MPLs of their subpart. They must correctly answer the comprehension questions to continue. Comprehension questions are designed to make sure that participants know that in lotteries they can get different outcomes, but only one in mirrors</a:t>
            </a:r>
          </a:p>
          <a:p>
            <a:pPr lvl="1"/>
            <a:r>
              <a:rPr lang="en-FR" dirty="0"/>
              <a:t>The payment rules, probabilities (0.1, 0.25, 0.5, 0.75, 0.9) and lotteries and mirrors payoffs (€25 or €0) are the same as Oprea’s (2024), except that they are in euros. </a:t>
            </a:r>
          </a:p>
          <a:p>
            <a:pPr lvl="1"/>
            <a:endParaRPr lang="en-FR" dirty="0"/>
          </a:p>
        </p:txBody>
      </p:sp>
    </p:spTree>
    <p:extLst>
      <p:ext uri="{BB962C8B-B14F-4D97-AF65-F5344CB8AC3E}">
        <p14:creationId xmlns:p14="http://schemas.microsoft.com/office/powerpoint/2010/main" val="957352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3AA61-808D-3D3F-BA73-0921B7FF4D69}"/>
              </a:ext>
            </a:extLst>
          </p:cNvPr>
          <p:cNvSpPr>
            <a:spLocks noGrp="1"/>
          </p:cNvSpPr>
          <p:nvPr>
            <p:ph type="title"/>
          </p:nvPr>
        </p:nvSpPr>
        <p:spPr/>
        <p:txBody>
          <a:bodyPr/>
          <a:lstStyle/>
          <a:p>
            <a:r>
              <a:rPr lang="en-FR" dirty="0"/>
              <a:t>II Our experiment - Overview</a:t>
            </a:r>
          </a:p>
        </p:txBody>
      </p:sp>
      <p:sp>
        <p:nvSpPr>
          <p:cNvPr id="3" name="Content Placeholder 2">
            <a:extLst>
              <a:ext uri="{FF2B5EF4-FFF2-40B4-BE49-F238E27FC236}">
                <a16:creationId xmlns:a16="http://schemas.microsoft.com/office/drawing/2014/main" id="{E584CC8D-3632-4FBD-FF1B-11334E4DEC32}"/>
              </a:ext>
            </a:extLst>
          </p:cNvPr>
          <p:cNvSpPr>
            <a:spLocks noGrp="1"/>
          </p:cNvSpPr>
          <p:nvPr>
            <p:ph idx="1"/>
          </p:nvPr>
        </p:nvSpPr>
        <p:spPr/>
        <p:txBody>
          <a:bodyPr>
            <a:normAutofit lnSpcReduction="10000"/>
          </a:bodyPr>
          <a:lstStyle/>
          <a:p>
            <a:r>
              <a:rPr lang="en-FR" dirty="0"/>
              <a:t>New grids</a:t>
            </a:r>
          </a:p>
          <a:p>
            <a:pPr lvl="1"/>
            <a:r>
              <a:rPr lang="en-FR" dirty="0"/>
              <a:t>To neutralize the effect of the heuristics previously discussed, we introduce new MPLs grids.</a:t>
            </a:r>
          </a:p>
          <a:p>
            <a:pPr lvl="1"/>
            <a:r>
              <a:rPr lang="en-FR" dirty="0"/>
              <a:t>The goal is to place the expected value maximizing switch point either in the upper part or in the lower part of the grid, so that if the switching point is pulled to the middle or in the middle, it is on average expected value maximizing.</a:t>
            </a:r>
          </a:p>
          <a:p>
            <a:pPr lvl="1"/>
            <a:r>
              <a:rPr lang="en-FR" dirty="0"/>
              <a:t>For each probability (0.1, 0.25, 0.5, 0.75, 0.9), either gains lotteries are in “high” position (50% chance), meaning the EV choice is in the upper part, either they are in “low” position. Losses position are opposed to gains, paired by probabilities.</a:t>
            </a:r>
          </a:p>
          <a:p>
            <a:pPr lvl="1"/>
            <a:r>
              <a:rPr lang="en-FR" dirty="0"/>
              <a:t>For each task, the position is kept constant across status (lotteries or mirrors).</a:t>
            </a:r>
          </a:p>
          <a:p>
            <a:pPr marL="457200" lvl="1" indent="0">
              <a:buNone/>
            </a:pPr>
            <a:endParaRPr lang="en-FR" dirty="0"/>
          </a:p>
        </p:txBody>
      </p:sp>
    </p:spTree>
    <p:extLst>
      <p:ext uri="{BB962C8B-B14F-4D97-AF65-F5344CB8AC3E}">
        <p14:creationId xmlns:p14="http://schemas.microsoft.com/office/powerpoint/2010/main" val="26578304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21C4EA8-6B83-4338-913D-D75D3C4F3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4CE482-255A-1D2A-5648-279ECE3D173D}"/>
              </a:ext>
            </a:extLst>
          </p:cNvPr>
          <p:cNvSpPr>
            <a:spLocks noGrp="1"/>
          </p:cNvSpPr>
          <p:nvPr>
            <p:ph type="title"/>
          </p:nvPr>
        </p:nvSpPr>
        <p:spPr>
          <a:xfrm>
            <a:off x="337497" y="1017509"/>
            <a:ext cx="3124151" cy="1678799"/>
          </a:xfrm>
        </p:spPr>
        <p:txBody>
          <a:bodyPr vert="horz" lIns="91440" tIns="45720" rIns="91440" bIns="45720" rtlCol="0" anchor="b">
            <a:normAutofit fontScale="90000"/>
          </a:bodyPr>
          <a:lstStyle/>
          <a:p>
            <a:r>
              <a:rPr lang="en-US" sz="4600" dirty="0"/>
              <a:t>II Our experiment – MPL</a:t>
            </a:r>
          </a:p>
        </p:txBody>
      </p:sp>
      <p:sp>
        <p:nvSpPr>
          <p:cNvPr id="3" name="Content Placeholder 2">
            <a:extLst>
              <a:ext uri="{FF2B5EF4-FFF2-40B4-BE49-F238E27FC236}">
                <a16:creationId xmlns:a16="http://schemas.microsoft.com/office/drawing/2014/main" id="{5224A04F-97A9-57D6-EF27-F5DEC9A81B1F}"/>
              </a:ext>
            </a:extLst>
          </p:cNvPr>
          <p:cNvSpPr>
            <a:spLocks noGrp="1"/>
          </p:cNvSpPr>
          <p:nvPr>
            <p:ph idx="1"/>
          </p:nvPr>
        </p:nvSpPr>
        <p:spPr>
          <a:xfrm>
            <a:off x="337497" y="3946358"/>
            <a:ext cx="3124151" cy="2028338"/>
          </a:xfrm>
        </p:spPr>
        <p:txBody>
          <a:bodyPr vert="horz" lIns="91440" tIns="45720" rIns="91440" bIns="45720" rtlCol="0">
            <a:normAutofit/>
          </a:bodyPr>
          <a:lstStyle/>
          <a:p>
            <a:pPr marL="0" indent="0">
              <a:buNone/>
            </a:pPr>
            <a:r>
              <a:rPr lang="en-US" sz="1800" dirty="0"/>
              <a:t>Example grids: On average the EV switch is in the middle, between the 9</a:t>
            </a:r>
            <a:r>
              <a:rPr lang="en-US" sz="1800" baseline="30000" dirty="0"/>
              <a:t>th</a:t>
            </a:r>
            <a:r>
              <a:rPr lang="en-US" sz="1800" dirty="0"/>
              <a:t> and 10</a:t>
            </a:r>
            <a:r>
              <a:rPr lang="en-US" sz="1800" baseline="30000" dirty="0"/>
              <a:t>th</a:t>
            </a:r>
            <a:r>
              <a:rPr lang="en-US" sz="1800" dirty="0"/>
              <a:t> choice.</a:t>
            </a:r>
          </a:p>
        </p:txBody>
      </p:sp>
      <p:grpSp>
        <p:nvGrpSpPr>
          <p:cNvPr id="14" name="Group 13">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15" name="Straight Connector 14">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1084" y="679731"/>
            <a:ext cx="7682293" cy="56628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A table with numbers and a number in it&#10;&#10;AI-generated content may be incorrect.">
            <a:extLst>
              <a:ext uri="{FF2B5EF4-FFF2-40B4-BE49-F238E27FC236}">
                <a16:creationId xmlns:a16="http://schemas.microsoft.com/office/drawing/2014/main" id="{E6311500-E05F-BCC5-8415-2AB21309EE8A}"/>
              </a:ext>
            </a:extLst>
          </p:cNvPr>
          <p:cNvPicPr>
            <a:picLocks noChangeAspect="1"/>
          </p:cNvPicPr>
          <p:nvPr/>
        </p:nvPicPr>
        <p:blipFill>
          <a:blip r:embed="rId3"/>
          <a:stretch>
            <a:fillRect/>
          </a:stretch>
        </p:blipFill>
        <p:spPr>
          <a:xfrm>
            <a:off x="3893903" y="1404650"/>
            <a:ext cx="3714694" cy="4048064"/>
          </a:xfrm>
          <a:prstGeom prst="rect">
            <a:avLst/>
          </a:prstGeom>
        </p:spPr>
      </p:pic>
      <p:pic>
        <p:nvPicPr>
          <p:cNvPr id="20" name="Picture 19" descr="A table with numbers and numbers&#10;&#10;AI-generated content may be incorrect.">
            <a:extLst>
              <a:ext uri="{FF2B5EF4-FFF2-40B4-BE49-F238E27FC236}">
                <a16:creationId xmlns:a16="http://schemas.microsoft.com/office/drawing/2014/main" id="{6C7CFCCF-EAA4-5D4D-0053-28AC4DF70C10}"/>
              </a:ext>
            </a:extLst>
          </p:cNvPr>
          <p:cNvPicPr>
            <a:picLocks noChangeAspect="1"/>
          </p:cNvPicPr>
          <p:nvPr/>
        </p:nvPicPr>
        <p:blipFill>
          <a:blip r:embed="rId4"/>
          <a:stretch>
            <a:fillRect/>
          </a:stretch>
        </p:blipFill>
        <p:spPr>
          <a:xfrm>
            <a:off x="7714987" y="1404650"/>
            <a:ext cx="3714694" cy="4048063"/>
          </a:xfrm>
          <a:prstGeom prst="rect">
            <a:avLst/>
          </a:prstGeom>
        </p:spPr>
      </p:pic>
      <p:sp>
        <p:nvSpPr>
          <p:cNvPr id="4" name="Rectangle 3">
            <a:extLst>
              <a:ext uri="{FF2B5EF4-FFF2-40B4-BE49-F238E27FC236}">
                <a16:creationId xmlns:a16="http://schemas.microsoft.com/office/drawing/2014/main" id="{BD5EEF05-7618-212C-AD22-FBDA1540F9B7}"/>
              </a:ext>
            </a:extLst>
          </p:cNvPr>
          <p:cNvSpPr/>
          <p:nvPr/>
        </p:nvSpPr>
        <p:spPr>
          <a:xfrm>
            <a:off x="229733" y="5974696"/>
            <a:ext cx="8134091" cy="646331"/>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fr-FR" sz="2200" dirty="0">
                <a:solidFill>
                  <a:schemeClr val="tx1"/>
                </a:solidFill>
                <a:sym typeface="Wingdings" panose="05000000000000000000" pitchFamily="2" charset="2"/>
              </a:rPr>
              <a:t></a:t>
            </a:r>
            <a:r>
              <a:rPr lang="fr-FR" sz="2200" dirty="0" err="1">
                <a:solidFill>
                  <a:schemeClr val="tx1"/>
                </a:solidFill>
                <a:sym typeface="Wingdings" panose="05000000000000000000" pitchFamily="2" charset="2"/>
              </a:rPr>
              <a:t>Random</a:t>
            </a:r>
            <a:r>
              <a:rPr lang="fr-FR" sz="2200" dirty="0">
                <a:solidFill>
                  <a:schemeClr val="tx1"/>
                </a:solidFill>
                <a:sym typeface="Wingdings" panose="05000000000000000000" pitchFamily="2" charset="2"/>
              </a:rPr>
              <a:t> </a:t>
            </a:r>
            <a:r>
              <a:rPr lang="fr-FR" sz="2200" dirty="0" err="1">
                <a:solidFill>
                  <a:schemeClr val="tx1"/>
                </a:solidFill>
                <a:sym typeface="Wingdings" panose="05000000000000000000" pitchFamily="2" charset="2"/>
              </a:rPr>
              <a:t>answers</a:t>
            </a:r>
            <a:r>
              <a:rPr lang="fr-FR" sz="2200" dirty="0">
                <a:solidFill>
                  <a:schemeClr val="tx1"/>
                </a:solidFill>
                <a:sym typeface="Wingdings" panose="05000000000000000000" pitchFamily="2" charset="2"/>
              </a:rPr>
              <a:t> do not </a:t>
            </a:r>
            <a:r>
              <a:rPr lang="fr-FR" sz="2200" dirty="0" err="1">
                <a:solidFill>
                  <a:schemeClr val="tx1"/>
                </a:solidFill>
                <a:sym typeface="Wingdings" panose="05000000000000000000" pitchFamily="2" charset="2"/>
              </a:rPr>
              <a:t>create</a:t>
            </a:r>
            <a:r>
              <a:rPr lang="fr-FR" sz="2200" dirty="0">
                <a:solidFill>
                  <a:schemeClr val="tx1"/>
                </a:solidFill>
                <a:sym typeface="Wingdings" panose="05000000000000000000" pitchFamily="2" charset="2"/>
              </a:rPr>
              <a:t> </a:t>
            </a:r>
            <a:r>
              <a:rPr lang="fr-FR" sz="2200" dirty="0" err="1">
                <a:solidFill>
                  <a:schemeClr val="tx1"/>
                </a:solidFill>
                <a:sym typeface="Wingdings" panose="05000000000000000000" pitchFamily="2" charset="2"/>
              </a:rPr>
              <a:t>mean</a:t>
            </a:r>
            <a:r>
              <a:rPr lang="fr-FR" sz="2200" dirty="0">
                <a:solidFill>
                  <a:schemeClr val="tx1"/>
                </a:solidFill>
                <a:sym typeface="Wingdings" panose="05000000000000000000" pitchFamily="2" charset="2"/>
              </a:rPr>
              <a:t> </a:t>
            </a:r>
            <a:r>
              <a:rPr lang="fr-FR" sz="2200" dirty="0" err="1">
                <a:solidFill>
                  <a:schemeClr val="tx1"/>
                </a:solidFill>
                <a:sym typeface="Wingdings" panose="05000000000000000000" pitchFamily="2" charset="2"/>
              </a:rPr>
              <a:t>departure</a:t>
            </a:r>
            <a:r>
              <a:rPr lang="fr-FR" sz="2200" dirty="0">
                <a:solidFill>
                  <a:schemeClr val="tx1"/>
                </a:solidFill>
                <a:sym typeface="Wingdings" panose="05000000000000000000" pitchFamily="2" charset="2"/>
              </a:rPr>
              <a:t> </a:t>
            </a:r>
            <a:r>
              <a:rPr lang="fr-FR" sz="2200" dirty="0" err="1">
                <a:solidFill>
                  <a:schemeClr val="tx1"/>
                </a:solidFill>
                <a:sym typeface="Wingdings" panose="05000000000000000000" pitchFamily="2" charset="2"/>
              </a:rPr>
              <a:t>from</a:t>
            </a:r>
            <a:r>
              <a:rPr lang="fr-FR" sz="2200" dirty="0">
                <a:solidFill>
                  <a:schemeClr val="tx1"/>
                </a:solidFill>
                <a:sym typeface="Wingdings" panose="05000000000000000000" pitchFamily="2" charset="2"/>
              </a:rPr>
              <a:t> EV</a:t>
            </a:r>
          </a:p>
        </p:txBody>
      </p:sp>
    </p:spTree>
    <p:extLst>
      <p:ext uri="{BB962C8B-B14F-4D97-AF65-F5344CB8AC3E}">
        <p14:creationId xmlns:p14="http://schemas.microsoft.com/office/powerpoint/2010/main" val="2754873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80BA5-A300-375A-8CCF-2E07E9930331}"/>
              </a:ext>
            </a:extLst>
          </p:cNvPr>
          <p:cNvSpPr>
            <a:spLocks noGrp="1"/>
          </p:cNvSpPr>
          <p:nvPr>
            <p:ph type="title"/>
          </p:nvPr>
        </p:nvSpPr>
        <p:spPr>
          <a:xfrm>
            <a:off x="838200" y="365125"/>
            <a:ext cx="6100643" cy="1325563"/>
          </a:xfrm>
        </p:spPr>
        <p:txBody>
          <a:bodyPr/>
          <a:lstStyle/>
          <a:p>
            <a:r>
              <a:rPr lang="en-FR" dirty="0"/>
              <a:t>II Our experiment - Overview</a:t>
            </a:r>
          </a:p>
        </p:txBody>
      </p:sp>
      <p:sp>
        <p:nvSpPr>
          <p:cNvPr id="6" name="TextBox 5">
            <a:extLst>
              <a:ext uri="{FF2B5EF4-FFF2-40B4-BE49-F238E27FC236}">
                <a16:creationId xmlns:a16="http://schemas.microsoft.com/office/drawing/2014/main" id="{761D9E43-FC6D-CA28-99F3-32ED46E87163}"/>
              </a:ext>
            </a:extLst>
          </p:cNvPr>
          <p:cNvSpPr txBox="1"/>
          <p:nvPr/>
        </p:nvSpPr>
        <p:spPr>
          <a:xfrm>
            <a:off x="872450" y="3840170"/>
            <a:ext cx="3672904" cy="923330"/>
          </a:xfrm>
          <a:prstGeom prst="rect">
            <a:avLst/>
          </a:prstGeom>
          <a:noFill/>
        </p:spPr>
        <p:txBody>
          <a:bodyPr wrap="square" rtlCol="0">
            <a:spAutoFit/>
          </a:bodyPr>
          <a:lstStyle/>
          <a:p>
            <a:r>
              <a:rPr lang="en-FR" dirty="0"/>
              <a:t>EV maximizing choices for all “low” position tasks are in between the colored cells</a:t>
            </a:r>
          </a:p>
        </p:txBody>
      </p:sp>
      <p:pic>
        <p:nvPicPr>
          <p:cNvPr id="10" name="Content Placeholder 9" descr="A table with numbers and numbers&#10;&#10;AI-generated content may be incorrect.">
            <a:extLst>
              <a:ext uri="{FF2B5EF4-FFF2-40B4-BE49-F238E27FC236}">
                <a16:creationId xmlns:a16="http://schemas.microsoft.com/office/drawing/2014/main" id="{3DE705F3-418A-6445-8F90-FF1178EEC182}"/>
              </a:ext>
            </a:extLst>
          </p:cNvPr>
          <p:cNvPicPr>
            <a:picLocks noGrp="1" noChangeAspect="1"/>
          </p:cNvPicPr>
          <p:nvPr>
            <p:ph idx="1"/>
          </p:nvPr>
        </p:nvPicPr>
        <p:blipFill>
          <a:blip r:embed="rId3"/>
          <a:stretch>
            <a:fillRect/>
          </a:stretch>
        </p:blipFill>
        <p:spPr>
          <a:xfrm>
            <a:off x="5970974" y="276156"/>
            <a:ext cx="5232720" cy="5673231"/>
          </a:xfrm>
        </p:spPr>
      </p:pic>
      <p:sp>
        <p:nvSpPr>
          <p:cNvPr id="3" name="Rectangle 2">
            <a:extLst>
              <a:ext uri="{FF2B5EF4-FFF2-40B4-BE49-F238E27FC236}">
                <a16:creationId xmlns:a16="http://schemas.microsoft.com/office/drawing/2014/main" id="{A963D92C-D9AD-804D-9B7F-30D239D5527E}"/>
              </a:ext>
            </a:extLst>
          </p:cNvPr>
          <p:cNvSpPr/>
          <p:nvPr/>
        </p:nvSpPr>
        <p:spPr>
          <a:xfrm>
            <a:off x="229734" y="6112129"/>
            <a:ext cx="7379081" cy="646331"/>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fr-FR" sz="2200" dirty="0">
                <a:solidFill>
                  <a:schemeClr val="tx1"/>
                </a:solidFill>
                <a:sym typeface="Wingdings" panose="05000000000000000000" pitchFamily="2" charset="2"/>
              </a:rPr>
              <a:t>No </a:t>
            </a:r>
            <a:r>
              <a:rPr lang="fr-FR" sz="2200" dirty="0" err="1">
                <a:solidFill>
                  <a:schemeClr val="tx1"/>
                </a:solidFill>
                <a:sym typeface="Wingdings" panose="05000000000000000000" pitchFamily="2" charset="2"/>
              </a:rPr>
              <a:t>heuristic</a:t>
            </a:r>
            <a:r>
              <a:rPr lang="fr-FR" sz="2200" dirty="0">
                <a:solidFill>
                  <a:schemeClr val="tx1"/>
                </a:solidFill>
                <a:sym typeface="Wingdings" panose="05000000000000000000" pitchFamily="2" charset="2"/>
              </a:rPr>
              <a:t> to switch at a </a:t>
            </a:r>
            <a:r>
              <a:rPr lang="fr-FR" sz="2200" dirty="0" err="1">
                <a:solidFill>
                  <a:schemeClr val="tx1"/>
                </a:solidFill>
                <a:sym typeface="Wingdings" panose="05000000000000000000" pitchFamily="2" charset="2"/>
              </a:rPr>
              <a:t>special</a:t>
            </a:r>
            <a:r>
              <a:rPr lang="fr-FR" sz="2200" dirty="0">
                <a:solidFill>
                  <a:schemeClr val="tx1"/>
                </a:solidFill>
                <a:sym typeface="Wingdings" panose="05000000000000000000" pitchFamily="2" charset="2"/>
              </a:rPr>
              <a:t> point</a:t>
            </a:r>
          </a:p>
        </p:txBody>
      </p:sp>
      <p:cxnSp>
        <p:nvCxnSpPr>
          <p:cNvPr id="19" name="Straight Arrow Connector 18">
            <a:extLst>
              <a:ext uri="{FF2B5EF4-FFF2-40B4-BE49-F238E27FC236}">
                <a16:creationId xmlns:a16="http://schemas.microsoft.com/office/drawing/2014/main" id="{1668C121-E7AA-60CC-4EB5-0748E1CFD8AB}"/>
              </a:ext>
            </a:extLst>
          </p:cNvPr>
          <p:cNvCxnSpPr>
            <a:cxnSpLocks/>
          </p:cNvCxnSpPr>
          <p:nvPr/>
        </p:nvCxnSpPr>
        <p:spPr>
          <a:xfrm>
            <a:off x="4545354" y="4301835"/>
            <a:ext cx="1347561"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21829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051A7-95AE-0DC4-44E7-A7D85EE7B466}"/>
              </a:ext>
            </a:extLst>
          </p:cNvPr>
          <p:cNvSpPr>
            <a:spLocks noGrp="1"/>
          </p:cNvSpPr>
          <p:nvPr>
            <p:ph type="title"/>
          </p:nvPr>
        </p:nvSpPr>
        <p:spPr>
          <a:xfrm>
            <a:off x="838200" y="365125"/>
            <a:ext cx="4954293" cy="1325563"/>
          </a:xfrm>
        </p:spPr>
        <p:txBody>
          <a:bodyPr/>
          <a:lstStyle/>
          <a:p>
            <a:r>
              <a:rPr lang="en-FR" dirty="0"/>
              <a:t>II Our experiment - Simulations</a:t>
            </a:r>
          </a:p>
        </p:txBody>
      </p:sp>
      <p:pic>
        <p:nvPicPr>
          <p:cNvPr id="11" name="Picture 10">
            <a:extLst>
              <a:ext uri="{FF2B5EF4-FFF2-40B4-BE49-F238E27FC236}">
                <a16:creationId xmlns:a16="http://schemas.microsoft.com/office/drawing/2014/main" id="{9818103E-3141-B069-8032-132BB02017CD}"/>
              </a:ext>
            </a:extLst>
          </p:cNvPr>
          <p:cNvPicPr>
            <a:picLocks noChangeAspect="1"/>
          </p:cNvPicPr>
          <p:nvPr/>
        </p:nvPicPr>
        <p:blipFill>
          <a:blip r:embed="rId3"/>
          <a:stretch>
            <a:fillRect/>
          </a:stretch>
        </p:blipFill>
        <p:spPr>
          <a:xfrm>
            <a:off x="6399508" y="545245"/>
            <a:ext cx="5626588" cy="6312755"/>
          </a:xfrm>
          <a:prstGeom prst="rect">
            <a:avLst/>
          </a:prstGeom>
        </p:spPr>
      </p:pic>
      <p:sp>
        <p:nvSpPr>
          <p:cNvPr id="4" name="Content Placeholder 3">
            <a:extLst>
              <a:ext uri="{FF2B5EF4-FFF2-40B4-BE49-F238E27FC236}">
                <a16:creationId xmlns:a16="http://schemas.microsoft.com/office/drawing/2014/main" id="{1D55F82D-DEB7-73BA-72C1-18053F9FA039}"/>
              </a:ext>
            </a:extLst>
          </p:cNvPr>
          <p:cNvSpPr>
            <a:spLocks noGrp="1"/>
          </p:cNvSpPr>
          <p:nvPr>
            <p:ph idx="1"/>
          </p:nvPr>
        </p:nvSpPr>
        <p:spPr>
          <a:xfrm>
            <a:off x="838200" y="1825625"/>
            <a:ext cx="4659775" cy="4351338"/>
          </a:xfrm>
        </p:spPr>
        <p:txBody>
          <a:bodyPr/>
          <a:lstStyle/>
          <a:p>
            <a:pPr marL="0" indent="0">
              <a:buNone/>
            </a:pPr>
            <a:r>
              <a:rPr lang="en-FR" dirty="0"/>
              <a:t>Range of possible mean deviation per task</a:t>
            </a:r>
          </a:p>
          <a:p>
            <a:endParaRPr lang="en-FR" dirty="0"/>
          </a:p>
        </p:txBody>
      </p:sp>
    </p:spTree>
    <p:extLst>
      <p:ext uri="{BB962C8B-B14F-4D97-AF65-F5344CB8AC3E}">
        <p14:creationId xmlns:p14="http://schemas.microsoft.com/office/powerpoint/2010/main" val="27385100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66ABF-89B0-C6C2-4AB8-87B362F89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8FC2B0-D21B-9F06-5FAD-07B89F9554FD}"/>
              </a:ext>
            </a:extLst>
          </p:cNvPr>
          <p:cNvSpPr>
            <a:spLocks noGrp="1"/>
          </p:cNvSpPr>
          <p:nvPr>
            <p:ph type="title"/>
          </p:nvPr>
        </p:nvSpPr>
        <p:spPr>
          <a:xfrm>
            <a:off x="838200" y="365125"/>
            <a:ext cx="4954293" cy="1325563"/>
          </a:xfrm>
        </p:spPr>
        <p:txBody>
          <a:bodyPr/>
          <a:lstStyle/>
          <a:p>
            <a:r>
              <a:rPr lang="en-FR" dirty="0"/>
              <a:t>II Our experiment - Simulations</a:t>
            </a:r>
          </a:p>
        </p:txBody>
      </p:sp>
      <p:pic>
        <p:nvPicPr>
          <p:cNvPr id="3" name="Picture 2">
            <a:extLst>
              <a:ext uri="{FF2B5EF4-FFF2-40B4-BE49-F238E27FC236}">
                <a16:creationId xmlns:a16="http://schemas.microsoft.com/office/drawing/2014/main" id="{C5DE8014-471D-E03A-CB03-CA5A1B69F868}"/>
              </a:ext>
            </a:extLst>
          </p:cNvPr>
          <p:cNvPicPr>
            <a:picLocks noChangeAspect="1"/>
          </p:cNvPicPr>
          <p:nvPr/>
        </p:nvPicPr>
        <p:blipFill>
          <a:blip r:embed="rId3"/>
          <a:stretch>
            <a:fillRect/>
          </a:stretch>
        </p:blipFill>
        <p:spPr>
          <a:xfrm>
            <a:off x="6795083" y="802920"/>
            <a:ext cx="5396917" cy="6055080"/>
          </a:xfrm>
          <a:prstGeom prst="rect">
            <a:avLst/>
          </a:prstGeom>
        </p:spPr>
      </p:pic>
      <p:sp>
        <p:nvSpPr>
          <p:cNvPr id="5" name="Rectangle 4">
            <a:extLst>
              <a:ext uri="{FF2B5EF4-FFF2-40B4-BE49-F238E27FC236}">
                <a16:creationId xmlns:a16="http://schemas.microsoft.com/office/drawing/2014/main" id="{C038B7BD-5402-401F-E250-1179E5C20E00}"/>
              </a:ext>
            </a:extLst>
          </p:cNvPr>
          <p:cNvSpPr/>
          <p:nvPr/>
        </p:nvSpPr>
        <p:spPr>
          <a:xfrm>
            <a:off x="372347" y="2605531"/>
            <a:ext cx="6305290" cy="724898"/>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fr-FR" sz="2200" dirty="0">
                <a:solidFill>
                  <a:schemeClr val="tx1"/>
                </a:solidFill>
                <a:sym typeface="Wingdings" panose="05000000000000000000" pitchFamily="2" charset="2"/>
              </a:rPr>
              <a:t>Pull-to-the-middle </a:t>
            </a:r>
            <a:r>
              <a:rPr lang="fr-FR" sz="2200" dirty="0" err="1">
                <a:solidFill>
                  <a:schemeClr val="tx1"/>
                </a:solidFill>
                <a:sym typeface="Wingdings" panose="05000000000000000000" pitchFamily="2" charset="2"/>
              </a:rPr>
              <a:t>heuristic</a:t>
            </a:r>
            <a:r>
              <a:rPr lang="fr-FR" sz="2200" dirty="0">
                <a:solidFill>
                  <a:schemeClr val="tx1"/>
                </a:solidFill>
                <a:sym typeface="Wingdings" panose="05000000000000000000" pitchFamily="2" charset="2"/>
              </a:rPr>
              <a:t> </a:t>
            </a:r>
            <a:r>
              <a:rPr lang="fr-FR" sz="2200" dirty="0" err="1">
                <a:solidFill>
                  <a:schemeClr val="tx1"/>
                </a:solidFill>
                <a:sym typeface="Wingdings" panose="05000000000000000000" pitchFamily="2" charset="2"/>
              </a:rPr>
              <a:t>does</a:t>
            </a:r>
            <a:r>
              <a:rPr lang="fr-FR" sz="2200" dirty="0">
                <a:solidFill>
                  <a:schemeClr val="tx1"/>
                </a:solidFill>
                <a:sym typeface="Wingdings" panose="05000000000000000000" pitchFamily="2" charset="2"/>
              </a:rPr>
              <a:t> not </a:t>
            </a:r>
            <a:r>
              <a:rPr lang="fr-FR" sz="2200" dirty="0" err="1">
                <a:solidFill>
                  <a:schemeClr val="tx1"/>
                </a:solidFill>
                <a:sym typeface="Wingdings" panose="05000000000000000000" pitchFamily="2" charset="2"/>
              </a:rPr>
              <a:t>produce</a:t>
            </a:r>
            <a:r>
              <a:rPr lang="fr-FR" sz="2200" dirty="0">
                <a:solidFill>
                  <a:schemeClr val="tx1"/>
                </a:solidFill>
                <a:sym typeface="Wingdings" panose="05000000000000000000" pitchFamily="2" charset="2"/>
              </a:rPr>
              <a:t> </a:t>
            </a:r>
            <a:r>
              <a:rPr lang="fr-FR" sz="2200" dirty="0" err="1">
                <a:solidFill>
                  <a:schemeClr val="tx1"/>
                </a:solidFill>
                <a:sym typeface="Wingdings" panose="05000000000000000000" pitchFamily="2" charset="2"/>
              </a:rPr>
              <a:t>deviations</a:t>
            </a:r>
            <a:r>
              <a:rPr lang="fr-FR" sz="2200" dirty="0">
                <a:solidFill>
                  <a:schemeClr val="tx1"/>
                </a:solidFill>
                <a:sym typeface="Wingdings" panose="05000000000000000000" pitchFamily="2" charset="2"/>
              </a:rPr>
              <a:t> at the </a:t>
            </a:r>
            <a:r>
              <a:rPr lang="fr-FR" sz="2200" dirty="0" err="1">
                <a:solidFill>
                  <a:schemeClr val="tx1"/>
                </a:solidFill>
                <a:sym typeface="Wingdings" panose="05000000000000000000" pitchFamily="2" charset="2"/>
              </a:rPr>
              <a:t>mean</a:t>
            </a:r>
            <a:r>
              <a:rPr lang="fr-FR" sz="2200" dirty="0">
                <a:solidFill>
                  <a:schemeClr val="tx1"/>
                </a:solidFill>
                <a:sym typeface="Wingdings" panose="05000000000000000000" pitchFamily="2" charset="2"/>
              </a:rPr>
              <a:t> </a:t>
            </a:r>
            <a:r>
              <a:rPr lang="fr-FR" sz="2200" dirty="0" err="1">
                <a:solidFill>
                  <a:schemeClr val="tx1"/>
                </a:solidFill>
                <a:sym typeface="Wingdings" panose="05000000000000000000" pitchFamily="2" charset="2"/>
              </a:rPr>
              <a:t>level</a:t>
            </a:r>
            <a:endParaRPr lang="fr-FR" sz="2200" dirty="0">
              <a:solidFill>
                <a:schemeClr val="tx1"/>
              </a:solidFill>
              <a:sym typeface="Wingdings" panose="05000000000000000000" pitchFamily="2" charset="2"/>
            </a:endParaRPr>
          </a:p>
        </p:txBody>
      </p:sp>
    </p:spTree>
    <p:extLst>
      <p:ext uri="{BB962C8B-B14F-4D97-AF65-F5344CB8AC3E}">
        <p14:creationId xmlns:p14="http://schemas.microsoft.com/office/powerpoint/2010/main" val="12033763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50EA5-631C-B664-D09B-965A96860D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B41FF6-EE9E-A11A-45FA-2DC1244E0B7E}"/>
              </a:ext>
            </a:extLst>
          </p:cNvPr>
          <p:cNvSpPr>
            <a:spLocks noGrp="1"/>
          </p:cNvSpPr>
          <p:nvPr>
            <p:ph type="title"/>
          </p:nvPr>
        </p:nvSpPr>
        <p:spPr>
          <a:xfrm>
            <a:off x="838200" y="365125"/>
            <a:ext cx="5688435" cy="1325563"/>
          </a:xfrm>
        </p:spPr>
        <p:txBody>
          <a:bodyPr/>
          <a:lstStyle/>
          <a:p>
            <a:r>
              <a:rPr lang="en-FR" dirty="0"/>
              <a:t>II Our experiment - Simulations</a:t>
            </a:r>
          </a:p>
        </p:txBody>
      </p:sp>
      <p:pic>
        <p:nvPicPr>
          <p:cNvPr id="5" name="Content Placeholder 4">
            <a:extLst>
              <a:ext uri="{FF2B5EF4-FFF2-40B4-BE49-F238E27FC236}">
                <a16:creationId xmlns:a16="http://schemas.microsoft.com/office/drawing/2014/main" id="{6D0739B0-DC07-5A58-D98C-064E4CDEDD52}"/>
              </a:ext>
            </a:extLst>
          </p:cNvPr>
          <p:cNvPicPr>
            <a:picLocks noGrp="1" noChangeAspect="1"/>
          </p:cNvPicPr>
          <p:nvPr>
            <p:ph idx="1"/>
          </p:nvPr>
        </p:nvPicPr>
        <p:blipFill>
          <a:blip r:embed="rId3"/>
          <a:stretch>
            <a:fillRect/>
          </a:stretch>
        </p:blipFill>
        <p:spPr>
          <a:xfrm>
            <a:off x="6786695" y="793509"/>
            <a:ext cx="5405306" cy="6064491"/>
          </a:xfrm>
        </p:spPr>
      </p:pic>
      <p:sp>
        <p:nvSpPr>
          <p:cNvPr id="7" name="Rectangle 6">
            <a:extLst>
              <a:ext uri="{FF2B5EF4-FFF2-40B4-BE49-F238E27FC236}">
                <a16:creationId xmlns:a16="http://schemas.microsoft.com/office/drawing/2014/main" id="{2808E325-24CD-427B-C9A8-03F2D9533788}"/>
              </a:ext>
            </a:extLst>
          </p:cNvPr>
          <p:cNvSpPr/>
          <p:nvPr/>
        </p:nvSpPr>
        <p:spPr>
          <a:xfrm>
            <a:off x="372347" y="2605531"/>
            <a:ext cx="6305290" cy="724898"/>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fr-FR" sz="2200" dirty="0">
                <a:solidFill>
                  <a:schemeClr val="tx1"/>
                </a:solidFill>
                <a:sym typeface="Wingdings" panose="05000000000000000000" pitchFamily="2" charset="2"/>
              </a:rPr>
              <a:t></a:t>
            </a:r>
            <a:r>
              <a:rPr lang="fr-FR" sz="2200" dirty="0" err="1">
                <a:solidFill>
                  <a:schemeClr val="tx1"/>
                </a:solidFill>
                <a:sym typeface="Wingdings" panose="05000000000000000000" pitchFamily="2" charset="2"/>
              </a:rPr>
              <a:t>Random</a:t>
            </a:r>
            <a:r>
              <a:rPr lang="fr-FR" sz="2200" dirty="0">
                <a:solidFill>
                  <a:schemeClr val="tx1"/>
                </a:solidFill>
                <a:sym typeface="Wingdings" panose="05000000000000000000" pitchFamily="2" charset="2"/>
              </a:rPr>
              <a:t> </a:t>
            </a:r>
            <a:r>
              <a:rPr lang="fr-FR" sz="2200" dirty="0" err="1">
                <a:solidFill>
                  <a:schemeClr val="tx1"/>
                </a:solidFill>
                <a:sym typeface="Wingdings" panose="05000000000000000000" pitchFamily="2" charset="2"/>
              </a:rPr>
              <a:t>choices</a:t>
            </a:r>
            <a:r>
              <a:rPr lang="fr-FR" sz="2200" dirty="0">
                <a:solidFill>
                  <a:schemeClr val="tx1"/>
                </a:solidFill>
                <a:sym typeface="Wingdings" panose="05000000000000000000" pitchFamily="2" charset="2"/>
              </a:rPr>
              <a:t> do not </a:t>
            </a:r>
            <a:r>
              <a:rPr lang="fr-FR" sz="2200" dirty="0" err="1">
                <a:solidFill>
                  <a:schemeClr val="tx1"/>
                </a:solidFill>
                <a:sym typeface="Wingdings" panose="05000000000000000000" pitchFamily="2" charset="2"/>
              </a:rPr>
              <a:t>produce</a:t>
            </a:r>
            <a:r>
              <a:rPr lang="fr-FR" sz="2200" dirty="0">
                <a:solidFill>
                  <a:schemeClr val="tx1"/>
                </a:solidFill>
                <a:sym typeface="Wingdings" panose="05000000000000000000" pitchFamily="2" charset="2"/>
              </a:rPr>
              <a:t> </a:t>
            </a:r>
            <a:r>
              <a:rPr lang="fr-FR" sz="2200" dirty="0" err="1">
                <a:solidFill>
                  <a:schemeClr val="tx1"/>
                </a:solidFill>
                <a:sym typeface="Wingdings" panose="05000000000000000000" pitchFamily="2" charset="2"/>
              </a:rPr>
              <a:t>deviations</a:t>
            </a:r>
            <a:r>
              <a:rPr lang="fr-FR" sz="2200" dirty="0">
                <a:solidFill>
                  <a:schemeClr val="tx1"/>
                </a:solidFill>
                <a:sym typeface="Wingdings" panose="05000000000000000000" pitchFamily="2" charset="2"/>
              </a:rPr>
              <a:t> at the </a:t>
            </a:r>
            <a:r>
              <a:rPr lang="fr-FR" sz="2200" dirty="0" err="1">
                <a:solidFill>
                  <a:schemeClr val="tx1"/>
                </a:solidFill>
                <a:sym typeface="Wingdings" panose="05000000000000000000" pitchFamily="2" charset="2"/>
              </a:rPr>
              <a:t>mean</a:t>
            </a:r>
            <a:r>
              <a:rPr lang="fr-FR" sz="2200" dirty="0">
                <a:solidFill>
                  <a:schemeClr val="tx1"/>
                </a:solidFill>
                <a:sym typeface="Wingdings" panose="05000000000000000000" pitchFamily="2" charset="2"/>
              </a:rPr>
              <a:t> </a:t>
            </a:r>
            <a:r>
              <a:rPr lang="fr-FR" sz="2200" dirty="0" err="1">
                <a:solidFill>
                  <a:schemeClr val="tx1"/>
                </a:solidFill>
                <a:sym typeface="Wingdings" panose="05000000000000000000" pitchFamily="2" charset="2"/>
              </a:rPr>
              <a:t>level</a:t>
            </a:r>
            <a:endParaRPr lang="fr-FR" sz="2200" dirty="0">
              <a:solidFill>
                <a:schemeClr val="tx1"/>
              </a:solidFill>
              <a:sym typeface="Wingdings" panose="05000000000000000000" pitchFamily="2" charset="2"/>
            </a:endParaRPr>
          </a:p>
        </p:txBody>
      </p:sp>
    </p:spTree>
    <p:extLst>
      <p:ext uri="{BB962C8B-B14F-4D97-AF65-F5344CB8AC3E}">
        <p14:creationId xmlns:p14="http://schemas.microsoft.com/office/powerpoint/2010/main" val="895929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Content Placeholder 23">
            <a:extLst>
              <a:ext uri="{FF2B5EF4-FFF2-40B4-BE49-F238E27FC236}">
                <a16:creationId xmlns:a16="http://schemas.microsoft.com/office/drawing/2014/main" id="{71D42055-2E5C-F12C-52FA-841A0FFC4CD2}"/>
              </a:ext>
            </a:extLst>
          </p:cNvPr>
          <p:cNvPicPr>
            <a:picLocks noGrp="1" noChangeAspect="1"/>
          </p:cNvPicPr>
          <p:nvPr>
            <p:ph idx="1"/>
          </p:nvPr>
        </p:nvPicPr>
        <p:blipFill>
          <a:blip r:embed="rId2"/>
          <a:stretch>
            <a:fillRect/>
          </a:stretch>
        </p:blipFill>
        <p:spPr>
          <a:xfrm>
            <a:off x="6937514" y="426792"/>
            <a:ext cx="4884964" cy="5480692"/>
          </a:xfrm>
        </p:spPr>
      </p:pic>
      <p:sp>
        <p:nvSpPr>
          <p:cNvPr id="2" name="Title 1">
            <a:extLst>
              <a:ext uri="{FF2B5EF4-FFF2-40B4-BE49-F238E27FC236}">
                <a16:creationId xmlns:a16="http://schemas.microsoft.com/office/drawing/2014/main" id="{355AE5B9-168C-FE10-2ED6-18A6DB269323}"/>
              </a:ext>
            </a:extLst>
          </p:cNvPr>
          <p:cNvSpPr>
            <a:spLocks noGrp="1"/>
          </p:cNvSpPr>
          <p:nvPr>
            <p:ph type="title"/>
          </p:nvPr>
        </p:nvSpPr>
        <p:spPr>
          <a:xfrm>
            <a:off x="838200" y="365125"/>
            <a:ext cx="5047595" cy="1325563"/>
          </a:xfrm>
        </p:spPr>
        <p:txBody>
          <a:bodyPr>
            <a:normAutofit/>
          </a:bodyPr>
          <a:lstStyle/>
          <a:p>
            <a:r>
              <a:rPr lang="en-FR" dirty="0"/>
              <a:t>III Our preliminary results – choices</a:t>
            </a:r>
          </a:p>
        </p:txBody>
      </p:sp>
      <p:sp>
        <p:nvSpPr>
          <p:cNvPr id="8" name="TextBox 7">
            <a:extLst>
              <a:ext uri="{FF2B5EF4-FFF2-40B4-BE49-F238E27FC236}">
                <a16:creationId xmlns:a16="http://schemas.microsoft.com/office/drawing/2014/main" id="{615D4429-2496-E4CE-5131-FA3139F3CF1C}"/>
              </a:ext>
            </a:extLst>
          </p:cNvPr>
          <p:cNvSpPr txBox="1"/>
          <p:nvPr/>
        </p:nvSpPr>
        <p:spPr>
          <a:xfrm>
            <a:off x="0" y="4915285"/>
            <a:ext cx="7155662" cy="1754326"/>
          </a:xfrm>
          <a:prstGeom prst="rect">
            <a:avLst/>
          </a:prstGeom>
          <a:noFill/>
        </p:spPr>
        <p:txBody>
          <a:bodyPr wrap="square" rtlCol="0">
            <a:spAutoFit/>
          </a:bodyPr>
          <a:lstStyle/>
          <a:p>
            <a:pPr marL="285750" indent="-285750">
              <a:buFont typeface="Arial" panose="020B0604020202020204" pitchFamily="34" charset="0"/>
              <a:buChar char="•"/>
            </a:pPr>
            <a:r>
              <a:rPr lang="en-FR" dirty="0"/>
              <a:t>Trend in the direction of the fourfold pattern of risk for lotteries (mostly significant) and mirrors (mostly not significant)</a:t>
            </a:r>
            <a:endParaRPr lang="fr-FR" dirty="0"/>
          </a:p>
          <a:p>
            <a:pPr marL="285750" indent="-285750">
              <a:buFont typeface="Arial" panose="020B0604020202020204" pitchFamily="34" charset="0"/>
              <a:buChar char="•"/>
            </a:pPr>
            <a:r>
              <a:rPr lang="en-US" dirty="0"/>
              <a:t>Risk-aversion found for G25 is probably due to an unbalanced proportion of “low” (60%) grids vs. “high” (40%)</a:t>
            </a:r>
            <a:endParaRPr lang="en-FR" dirty="0"/>
          </a:p>
          <a:p>
            <a:pPr marL="285750" indent="-285750">
              <a:buFont typeface="Arial" panose="020B0604020202020204" pitchFamily="34" charset="0"/>
              <a:buChar char="•"/>
            </a:pPr>
            <a:r>
              <a:rPr lang="en-FR" dirty="0"/>
              <a:t>No loss aversion for mirrors</a:t>
            </a:r>
          </a:p>
          <a:p>
            <a:pPr marL="285750" indent="-285750">
              <a:buFont typeface="Arial" panose="020B0604020202020204" pitchFamily="34" charset="0"/>
              <a:buChar char="•"/>
            </a:pPr>
            <a:r>
              <a:rPr lang="en-FR" dirty="0"/>
              <a:t>Stars : 5% significant level (Wilcoxon test)</a:t>
            </a:r>
          </a:p>
        </p:txBody>
      </p:sp>
      <p:pic>
        <p:nvPicPr>
          <p:cNvPr id="3" name="Content Placeholder 4" descr="A graph of numbers and letters&#10;&#10;AI-generated content may be incorrect.">
            <a:extLst>
              <a:ext uri="{FF2B5EF4-FFF2-40B4-BE49-F238E27FC236}">
                <a16:creationId xmlns:a16="http://schemas.microsoft.com/office/drawing/2014/main" id="{F040DF69-31F8-1A16-91FA-66A56E1F58DC}"/>
              </a:ext>
            </a:extLst>
          </p:cNvPr>
          <p:cNvPicPr>
            <a:picLocks noChangeAspect="1"/>
          </p:cNvPicPr>
          <p:nvPr/>
        </p:nvPicPr>
        <p:blipFill>
          <a:blip r:embed="rId3"/>
          <a:srcRect l="8258" t="195" r="11325" b="19543"/>
          <a:stretch>
            <a:fillRect/>
          </a:stretch>
        </p:blipFill>
        <p:spPr>
          <a:xfrm>
            <a:off x="934278" y="1898375"/>
            <a:ext cx="3146109" cy="3016742"/>
          </a:xfrm>
          <a:prstGeom prst="rect">
            <a:avLst/>
          </a:prstGeom>
        </p:spPr>
      </p:pic>
      <p:sp>
        <p:nvSpPr>
          <p:cNvPr id="25" name="TextBox 24">
            <a:extLst>
              <a:ext uri="{FF2B5EF4-FFF2-40B4-BE49-F238E27FC236}">
                <a16:creationId xmlns:a16="http://schemas.microsoft.com/office/drawing/2014/main" id="{89B60E54-2C77-BC0D-DE01-DAAE7959FEBA}"/>
              </a:ext>
            </a:extLst>
          </p:cNvPr>
          <p:cNvSpPr txBox="1"/>
          <p:nvPr/>
        </p:nvSpPr>
        <p:spPr>
          <a:xfrm>
            <a:off x="7694532" y="2301672"/>
            <a:ext cx="284052" cy="369332"/>
          </a:xfrm>
          <a:prstGeom prst="rect">
            <a:avLst/>
          </a:prstGeom>
          <a:noFill/>
        </p:spPr>
        <p:txBody>
          <a:bodyPr wrap="none" rtlCol="0">
            <a:spAutoFit/>
          </a:bodyPr>
          <a:lstStyle/>
          <a:p>
            <a:r>
              <a:rPr lang="en-FR" dirty="0">
                <a:latin typeface="Garamond" panose="02020404030301010803" pitchFamily="18" charset="0"/>
              </a:rPr>
              <a:t>*</a:t>
            </a:r>
          </a:p>
        </p:txBody>
      </p:sp>
      <p:sp>
        <p:nvSpPr>
          <p:cNvPr id="34" name="TextBox 33">
            <a:extLst>
              <a:ext uri="{FF2B5EF4-FFF2-40B4-BE49-F238E27FC236}">
                <a16:creationId xmlns:a16="http://schemas.microsoft.com/office/drawing/2014/main" id="{88B0992B-2463-DF63-D4E7-119ED021F9DC}"/>
              </a:ext>
            </a:extLst>
          </p:cNvPr>
          <p:cNvSpPr txBox="1"/>
          <p:nvPr/>
        </p:nvSpPr>
        <p:spPr>
          <a:xfrm>
            <a:off x="7770732" y="3919912"/>
            <a:ext cx="131652" cy="369332"/>
          </a:xfrm>
          <a:prstGeom prst="rect">
            <a:avLst/>
          </a:prstGeom>
          <a:noFill/>
        </p:spPr>
        <p:txBody>
          <a:bodyPr wrap="square" rtlCol="0">
            <a:spAutoFit/>
          </a:bodyPr>
          <a:lstStyle/>
          <a:p>
            <a:r>
              <a:rPr lang="en-FR" dirty="0">
                <a:latin typeface="Garamond" panose="02020404030301010803" pitchFamily="18" charset="0"/>
              </a:rPr>
              <a:t>*</a:t>
            </a:r>
          </a:p>
        </p:txBody>
      </p:sp>
      <p:sp>
        <p:nvSpPr>
          <p:cNvPr id="35" name="TextBox 34">
            <a:extLst>
              <a:ext uri="{FF2B5EF4-FFF2-40B4-BE49-F238E27FC236}">
                <a16:creationId xmlns:a16="http://schemas.microsoft.com/office/drawing/2014/main" id="{0656EC81-F9A9-150A-6468-3B1612A8CCA2}"/>
              </a:ext>
            </a:extLst>
          </p:cNvPr>
          <p:cNvSpPr txBox="1"/>
          <p:nvPr/>
        </p:nvSpPr>
        <p:spPr>
          <a:xfrm>
            <a:off x="8054784" y="3776455"/>
            <a:ext cx="284052" cy="369332"/>
          </a:xfrm>
          <a:prstGeom prst="rect">
            <a:avLst/>
          </a:prstGeom>
          <a:noFill/>
        </p:spPr>
        <p:txBody>
          <a:bodyPr wrap="none" rtlCol="0">
            <a:spAutoFit/>
          </a:bodyPr>
          <a:lstStyle/>
          <a:p>
            <a:r>
              <a:rPr lang="en-FR" dirty="0">
                <a:latin typeface="Garamond" panose="02020404030301010803" pitchFamily="18" charset="0"/>
              </a:rPr>
              <a:t>*</a:t>
            </a:r>
          </a:p>
        </p:txBody>
      </p:sp>
      <p:sp>
        <p:nvSpPr>
          <p:cNvPr id="36" name="TextBox 35">
            <a:extLst>
              <a:ext uri="{FF2B5EF4-FFF2-40B4-BE49-F238E27FC236}">
                <a16:creationId xmlns:a16="http://schemas.microsoft.com/office/drawing/2014/main" id="{7BFB1CE0-F3CB-AE0E-B18E-AE89E9B465E8}"/>
              </a:ext>
            </a:extLst>
          </p:cNvPr>
          <p:cNvSpPr txBox="1"/>
          <p:nvPr/>
        </p:nvSpPr>
        <p:spPr>
          <a:xfrm>
            <a:off x="9502179" y="4104578"/>
            <a:ext cx="284052" cy="369332"/>
          </a:xfrm>
          <a:prstGeom prst="rect">
            <a:avLst/>
          </a:prstGeom>
          <a:noFill/>
        </p:spPr>
        <p:txBody>
          <a:bodyPr wrap="square" rtlCol="0">
            <a:spAutoFit/>
          </a:bodyPr>
          <a:lstStyle/>
          <a:p>
            <a:r>
              <a:rPr lang="en-FR" dirty="0">
                <a:latin typeface="Garamond" panose="02020404030301010803" pitchFamily="18" charset="0"/>
              </a:rPr>
              <a:t>*</a:t>
            </a:r>
          </a:p>
        </p:txBody>
      </p:sp>
      <p:sp>
        <p:nvSpPr>
          <p:cNvPr id="37" name="TextBox 36">
            <a:extLst>
              <a:ext uri="{FF2B5EF4-FFF2-40B4-BE49-F238E27FC236}">
                <a16:creationId xmlns:a16="http://schemas.microsoft.com/office/drawing/2014/main" id="{60456317-1570-16DB-9D09-4B2CB92B0B70}"/>
              </a:ext>
            </a:extLst>
          </p:cNvPr>
          <p:cNvSpPr txBox="1"/>
          <p:nvPr/>
        </p:nvSpPr>
        <p:spPr>
          <a:xfrm>
            <a:off x="10095291" y="4145787"/>
            <a:ext cx="284052" cy="369332"/>
          </a:xfrm>
          <a:prstGeom prst="rect">
            <a:avLst/>
          </a:prstGeom>
          <a:noFill/>
        </p:spPr>
        <p:txBody>
          <a:bodyPr wrap="none" rtlCol="0">
            <a:spAutoFit/>
          </a:bodyPr>
          <a:lstStyle/>
          <a:p>
            <a:r>
              <a:rPr lang="en-FR" dirty="0">
                <a:latin typeface="Garamond" panose="02020404030301010803" pitchFamily="18" charset="0"/>
              </a:rPr>
              <a:t>*</a:t>
            </a:r>
          </a:p>
        </p:txBody>
      </p:sp>
      <p:sp>
        <p:nvSpPr>
          <p:cNvPr id="38" name="TextBox 37">
            <a:extLst>
              <a:ext uri="{FF2B5EF4-FFF2-40B4-BE49-F238E27FC236}">
                <a16:creationId xmlns:a16="http://schemas.microsoft.com/office/drawing/2014/main" id="{F9B3D54B-B275-3FE5-699A-B3E8154D6445}"/>
              </a:ext>
            </a:extLst>
          </p:cNvPr>
          <p:cNvSpPr txBox="1"/>
          <p:nvPr/>
        </p:nvSpPr>
        <p:spPr>
          <a:xfrm>
            <a:off x="10976042" y="4289244"/>
            <a:ext cx="284052" cy="369332"/>
          </a:xfrm>
          <a:prstGeom prst="rect">
            <a:avLst/>
          </a:prstGeom>
          <a:noFill/>
        </p:spPr>
        <p:txBody>
          <a:bodyPr wrap="none" rtlCol="0">
            <a:spAutoFit/>
          </a:bodyPr>
          <a:lstStyle/>
          <a:p>
            <a:r>
              <a:rPr lang="en-FR" dirty="0">
                <a:latin typeface="Garamond" panose="02020404030301010803" pitchFamily="18" charset="0"/>
              </a:rPr>
              <a:t>*</a:t>
            </a:r>
          </a:p>
        </p:txBody>
      </p:sp>
      <p:sp>
        <p:nvSpPr>
          <p:cNvPr id="39" name="TextBox 38">
            <a:extLst>
              <a:ext uri="{FF2B5EF4-FFF2-40B4-BE49-F238E27FC236}">
                <a16:creationId xmlns:a16="http://schemas.microsoft.com/office/drawing/2014/main" id="{9E3DEDE2-16CE-2A2F-7587-F07402B42FB2}"/>
              </a:ext>
            </a:extLst>
          </p:cNvPr>
          <p:cNvSpPr txBox="1"/>
          <p:nvPr/>
        </p:nvSpPr>
        <p:spPr>
          <a:xfrm>
            <a:off x="11017901" y="3550580"/>
            <a:ext cx="284052" cy="369332"/>
          </a:xfrm>
          <a:prstGeom prst="rect">
            <a:avLst/>
          </a:prstGeom>
          <a:noFill/>
        </p:spPr>
        <p:txBody>
          <a:bodyPr wrap="none" rtlCol="0">
            <a:spAutoFit/>
          </a:bodyPr>
          <a:lstStyle/>
          <a:p>
            <a:r>
              <a:rPr lang="en-FR" dirty="0">
                <a:latin typeface="Garamond" panose="02020404030301010803" pitchFamily="18" charset="0"/>
              </a:rPr>
              <a:t>*</a:t>
            </a:r>
          </a:p>
        </p:txBody>
      </p:sp>
      <p:sp>
        <p:nvSpPr>
          <p:cNvPr id="40" name="TextBox 39">
            <a:extLst>
              <a:ext uri="{FF2B5EF4-FFF2-40B4-BE49-F238E27FC236}">
                <a16:creationId xmlns:a16="http://schemas.microsoft.com/office/drawing/2014/main" id="{D3A937FA-A901-24D7-9FC7-ABEA232F9BED}"/>
              </a:ext>
            </a:extLst>
          </p:cNvPr>
          <p:cNvSpPr txBox="1"/>
          <p:nvPr/>
        </p:nvSpPr>
        <p:spPr>
          <a:xfrm>
            <a:off x="11017901" y="2309215"/>
            <a:ext cx="284052" cy="369332"/>
          </a:xfrm>
          <a:prstGeom prst="rect">
            <a:avLst/>
          </a:prstGeom>
          <a:noFill/>
        </p:spPr>
        <p:txBody>
          <a:bodyPr wrap="none" rtlCol="0">
            <a:spAutoFit/>
          </a:bodyPr>
          <a:lstStyle/>
          <a:p>
            <a:r>
              <a:rPr lang="en-FR" dirty="0">
                <a:latin typeface="Garamond" panose="02020404030301010803" pitchFamily="18" charset="0"/>
              </a:rPr>
              <a:t>*</a:t>
            </a:r>
          </a:p>
        </p:txBody>
      </p:sp>
      <p:sp>
        <p:nvSpPr>
          <p:cNvPr id="43" name="Rectangle 42">
            <a:extLst>
              <a:ext uri="{FF2B5EF4-FFF2-40B4-BE49-F238E27FC236}">
                <a16:creationId xmlns:a16="http://schemas.microsoft.com/office/drawing/2014/main" id="{FBC98D5B-EAA5-2A4F-8F72-6DF16E245830}"/>
              </a:ext>
            </a:extLst>
          </p:cNvPr>
          <p:cNvSpPr/>
          <p:nvPr/>
        </p:nvSpPr>
        <p:spPr>
          <a:xfrm>
            <a:off x="5594342" y="5981051"/>
            <a:ext cx="6305290" cy="72489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fr-FR" sz="2200" dirty="0">
                <a:solidFill>
                  <a:schemeClr val="tx1"/>
                </a:solidFill>
                <a:sym typeface="Wingdings" panose="05000000000000000000" pitchFamily="2" charset="2"/>
              </a:rPr>
              <a:t></a:t>
            </a:r>
            <a:r>
              <a:rPr lang="fr-FR" sz="2200" dirty="0" err="1">
                <a:solidFill>
                  <a:schemeClr val="tx1"/>
                </a:solidFill>
                <a:sym typeface="Wingdings" panose="05000000000000000000" pitchFamily="2" charset="2"/>
              </a:rPr>
              <a:t>Fourfold</a:t>
            </a:r>
            <a:r>
              <a:rPr lang="fr-FR" sz="2200" dirty="0">
                <a:solidFill>
                  <a:schemeClr val="tx1"/>
                </a:solidFill>
                <a:sym typeface="Wingdings" panose="05000000000000000000" pitchFamily="2" charset="2"/>
              </a:rPr>
              <a:t> pattern trend for </a:t>
            </a:r>
            <a:r>
              <a:rPr lang="fr-FR" sz="2200" dirty="0" err="1">
                <a:solidFill>
                  <a:schemeClr val="tx1"/>
                </a:solidFill>
                <a:sym typeface="Wingdings" panose="05000000000000000000" pitchFamily="2" charset="2"/>
              </a:rPr>
              <a:t>lotteries</a:t>
            </a:r>
            <a:r>
              <a:rPr lang="fr-FR" sz="2200" dirty="0">
                <a:solidFill>
                  <a:schemeClr val="tx1"/>
                </a:solidFill>
                <a:sym typeface="Wingdings" panose="05000000000000000000" pitchFamily="2" charset="2"/>
              </a:rPr>
              <a:t> and </a:t>
            </a:r>
            <a:r>
              <a:rPr lang="fr-FR" sz="2200" dirty="0" err="1">
                <a:solidFill>
                  <a:schemeClr val="tx1"/>
                </a:solidFill>
                <a:sym typeface="Wingdings" panose="05000000000000000000" pitchFamily="2" charset="2"/>
              </a:rPr>
              <a:t>mirrors</a:t>
            </a:r>
            <a:endParaRPr lang="fr-FR" sz="2200" dirty="0">
              <a:solidFill>
                <a:schemeClr val="tx1"/>
              </a:solidFill>
              <a:sym typeface="Wingdings" panose="05000000000000000000" pitchFamily="2" charset="2"/>
            </a:endParaRPr>
          </a:p>
        </p:txBody>
      </p:sp>
    </p:spTree>
    <p:extLst>
      <p:ext uri="{BB962C8B-B14F-4D97-AF65-F5344CB8AC3E}">
        <p14:creationId xmlns:p14="http://schemas.microsoft.com/office/powerpoint/2010/main" val="13794364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1DF82-543F-7067-B9AE-4C490AFAC7C7}"/>
              </a:ext>
            </a:extLst>
          </p:cNvPr>
          <p:cNvSpPr>
            <a:spLocks noGrp="1"/>
          </p:cNvSpPr>
          <p:nvPr>
            <p:ph type="title"/>
          </p:nvPr>
        </p:nvSpPr>
        <p:spPr>
          <a:xfrm>
            <a:off x="937591" y="0"/>
            <a:ext cx="10515600" cy="1325563"/>
          </a:xfrm>
        </p:spPr>
        <p:txBody>
          <a:bodyPr/>
          <a:lstStyle/>
          <a:p>
            <a:r>
              <a:rPr lang="en-FR" dirty="0"/>
              <a:t>III Our preliminary results – choices</a:t>
            </a:r>
          </a:p>
        </p:txBody>
      </p:sp>
      <p:pic>
        <p:nvPicPr>
          <p:cNvPr id="8" name="Content Placeholder 7">
            <a:extLst>
              <a:ext uri="{FF2B5EF4-FFF2-40B4-BE49-F238E27FC236}">
                <a16:creationId xmlns:a16="http://schemas.microsoft.com/office/drawing/2014/main" id="{96A871CB-2BBC-6649-7779-851629B87978}"/>
              </a:ext>
            </a:extLst>
          </p:cNvPr>
          <p:cNvPicPr>
            <a:picLocks noGrp="1" noChangeAspect="1"/>
          </p:cNvPicPr>
          <p:nvPr>
            <p:ph idx="1"/>
          </p:nvPr>
        </p:nvPicPr>
        <p:blipFill>
          <a:blip r:embed="rId2"/>
          <a:stretch>
            <a:fillRect/>
          </a:stretch>
        </p:blipFill>
        <p:spPr>
          <a:xfrm>
            <a:off x="4461831" y="1027905"/>
            <a:ext cx="7589987" cy="4154689"/>
          </a:xfrm>
        </p:spPr>
      </p:pic>
      <p:pic>
        <p:nvPicPr>
          <p:cNvPr id="5" name="Content Placeholder 4" descr="A graph of a number of different numbers&#10;&#10;AI-generated content may be incorrect.">
            <a:extLst>
              <a:ext uri="{FF2B5EF4-FFF2-40B4-BE49-F238E27FC236}">
                <a16:creationId xmlns:a16="http://schemas.microsoft.com/office/drawing/2014/main" id="{D6C59057-A977-6A9D-43FD-90C446A5E70A}"/>
              </a:ext>
            </a:extLst>
          </p:cNvPr>
          <p:cNvPicPr>
            <a:picLocks noChangeAspect="1"/>
          </p:cNvPicPr>
          <p:nvPr/>
        </p:nvPicPr>
        <p:blipFill>
          <a:blip r:embed="rId3"/>
          <a:stretch>
            <a:fillRect/>
          </a:stretch>
        </p:blipFill>
        <p:spPr>
          <a:xfrm>
            <a:off x="140182" y="1589509"/>
            <a:ext cx="3919849" cy="2898811"/>
          </a:xfrm>
          <a:prstGeom prst="rect">
            <a:avLst/>
          </a:prstGeom>
        </p:spPr>
      </p:pic>
      <p:sp>
        <p:nvSpPr>
          <p:cNvPr id="7" name="Rectangle 6">
            <a:extLst>
              <a:ext uri="{FF2B5EF4-FFF2-40B4-BE49-F238E27FC236}">
                <a16:creationId xmlns:a16="http://schemas.microsoft.com/office/drawing/2014/main" id="{05136494-7014-7743-6C7F-BE67A5F79511}"/>
              </a:ext>
            </a:extLst>
          </p:cNvPr>
          <p:cNvSpPr/>
          <p:nvPr/>
        </p:nvSpPr>
        <p:spPr>
          <a:xfrm>
            <a:off x="453005" y="5176369"/>
            <a:ext cx="8279919" cy="155158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fr-FR" sz="2000" dirty="0">
                <a:solidFill>
                  <a:schemeClr val="tx1"/>
                </a:solidFill>
                <a:sym typeface="Wingdings" panose="05000000000000000000" pitchFamily="2" charset="2"/>
              </a:rPr>
              <a:t></a:t>
            </a:r>
            <a:r>
              <a:rPr lang="en-FR" sz="2000" dirty="0">
                <a:solidFill>
                  <a:schemeClr val="tx1"/>
                </a:solidFill>
              </a:rPr>
              <a:t>Significant subject level correlation between lotteries and mirrors’ normalized deviations : .46 (t = -3.3674,</a:t>
            </a:r>
            <a:r>
              <a:rPr lang="en-GB" sz="2000" dirty="0">
                <a:solidFill>
                  <a:schemeClr val="tx1"/>
                </a:solidFill>
              </a:rPr>
              <a:t> </a:t>
            </a:r>
            <a:r>
              <a:rPr lang="en-GB" sz="2000" dirty="0" err="1">
                <a:solidFill>
                  <a:schemeClr val="tx1"/>
                </a:solidFill>
              </a:rPr>
              <a:t>df</a:t>
            </a:r>
            <a:r>
              <a:rPr lang="en-GB" sz="2000" dirty="0">
                <a:solidFill>
                  <a:schemeClr val="tx1"/>
                </a:solidFill>
              </a:rPr>
              <a:t> = 43, p = .002)</a:t>
            </a:r>
            <a:endParaRPr lang="en-FR" sz="2000" dirty="0">
              <a:solidFill>
                <a:schemeClr val="tx1"/>
              </a:solidFill>
            </a:endParaRPr>
          </a:p>
          <a:p>
            <a:pPr lvl="1"/>
            <a:r>
              <a:rPr lang="fr-FR" sz="2000" dirty="0">
                <a:solidFill>
                  <a:schemeClr val="tx1"/>
                </a:solidFill>
                <a:sym typeface="Wingdings" panose="05000000000000000000" pitchFamily="2" charset="2"/>
              </a:rPr>
              <a:t></a:t>
            </a:r>
            <a:r>
              <a:rPr lang="fr-FR" sz="2000" dirty="0">
                <a:solidFill>
                  <a:schemeClr val="tx1"/>
                </a:solidFill>
              </a:rPr>
              <a:t> More </a:t>
            </a:r>
            <a:r>
              <a:rPr lang="fr-FR" sz="2000" dirty="0" err="1">
                <a:solidFill>
                  <a:schemeClr val="tx1"/>
                </a:solidFill>
              </a:rPr>
              <a:t>deviations</a:t>
            </a:r>
            <a:r>
              <a:rPr lang="fr-FR" sz="2000" dirty="0">
                <a:solidFill>
                  <a:schemeClr val="tx1"/>
                </a:solidFill>
              </a:rPr>
              <a:t> for </a:t>
            </a:r>
            <a:r>
              <a:rPr lang="fr-FR" sz="2000" dirty="0" err="1">
                <a:solidFill>
                  <a:schemeClr val="tx1"/>
                </a:solidFill>
              </a:rPr>
              <a:t>lotteries</a:t>
            </a:r>
            <a:r>
              <a:rPr lang="fr-FR" sz="2000" dirty="0">
                <a:solidFill>
                  <a:schemeClr val="tx1"/>
                </a:solidFill>
              </a:rPr>
              <a:t> </a:t>
            </a:r>
            <a:r>
              <a:rPr lang="fr-FR" sz="2000" dirty="0" err="1">
                <a:solidFill>
                  <a:schemeClr val="tx1"/>
                </a:solidFill>
              </a:rPr>
              <a:t>than</a:t>
            </a:r>
            <a:r>
              <a:rPr lang="fr-FR" sz="2000" dirty="0">
                <a:solidFill>
                  <a:schemeClr val="tx1"/>
                </a:solidFill>
              </a:rPr>
              <a:t> </a:t>
            </a:r>
            <a:r>
              <a:rPr lang="fr-FR" sz="2000" dirty="0" err="1">
                <a:solidFill>
                  <a:schemeClr val="tx1"/>
                </a:solidFill>
              </a:rPr>
              <a:t>mirrors</a:t>
            </a:r>
            <a:r>
              <a:rPr lang="fr-FR" sz="2000" dirty="0">
                <a:solidFill>
                  <a:schemeClr val="tx1"/>
                </a:solidFill>
              </a:rPr>
              <a:t> (</a:t>
            </a:r>
            <a:r>
              <a:rPr lang="fr-FR" sz="2000" dirty="0" err="1">
                <a:solidFill>
                  <a:schemeClr val="tx1"/>
                </a:solidFill>
              </a:rPr>
              <a:t>normalized</a:t>
            </a:r>
            <a:r>
              <a:rPr lang="fr-FR" sz="2000" dirty="0">
                <a:solidFill>
                  <a:schemeClr val="tx1"/>
                </a:solidFill>
              </a:rPr>
              <a:t> : </a:t>
            </a:r>
            <a:r>
              <a:rPr lang="fr-FR" sz="2000" dirty="0" err="1">
                <a:solidFill>
                  <a:schemeClr val="tx1"/>
                </a:solidFill>
              </a:rPr>
              <a:t>t</a:t>
            </a:r>
            <a:r>
              <a:rPr lang="fr-FR" sz="2000" dirty="0">
                <a:solidFill>
                  <a:schemeClr val="tx1"/>
                </a:solidFill>
              </a:rPr>
              <a:t> = -4.0811, </a:t>
            </a:r>
            <a:r>
              <a:rPr lang="fr-FR" sz="2000" dirty="0" err="1">
                <a:solidFill>
                  <a:schemeClr val="tx1"/>
                </a:solidFill>
              </a:rPr>
              <a:t>df</a:t>
            </a:r>
            <a:r>
              <a:rPr lang="fr-FR" sz="2000" dirty="0">
                <a:solidFill>
                  <a:schemeClr val="tx1"/>
                </a:solidFill>
              </a:rPr>
              <a:t> = 44, p &lt; 0.000; </a:t>
            </a:r>
            <a:r>
              <a:rPr lang="fr-FR" sz="2000" dirty="0" err="1">
                <a:solidFill>
                  <a:schemeClr val="tx1"/>
                </a:solidFill>
              </a:rPr>
              <a:t>absolute</a:t>
            </a:r>
            <a:r>
              <a:rPr lang="fr-FR" sz="2000" dirty="0">
                <a:solidFill>
                  <a:schemeClr val="tx1"/>
                </a:solidFill>
              </a:rPr>
              <a:t> :  </a:t>
            </a:r>
            <a:r>
              <a:rPr lang="fr-FR" sz="2000" dirty="0" err="1">
                <a:solidFill>
                  <a:schemeClr val="tx1"/>
                </a:solidFill>
              </a:rPr>
              <a:t>t</a:t>
            </a:r>
            <a:r>
              <a:rPr lang="fr-FR" sz="2000" dirty="0">
                <a:solidFill>
                  <a:schemeClr val="tx1"/>
                </a:solidFill>
              </a:rPr>
              <a:t> = -3.6646, </a:t>
            </a:r>
            <a:r>
              <a:rPr lang="fr-FR" sz="2000" dirty="0" err="1">
                <a:solidFill>
                  <a:schemeClr val="tx1"/>
                </a:solidFill>
              </a:rPr>
              <a:t>df</a:t>
            </a:r>
            <a:r>
              <a:rPr lang="fr-FR" sz="2000" dirty="0">
                <a:solidFill>
                  <a:schemeClr val="tx1"/>
                </a:solidFill>
              </a:rPr>
              <a:t> = 44, p-value &lt; .000)</a:t>
            </a:r>
          </a:p>
        </p:txBody>
      </p:sp>
      <p:sp>
        <p:nvSpPr>
          <p:cNvPr id="10" name="TextBox 9">
            <a:extLst>
              <a:ext uri="{FF2B5EF4-FFF2-40B4-BE49-F238E27FC236}">
                <a16:creationId xmlns:a16="http://schemas.microsoft.com/office/drawing/2014/main" id="{DE7F7BC6-F253-1FB0-56A3-590127A9DA9B}"/>
              </a:ext>
            </a:extLst>
          </p:cNvPr>
          <p:cNvSpPr txBox="1"/>
          <p:nvPr/>
        </p:nvSpPr>
        <p:spPr>
          <a:xfrm>
            <a:off x="9585449" y="5295586"/>
            <a:ext cx="1485728" cy="369332"/>
          </a:xfrm>
          <a:prstGeom prst="rect">
            <a:avLst/>
          </a:prstGeom>
          <a:noFill/>
        </p:spPr>
        <p:txBody>
          <a:bodyPr wrap="none" rtlCol="0">
            <a:spAutoFit/>
          </a:bodyPr>
          <a:lstStyle/>
          <a:p>
            <a:r>
              <a:rPr lang="en-FR" dirty="0"/>
              <a:t>PT prediction</a:t>
            </a:r>
          </a:p>
        </p:txBody>
      </p:sp>
      <p:cxnSp>
        <p:nvCxnSpPr>
          <p:cNvPr id="12" name="Straight Arrow Connector 11">
            <a:extLst>
              <a:ext uri="{FF2B5EF4-FFF2-40B4-BE49-F238E27FC236}">
                <a16:creationId xmlns:a16="http://schemas.microsoft.com/office/drawing/2014/main" id="{BEF50351-280D-19C7-2A62-76D6F96085C8}"/>
              </a:ext>
            </a:extLst>
          </p:cNvPr>
          <p:cNvCxnSpPr/>
          <p:nvPr/>
        </p:nvCxnSpPr>
        <p:spPr>
          <a:xfrm>
            <a:off x="9066882" y="5182594"/>
            <a:ext cx="252286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FA18DD6D-45C7-235A-8E3B-95A42F0A0F18}"/>
              </a:ext>
            </a:extLst>
          </p:cNvPr>
          <p:cNvSpPr txBox="1"/>
          <p:nvPr/>
        </p:nvSpPr>
        <p:spPr>
          <a:xfrm rot="16200000">
            <a:off x="7216050" y="2854248"/>
            <a:ext cx="1485728" cy="369332"/>
          </a:xfrm>
          <a:prstGeom prst="rect">
            <a:avLst/>
          </a:prstGeom>
          <a:noFill/>
        </p:spPr>
        <p:txBody>
          <a:bodyPr wrap="none" rtlCol="0">
            <a:spAutoFit/>
          </a:bodyPr>
          <a:lstStyle/>
          <a:p>
            <a:r>
              <a:rPr lang="en-FR" dirty="0"/>
              <a:t>PT prediction</a:t>
            </a:r>
          </a:p>
        </p:txBody>
      </p:sp>
      <p:cxnSp>
        <p:nvCxnSpPr>
          <p:cNvPr id="14" name="Straight Arrow Connector 13">
            <a:extLst>
              <a:ext uri="{FF2B5EF4-FFF2-40B4-BE49-F238E27FC236}">
                <a16:creationId xmlns:a16="http://schemas.microsoft.com/office/drawing/2014/main" id="{759DDC1B-16AF-7D7D-2E81-BCEF934D758F}"/>
              </a:ext>
            </a:extLst>
          </p:cNvPr>
          <p:cNvCxnSpPr>
            <a:cxnSpLocks/>
          </p:cNvCxnSpPr>
          <p:nvPr/>
        </p:nvCxnSpPr>
        <p:spPr>
          <a:xfrm rot="16200000">
            <a:off x="6995393" y="3038913"/>
            <a:ext cx="252286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27434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D004A-21FA-7C27-C6DF-B39A32909C00}"/>
              </a:ext>
            </a:extLst>
          </p:cNvPr>
          <p:cNvSpPr>
            <a:spLocks noGrp="1"/>
          </p:cNvSpPr>
          <p:nvPr>
            <p:ph type="title"/>
          </p:nvPr>
        </p:nvSpPr>
        <p:spPr/>
        <p:txBody>
          <a:bodyPr/>
          <a:lstStyle/>
          <a:p>
            <a:r>
              <a:rPr lang="en-FR" dirty="0"/>
              <a:t>III Our preliminary results – cognitive load</a:t>
            </a:r>
          </a:p>
        </p:txBody>
      </p:sp>
      <p:pic>
        <p:nvPicPr>
          <p:cNvPr id="5" name="Picture 4">
            <a:extLst>
              <a:ext uri="{FF2B5EF4-FFF2-40B4-BE49-F238E27FC236}">
                <a16:creationId xmlns:a16="http://schemas.microsoft.com/office/drawing/2014/main" id="{65B14280-EFD1-8083-A00B-A22768F04C80}"/>
              </a:ext>
            </a:extLst>
          </p:cNvPr>
          <p:cNvPicPr>
            <a:picLocks noChangeAspect="1"/>
          </p:cNvPicPr>
          <p:nvPr/>
        </p:nvPicPr>
        <p:blipFill>
          <a:blip r:embed="rId2"/>
          <a:stretch>
            <a:fillRect/>
          </a:stretch>
        </p:blipFill>
        <p:spPr>
          <a:xfrm>
            <a:off x="4695984" y="1944523"/>
            <a:ext cx="7315200" cy="4572000"/>
          </a:xfrm>
          <a:prstGeom prst="rect">
            <a:avLst/>
          </a:prstGeom>
        </p:spPr>
      </p:pic>
      <p:pic>
        <p:nvPicPr>
          <p:cNvPr id="7" name="Picture 6" descr="A diagram of a target&#10;&#10;AI-generated content may be incorrect.">
            <a:extLst>
              <a:ext uri="{FF2B5EF4-FFF2-40B4-BE49-F238E27FC236}">
                <a16:creationId xmlns:a16="http://schemas.microsoft.com/office/drawing/2014/main" id="{1A9CA5B8-3B3E-4B17-0148-5E8D07BFDAA7}"/>
              </a:ext>
            </a:extLst>
          </p:cNvPr>
          <p:cNvPicPr>
            <a:picLocks noChangeAspect="1"/>
          </p:cNvPicPr>
          <p:nvPr/>
        </p:nvPicPr>
        <p:blipFill>
          <a:blip r:embed="rId3"/>
          <a:stretch>
            <a:fillRect/>
          </a:stretch>
        </p:blipFill>
        <p:spPr>
          <a:xfrm>
            <a:off x="5637082" y="2383156"/>
            <a:ext cx="2522666" cy="683894"/>
          </a:xfrm>
          <a:prstGeom prst="rect">
            <a:avLst/>
          </a:prstGeom>
        </p:spPr>
      </p:pic>
      <p:sp>
        <p:nvSpPr>
          <p:cNvPr id="8" name="Rectangle 7">
            <a:extLst>
              <a:ext uri="{FF2B5EF4-FFF2-40B4-BE49-F238E27FC236}">
                <a16:creationId xmlns:a16="http://schemas.microsoft.com/office/drawing/2014/main" id="{F516C65A-430A-E0A5-309B-885880139499}"/>
              </a:ext>
            </a:extLst>
          </p:cNvPr>
          <p:cNvSpPr/>
          <p:nvPr/>
        </p:nvSpPr>
        <p:spPr>
          <a:xfrm>
            <a:off x="6006518" y="2785145"/>
            <a:ext cx="620786" cy="25167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FR"/>
          </a:p>
        </p:txBody>
      </p:sp>
      <p:sp>
        <p:nvSpPr>
          <p:cNvPr id="9" name="Rectangle 8">
            <a:extLst>
              <a:ext uri="{FF2B5EF4-FFF2-40B4-BE49-F238E27FC236}">
                <a16:creationId xmlns:a16="http://schemas.microsoft.com/office/drawing/2014/main" id="{8FD01AAF-D0CB-7AAD-6041-F791D6CA4EE7}"/>
              </a:ext>
            </a:extLst>
          </p:cNvPr>
          <p:cNvSpPr/>
          <p:nvPr/>
        </p:nvSpPr>
        <p:spPr>
          <a:xfrm>
            <a:off x="5637082" y="2830498"/>
            <a:ext cx="468386" cy="25167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FR"/>
          </a:p>
        </p:txBody>
      </p:sp>
      <p:pic>
        <p:nvPicPr>
          <p:cNvPr id="11" name="Picture 10" descr="A diagram of a target&#10;&#10;AI-generated content may be incorrect.">
            <a:extLst>
              <a:ext uri="{FF2B5EF4-FFF2-40B4-BE49-F238E27FC236}">
                <a16:creationId xmlns:a16="http://schemas.microsoft.com/office/drawing/2014/main" id="{D12BB719-FD23-B1EE-8744-014592D9407C}"/>
              </a:ext>
            </a:extLst>
          </p:cNvPr>
          <p:cNvPicPr>
            <a:picLocks noChangeAspect="1"/>
          </p:cNvPicPr>
          <p:nvPr/>
        </p:nvPicPr>
        <p:blipFill>
          <a:blip r:embed="rId3"/>
          <a:stretch>
            <a:fillRect/>
          </a:stretch>
        </p:blipFill>
        <p:spPr>
          <a:xfrm>
            <a:off x="9262524" y="3917278"/>
            <a:ext cx="2522666" cy="683894"/>
          </a:xfrm>
          <a:prstGeom prst="rect">
            <a:avLst/>
          </a:prstGeom>
        </p:spPr>
      </p:pic>
      <p:sp>
        <p:nvSpPr>
          <p:cNvPr id="12" name="Rectangle 11">
            <a:extLst>
              <a:ext uri="{FF2B5EF4-FFF2-40B4-BE49-F238E27FC236}">
                <a16:creationId xmlns:a16="http://schemas.microsoft.com/office/drawing/2014/main" id="{B23D69BA-1958-4284-5EF1-5375802AF015}"/>
              </a:ext>
            </a:extLst>
          </p:cNvPr>
          <p:cNvSpPr/>
          <p:nvPr/>
        </p:nvSpPr>
        <p:spPr>
          <a:xfrm>
            <a:off x="9689283" y="4085439"/>
            <a:ext cx="553675" cy="22650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FR"/>
          </a:p>
        </p:txBody>
      </p:sp>
      <p:sp>
        <p:nvSpPr>
          <p:cNvPr id="13" name="Rectangle 12">
            <a:extLst>
              <a:ext uri="{FF2B5EF4-FFF2-40B4-BE49-F238E27FC236}">
                <a16:creationId xmlns:a16="http://schemas.microsoft.com/office/drawing/2014/main" id="{1655C8E2-4A30-23A3-2500-E32DEAB0B389}"/>
              </a:ext>
            </a:extLst>
          </p:cNvPr>
          <p:cNvSpPr/>
          <p:nvPr/>
        </p:nvSpPr>
        <p:spPr>
          <a:xfrm>
            <a:off x="9262524" y="4125192"/>
            <a:ext cx="426759" cy="22650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FR"/>
          </a:p>
        </p:txBody>
      </p:sp>
      <p:sp>
        <p:nvSpPr>
          <p:cNvPr id="14" name="Rectangle 13">
            <a:extLst>
              <a:ext uri="{FF2B5EF4-FFF2-40B4-BE49-F238E27FC236}">
                <a16:creationId xmlns:a16="http://schemas.microsoft.com/office/drawing/2014/main" id="{EF27EE5B-79D8-6665-B024-22F5019F7BD8}"/>
              </a:ext>
            </a:extLst>
          </p:cNvPr>
          <p:cNvSpPr/>
          <p:nvPr/>
        </p:nvSpPr>
        <p:spPr>
          <a:xfrm>
            <a:off x="406810" y="3067050"/>
            <a:ext cx="4183774" cy="1284643"/>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fr-FR" sz="2000" dirty="0">
                <a:solidFill>
                  <a:schemeClr val="tx1"/>
                </a:solidFill>
                <a:sym typeface="Wingdings" panose="05000000000000000000" pitchFamily="2" charset="2"/>
              </a:rPr>
              <a:t>Source </a:t>
            </a:r>
            <a:r>
              <a:rPr lang="fr-FR" sz="2000" dirty="0" err="1">
                <a:solidFill>
                  <a:schemeClr val="tx1"/>
                </a:solidFill>
                <a:sym typeface="Wingdings" panose="05000000000000000000" pitchFamily="2" charset="2"/>
              </a:rPr>
              <a:t>task</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does</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reduce</a:t>
            </a:r>
            <a:r>
              <a:rPr lang="fr-FR" sz="2000" dirty="0">
                <a:solidFill>
                  <a:schemeClr val="tx1"/>
                </a:solidFill>
                <a:sym typeface="Wingdings" panose="05000000000000000000" pitchFamily="2" charset="2"/>
              </a:rPr>
              <a:t> memory </a:t>
            </a:r>
            <a:r>
              <a:rPr lang="fr-FR" sz="2000" dirty="0" err="1">
                <a:solidFill>
                  <a:schemeClr val="tx1"/>
                </a:solidFill>
                <a:sym typeface="Wingdings" panose="05000000000000000000" pitchFamily="2" charset="2"/>
              </a:rPr>
              <a:t>capacities</a:t>
            </a:r>
            <a:r>
              <a:rPr lang="fr-FR" sz="2000" dirty="0">
                <a:solidFill>
                  <a:schemeClr val="tx1"/>
                </a:solidFill>
                <a:sym typeface="Wingdings" panose="05000000000000000000" pitchFamily="2" charset="2"/>
              </a:rPr>
              <a:t> in </a:t>
            </a:r>
            <a:r>
              <a:rPr lang="fr-FR" sz="2000" dirty="0" err="1">
                <a:solidFill>
                  <a:schemeClr val="tx1"/>
                </a:solidFill>
                <a:sym typeface="Wingdings" panose="05000000000000000000" pitchFamily="2" charset="2"/>
              </a:rPr>
              <a:t>target</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task</a:t>
            </a:r>
            <a:endParaRPr lang="fr-FR" sz="2000" dirty="0">
              <a:solidFill>
                <a:schemeClr val="tx1"/>
              </a:solidFill>
            </a:endParaRPr>
          </a:p>
        </p:txBody>
      </p:sp>
    </p:spTree>
    <p:extLst>
      <p:ext uri="{BB962C8B-B14F-4D97-AF65-F5344CB8AC3E}">
        <p14:creationId xmlns:p14="http://schemas.microsoft.com/office/powerpoint/2010/main" val="15434420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4BDF1-9152-2667-9090-2D21B92F103F}"/>
              </a:ext>
            </a:extLst>
          </p:cNvPr>
          <p:cNvSpPr>
            <a:spLocks noGrp="1"/>
          </p:cNvSpPr>
          <p:nvPr>
            <p:ph type="title"/>
          </p:nvPr>
        </p:nvSpPr>
        <p:spPr/>
        <p:txBody>
          <a:bodyPr/>
          <a:lstStyle/>
          <a:p>
            <a:r>
              <a:rPr lang="en-FR" dirty="0"/>
              <a:t>III Our preliminary results – cognitive load</a:t>
            </a:r>
          </a:p>
        </p:txBody>
      </p:sp>
      <p:pic>
        <p:nvPicPr>
          <p:cNvPr id="6" name="Picture 5">
            <a:extLst>
              <a:ext uri="{FF2B5EF4-FFF2-40B4-BE49-F238E27FC236}">
                <a16:creationId xmlns:a16="http://schemas.microsoft.com/office/drawing/2014/main" id="{6CFF0A61-28B6-7B54-7C18-7373EEAD8DD3}"/>
              </a:ext>
            </a:extLst>
          </p:cNvPr>
          <p:cNvPicPr>
            <a:picLocks noChangeAspect="1"/>
          </p:cNvPicPr>
          <p:nvPr/>
        </p:nvPicPr>
        <p:blipFill>
          <a:blip r:embed="rId2"/>
          <a:stretch>
            <a:fillRect/>
          </a:stretch>
        </p:blipFill>
        <p:spPr>
          <a:xfrm>
            <a:off x="4285000" y="1825625"/>
            <a:ext cx="7315200" cy="4572000"/>
          </a:xfrm>
          <a:prstGeom prst="rect">
            <a:avLst/>
          </a:prstGeom>
        </p:spPr>
      </p:pic>
      <p:sp>
        <p:nvSpPr>
          <p:cNvPr id="4" name="TextBox 3">
            <a:extLst>
              <a:ext uri="{FF2B5EF4-FFF2-40B4-BE49-F238E27FC236}">
                <a16:creationId xmlns:a16="http://schemas.microsoft.com/office/drawing/2014/main" id="{B4E9AC33-0984-BE15-C871-77EBDE339E23}"/>
              </a:ext>
            </a:extLst>
          </p:cNvPr>
          <p:cNvSpPr txBox="1"/>
          <p:nvPr/>
        </p:nvSpPr>
        <p:spPr>
          <a:xfrm rot="16200000">
            <a:off x="3016264" y="3820766"/>
            <a:ext cx="2692245" cy="369332"/>
          </a:xfrm>
          <a:prstGeom prst="rect">
            <a:avLst/>
          </a:prstGeom>
          <a:solidFill>
            <a:schemeClr val="bg1"/>
          </a:solidFill>
        </p:spPr>
        <p:txBody>
          <a:bodyPr wrap="square" rtlCol="0">
            <a:spAutoFit/>
          </a:bodyPr>
          <a:lstStyle/>
          <a:p>
            <a:r>
              <a:rPr lang="fr-FR" dirty="0" err="1"/>
              <a:t>Choice</a:t>
            </a:r>
            <a:r>
              <a:rPr lang="fr-FR" dirty="0"/>
              <a:t> </a:t>
            </a:r>
            <a:r>
              <a:rPr lang="fr-FR" dirty="0" err="1"/>
              <a:t>deviation</a:t>
            </a:r>
            <a:r>
              <a:rPr lang="fr-FR" dirty="0"/>
              <a:t> </a:t>
            </a:r>
            <a:r>
              <a:rPr lang="fr-FR" dirty="0" err="1"/>
              <a:t>from</a:t>
            </a:r>
            <a:r>
              <a:rPr lang="fr-FR" dirty="0"/>
              <a:t> EV</a:t>
            </a:r>
          </a:p>
        </p:txBody>
      </p:sp>
      <p:sp>
        <p:nvSpPr>
          <p:cNvPr id="5" name="Rectangle 4">
            <a:extLst>
              <a:ext uri="{FF2B5EF4-FFF2-40B4-BE49-F238E27FC236}">
                <a16:creationId xmlns:a16="http://schemas.microsoft.com/office/drawing/2014/main" id="{9A1CE8CD-3101-62E6-A922-DABDBFE42986}"/>
              </a:ext>
            </a:extLst>
          </p:cNvPr>
          <p:cNvSpPr/>
          <p:nvPr/>
        </p:nvSpPr>
        <p:spPr>
          <a:xfrm>
            <a:off x="436228" y="3067050"/>
            <a:ext cx="3556932" cy="1018389"/>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fr-FR" sz="2000" dirty="0">
                <a:solidFill>
                  <a:schemeClr val="tx1"/>
                </a:solidFill>
                <a:sym typeface="Wingdings" panose="05000000000000000000" pitchFamily="2" charset="2"/>
              </a:rPr>
              <a:t>Cognitive </a:t>
            </a:r>
            <a:r>
              <a:rPr lang="fr-FR" sz="2000" dirty="0" err="1">
                <a:solidFill>
                  <a:schemeClr val="tx1"/>
                </a:solidFill>
                <a:sym typeface="Wingdings" panose="05000000000000000000" pitchFamily="2" charset="2"/>
              </a:rPr>
              <a:t>load</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does</a:t>
            </a:r>
            <a:r>
              <a:rPr lang="fr-FR" sz="2000" dirty="0">
                <a:solidFill>
                  <a:schemeClr val="tx1"/>
                </a:solidFill>
                <a:sym typeface="Wingdings" panose="05000000000000000000" pitchFamily="2" charset="2"/>
              </a:rPr>
              <a:t> not impact </a:t>
            </a:r>
            <a:r>
              <a:rPr lang="fr-FR" sz="2000" dirty="0" err="1">
                <a:solidFill>
                  <a:schemeClr val="tx1"/>
                </a:solidFill>
                <a:sym typeface="Wingdings" panose="05000000000000000000" pitchFamily="2" charset="2"/>
              </a:rPr>
              <a:t>deviations</a:t>
            </a:r>
            <a:endParaRPr lang="fr-FR" sz="2000" dirty="0">
              <a:solidFill>
                <a:schemeClr val="tx1"/>
              </a:solidFill>
            </a:endParaRPr>
          </a:p>
        </p:txBody>
      </p:sp>
    </p:spTree>
    <p:extLst>
      <p:ext uri="{BB962C8B-B14F-4D97-AF65-F5344CB8AC3E}">
        <p14:creationId xmlns:p14="http://schemas.microsoft.com/office/powerpoint/2010/main" val="16000255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BCD6B-5F86-3396-9A35-D903843FBA04}"/>
              </a:ext>
            </a:extLst>
          </p:cNvPr>
          <p:cNvSpPr>
            <a:spLocks noGrp="1"/>
          </p:cNvSpPr>
          <p:nvPr>
            <p:ph type="title"/>
          </p:nvPr>
        </p:nvSpPr>
        <p:spPr/>
        <p:txBody>
          <a:bodyPr/>
          <a:lstStyle/>
          <a:p>
            <a:r>
              <a:rPr lang="en-FR" dirty="0"/>
              <a:t>III Our preliminary results – cognitive load</a:t>
            </a:r>
          </a:p>
        </p:txBody>
      </p:sp>
      <p:sp>
        <p:nvSpPr>
          <p:cNvPr id="3" name="Content Placeholder 2">
            <a:extLst>
              <a:ext uri="{FF2B5EF4-FFF2-40B4-BE49-F238E27FC236}">
                <a16:creationId xmlns:a16="http://schemas.microsoft.com/office/drawing/2014/main" id="{9103C814-3E29-7C95-4BE5-01A45BD080A8}"/>
              </a:ext>
            </a:extLst>
          </p:cNvPr>
          <p:cNvSpPr>
            <a:spLocks noGrp="1"/>
          </p:cNvSpPr>
          <p:nvPr>
            <p:ph idx="1"/>
          </p:nvPr>
        </p:nvSpPr>
        <p:spPr/>
        <p:txBody>
          <a:bodyPr/>
          <a:lstStyle/>
          <a:p>
            <a:r>
              <a:rPr lang="en-FR" dirty="0"/>
              <a:t>However regressing mean deviation per participant (normalized and absolute) on the time taken to make their choice and on their sensitivity to cognitive load (the difference between their performance </a:t>
            </a:r>
            <a:r>
              <a:rPr lang="en-GB" dirty="0"/>
              <a:t>in the source task and their performance in the target task at the span on span part of the experiment), we see that cognitive load sensitivity increases deviations in the cognitive treatment. Its main effect is counterbalanced with a negative interaction with time spent on the choices: when participants spend time on the task, the effect of cognitive load tends to disappear.</a:t>
            </a:r>
            <a:endParaRPr lang="en-FR" dirty="0"/>
          </a:p>
        </p:txBody>
      </p:sp>
    </p:spTree>
    <p:extLst>
      <p:ext uri="{BB962C8B-B14F-4D97-AF65-F5344CB8AC3E}">
        <p14:creationId xmlns:p14="http://schemas.microsoft.com/office/powerpoint/2010/main" val="32039568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6661D-0B55-0CB1-4948-F272BD832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89B9CE-3BB8-7A61-57BF-7B3A1086D6C9}"/>
              </a:ext>
            </a:extLst>
          </p:cNvPr>
          <p:cNvSpPr>
            <a:spLocks noGrp="1"/>
          </p:cNvSpPr>
          <p:nvPr>
            <p:ph type="title"/>
          </p:nvPr>
        </p:nvSpPr>
        <p:spPr>
          <a:xfrm>
            <a:off x="444061" y="244486"/>
            <a:ext cx="3166241" cy="2213565"/>
          </a:xfrm>
        </p:spPr>
        <p:txBody>
          <a:bodyPr>
            <a:normAutofit fontScale="90000"/>
          </a:bodyPr>
          <a:lstStyle/>
          <a:p>
            <a:r>
              <a:rPr lang="en-FR" dirty="0"/>
              <a:t>III Our preliminary results – cognitive load</a:t>
            </a:r>
          </a:p>
        </p:txBody>
      </p:sp>
      <p:pic>
        <p:nvPicPr>
          <p:cNvPr id="10" name="Picture 9">
            <a:extLst>
              <a:ext uri="{FF2B5EF4-FFF2-40B4-BE49-F238E27FC236}">
                <a16:creationId xmlns:a16="http://schemas.microsoft.com/office/drawing/2014/main" id="{704318A3-949C-E3CA-643E-6D9B8FE43698}"/>
              </a:ext>
            </a:extLst>
          </p:cNvPr>
          <p:cNvPicPr>
            <a:picLocks noChangeAspect="1"/>
          </p:cNvPicPr>
          <p:nvPr/>
        </p:nvPicPr>
        <p:blipFill>
          <a:blip r:embed="rId2"/>
          <a:stretch>
            <a:fillRect/>
          </a:stretch>
        </p:blipFill>
        <p:spPr>
          <a:xfrm>
            <a:off x="3962400" y="0"/>
            <a:ext cx="8229600" cy="6858000"/>
          </a:xfrm>
          <a:prstGeom prst="rect">
            <a:avLst/>
          </a:prstGeom>
        </p:spPr>
      </p:pic>
      <p:sp>
        <p:nvSpPr>
          <p:cNvPr id="4" name="TextBox 3">
            <a:extLst>
              <a:ext uri="{FF2B5EF4-FFF2-40B4-BE49-F238E27FC236}">
                <a16:creationId xmlns:a16="http://schemas.microsoft.com/office/drawing/2014/main" id="{0F03A122-3DFD-3D86-49F9-6F30B17023C5}"/>
              </a:ext>
            </a:extLst>
          </p:cNvPr>
          <p:cNvSpPr txBox="1"/>
          <p:nvPr/>
        </p:nvSpPr>
        <p:spPr>
          <a:xfrm>
            <a:off x="260800" y="2756847"/>
            <a:ext cx="3532762" cy="369332"/>
          </a:xfrm>
          <a:prstGeom prst="rect">
            <a:avLst/>
          </a:prstGeom>
          <a:noFill/>
        </p:spPr>
        <p:txBody>
          <a:bodyPr wrap="none" rtlCol="0">
            <a:spAutoFit/>
          </a:bodyPr>
          <a:lstStyle/>
          <a:p>
            <a:r>
              <a:rPr lang="en-FR" dirty="0"/>
              <a:t>cognitive load sensitivity measure</a:t>
            </a:r>
          </a:p>
        </p:txBody>
      </p:sp>
      <p:cxnSp>
        <p:nvCxnSpPr>
          <p:cNvPr id="6" name="Straight Arrow Connector 5">
            <a:extLst>
              <a:ext uri="{FF2B5EF4-FFF2-40B4-BE49-F238E27FC236}">
                <a16:creationId xmlns:a16="http://schemas.microsoft.com/office/drawing/2014/main" id="{F1247F8B-3BEA-DEA1-971A-D9B1ACABECD3}"/>
              </a:ext>
            </a:extLst>
          </p:cNvPr>
          <p:cNvCxnSpPr>
            <a:cxnSpLocks/>
            <a:stCxn id="4" idx="0"/>
          </p:cNvCxnSpPr>
          <p:nvPr/>
        </p:nvCxnSpPr>
        <p:spPr>
          <a:xfrm flipV="1">
            <a:off x="2027181" y="1933723"/>
            <a:ext cx="2503391" cy="82312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 name="Rectangle 7">
            <a:extLst>
              <a:ext uri="{FF2B5EF4-FFF2-40B4-BE49-F238E27FC236}">
                <a16:creationId xmlns:a16="http://schemas.microsoft.com/office/drawing/2014/main" id="{8B64D4DA-5227-ABF2-36DA-9E57B709EDFB}"/>
              </a:ext>
            </a:extLst>
          </p:cNvPr>
          <p:cNvSpPr/>
          <p:nvPr/>
        </p:nvSpPr>
        <p:spPr>
          <a:xfrm>
            <a:off x="6568067" y="557561"/>
            <a:ext cx="2394481" cy="151656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9" name="Straight Arrow Connector 8">
            <a:extLst>
              <a:ext uri="{FF2B5EF4-FFF2-40B4-BE49-F238E27FC236}">
                <a16:creationId xmlns:a16="http://schemas.microsoft.com/office/drawing/2014/main" id="{9A508B35-80CF-AAD3-F1C8-B616FA9BE9F5}"/>
              </a:ext>
            </a:extLst>
          </p:cNvPr>
          <p:cNvCxnSpPr>
            <a:cxnSpLocks/>
            <a:stCxn id="12" idx="3"/>
          </p:cNvCxnSpPr>
          <p:nvPr/>
        </p:nvCxnSpPr>
        <p:spPr>
          <a:xfrm flipV="1">
            <a:off x="2231556" y="5118410"/>
            <a:ext cx="2875703" cy="8151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9FAC1290-D454-9F85-E8EE-10C238F97666}"/>
              </a:ext>
            </a:extLst>
          </p:cNvPr>
          <p:cNvSpPr txBox="1"/>
          <p:nvPr/>
        </p:nvSpPr>
        <p:spPr>
          <a:xfrm>
            <a:off x="211586" y="5610394"/>
            <a:ext cx="2019970" cy="646331"/>
          </a:xfrm>
          <a:prstGeom prst="rect">
            <a:avLst/>
          </a:prstGeom>
          <a:noFill/>
        </p:spPr>
        <p:txBody>
          <a:bodyPr wrap="square" rtlCol="0">
            <a:spAutoFit/>
          </a:bodyPr>
          <a:lstStyle/>
          <a:p>
            <a:r>
              <a:rPr lang="en-GB" dirty="0"/>
              <a:t>T</a:t>
            </a:r>
            <a:r>
              <a:rPr lang="en-FR" dirty="0"/>
              <a:t>ime spent on the MPLs</a:t>
            </a:r>
          </a:p>
        </p:txBody>
      </p:sp>
      <p:cxnSp>
        <p:nvCxnSpPr>
          <p:cNvPr id="15" name="Straight Arrow Connector 14">
            <a:extLst>
              <a:ext uri="{FF2B5EF4-FFF2-40B4-BE49-F238E27FC236}">
                <a16:creationId xmlns:a16="http://schemas.microsoft.com/office/drawing/2014/main" id="{05FC06A7-81FF-3931-1571-D57359210A8A}"/>
              </a:ext>
            </a:extLst>
          </p:cNvPr>
          <p:cNvCxnSpPr>
            <a:cxnSpLocks/>
            <a:stCxn id="18" idx="3"/>
          </p:cNvCxnSpPr>
          <p:nvPr/>
        </p:nvCxnSpPr>
        <p:spPr>
          <a:xfrm>
            <a:off x="2657202" y="6653041"/>
            <a:ext cx="2450057" cy="3952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8" name="TextBox 17">
            <a:extLst>
              <a:ext uri="{FF2B5EF4-FFF2-40B4-BE49-F238E27FC236}">
                <a16:creationId xmlns:a16="http://schemas.microsoft.com/office/drawing/2014/main" id="{287E09E7-C7A5-271C-6F40-2D69EA052D05}"/>
              </a:ext>
            </a:extLst>
          </p:cNvPr>
          <p:cNvSpPr txBox="1"/>
          <p:nvPr/>
        </p:nvSpPr>
        <p:spPr>
          <a:xfrm>
            <a:off x="0" y="6468375"/>
            <a:ext cx="2657202" cy="369332"/>
          </a:xfrm>
          <a:prstGeom prst="rect">
            <a:avLst/>
          </a:prstGeom>
          <a:noFill/>
        </p:spPr>
        <p:txBody>
          <a:bodyPr wrap="none" rtlCol="0">
            <a:spAutoFit/>
          </a:bodyPr>
          <a:lstStyle/>
          <a:p>
            <a:r>
              <a:rPr lang="en-GB" dirty="0"/>
              <a:t>M</a:t>
            </a:r>
            <a:r>
              <a:rPr lang="en-FR" dirty="0"/>
              <a:t>aximum span achieved</a:t>
            </a:r>
          </a:p>
        </p:txBody>
      </p:sp>
      <p:sp>
        <p:nvSpPr>
          <p:cNvPr id="7" name="Rectangle 6">
            <a:extLst>
              <a:ext uri="{FF2B5EF4-FFF2-40B4-BE49-F238E27FC236}">
                <a16:creationId xmlns:a16="http://schemas.microsoft.com/office/drawing/2014/main" id="{F9CA19A1-1AC4-3F3A-51CF-C77A0167D57C}"/>
              </a:ext>
            </a:extLst>
          </p:cNvPr>
          <p:cNvSpPr/>
          <p:nvPr/>
        </p:nvSpPr>
        <p:spPr>
          <a:xfrm>
            <a:off x="229419" y="3271318"/>
            <a:ext cx="3556932" cy="2246401"/>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fr-FR" sz="2000" dirty="0">
                <a:solidFill>
                  <a:schemeClr val="tx1"/>
                </a:solidFill>
                <a:sym typeface="Wingdings" panose="05000000000000000000" pitchFamily="2" charset="2"/>
              </a:rPr>
              <a:t>Cognitive </a:t>
            </a:r>
            <a:r>
              <a:rPr lang="fr-FR" sz="2000" dirty="0" err="1">
                <a:solidFill>
                  <a:schemeClr val="tx1"/>
                </a:solidFill>
                <a:sym typeface="Wingdings" panose="05000000000000000000" pitchFamily="2" charset="2"/>
              </a:rPr>
              <a:t>load</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sensitivity</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is</a:t>
            </a:r>
            <a:r>
              <a:rPr lang="fr-FR" sz="2000" dirty="0">
                <a:solidFill>
                  <a:schemeClr val="tx1"/>
                </a:solidFill>
                <a:sym typeface="Wingdings" panose="05000000000000000000" pitchFamily="2" charset="2"/>
              </a:rPr>
              <a:t> not </a:t>
            </a:r>
            <a:r>
              <a:rPr lang="fr-FR" sz="2000" dirty="0" err="1">
                <a:solidFill>
                  <a:schemeClr val="tx1"/>
                </a:solidFill>
                <a:sym typeface="Wingdings" panose="05000000000000000000" pitchFamily="2" charset="2"/>
              </a:rPr>
              <a:t>correlated</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with</a:t>
            </a:r>
            <a:r>
              <a:rPr lang="fr-FR" sz="2000" dirty="0">
                <a:solidFill>
                  <a:schemeClr val="tx1"/>
                </a:solidFill>
                <a:sym typeface="Wingdings" panose="05000000000000000000" pitchFamily="2" charset="2"/>
              </a:rPr>
              <a:t> </a:t>
            </a:r>
            <a:r>
              <a:rPr lang="fr-FR" sz="2000" b="1" dirty="0" err="1">
                <a:solidFill>
                  <a:schemeClr val="tx1"/>
                </a:solidFill>
                <a:sym typeface="Wingdings" panose="05000000000000000000" pitchFamily="2" charset="2"/>
              </a:rPr>
              <a:t>normalized</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deviations</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when</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pooling</a:t>
            </a:r>
            <a:r>
              <a:rPr lang="fr-FR" sz="2000" dirty="0">
                <a:solidFill>
                  <a:schemeClr val="tx1"/>
                </a:solidFill>
                <a:sym typeface="Wingdings" panose="05000000000000000000" pitchFamily="2" charset="2"/>
              </a:rPr>
              <a:t> all participants </a:t>
            </a:r>
            <a:r>
              <a:rPr lang="fr-FR" sz="2000" dirty="0" err="1">
                <a:solidFill>
                  <a:schemeClr val="tx1"/>
                </a:solidFill>
                <a:sym typeface="Wingdings" panose="05000000000000000000" pitchFamily="2" charset="2"/>
              </a:rPr>
              <a:t>from</a:t>
            </a:r>
            <a:r>
              <a:rPr lang="fr-FR" sz="2000" dirty="0">
                <a:solidFill>
                  <a:schemeClr val="tx1"/>
                </a:solidFill>
                <a:sym typeface="Wingdings" panose="05000000000000000000" pitchFamily="2" charset="2"/>
              </a:rPr>
              <a:t> the cognitive </a:t>
            </a:r>
            <a:r>
              <a:rPr lang="fr-FR" sz="2000" dirty="0" err="1">
                <a:solidFill>
                  <a:schemeClr val="tx1"/>
                </a:solidFill>
                <a:sym typeface="Wingdings" panose="05000000000000000000" pitchFamily="2" charset="2"/>
              </a:rPr>
              <a:t>load</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treatment</a:t>
            </a:r>
            <a:endParaRPr lang="fr-FR" sz="2000" dirty="0">
              <a:solidFill>
                <a:schemeClr val="tx1"/>
              </a:solidFill>
            </a:endParaRPr>
          </a:p>
        </p:txBody>
      </p:sp>
    </p:spTree>
    <p:extLst>
      <p:ext uri="{BB962C8B-B14F-4D97-AF65-F5344CB8AC3E}">
        <p14:creationId xmlns:p14="http://schemas.microsoft.com/office/powerpoint/2010/main" val="24227103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8E00A-2535-1125-FBE2-9C4C62C27C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0BFC00-B077-30A2-2239-02D7B997178E}"/>
              </a:ext>
            </a:extLst>
          </p:cNvPr>
          <p:cNvSpPr>
            <a:spLocks noGrp="1"/>
          </p:cNvSpPr>
          <p:nvPr>
            <p:ph type="title"/>
          </p:nvPr>
        </p:nvSpPr>
        <p:spPr>
          <a:xfrm>
            <a:off x="444061" y="244486"/>
            <a:ext cx="3166241" cy="2213565"/>
          </a:xfrm>
        </p:spPr>
        <p:txBody>
          <a:bodyPr>
            <a:normAutofit fontScale="90000"/>
          </a:bodyPr>
          <a:lstStyle/>
          <a:p>
            <a:r>
              <a:rPr lang="en-FR" dirty="0"/>
              <a:t>III Our preliminary results – cognitive load</a:t>
            </a:r>
          </a:p>
        </p:txBody>
      </p:sp>
      <p:sp>
        <p:nvSpPr>
          <p:cNvPr id="3" name="Content Placeholder 2">
            <a:extLst>
              <a:ext uri="{FF2B5EF4-FFF2-40B4-BE49-F238E27FC236}">
                <a16:creationId xmlns:a16="http://schemas.microsoft.com/office/drawing/2014/main" id="{DB273D24-9784-FF3D-26F2-5A78BA8FD6F7}"/>
              </a:ext>
            </a:extLst>
          </p:cNvPr>
          <p:cNvSpPr>
            <a:spLocks noGrp="1"/>
          </p:cNvSpPr>
          <p:nvPr>
            <p:ph idx="1"/>
          </p:nvPr>
        </p:nvSpPr>
        <p:spPr>
          <a:xfrm>
            <a:off x="444061" y="2854711"/>
            <a:ext cx="3166241" cy="2018371"/>
          </a:xfrm>
        </p:spPr>
        <p:txBody>
          <a:bodyPr>
            <a:normAutofit fontScale="92500"/>
          </a:bodyPr>
          <a:lstStyle/>
          <a:p>
            <a:pPr marL="0" indent="0">
              <a:buNone/>
            </a:pPr>
            <a:r>
              <a:rPr lang="en-FR" sz="2200" dirty="0"/>
              <a:t>Median split on rtChoice (subjects that choose on average in less than 13.5s) to examine a potential interaction effect between cognitive load sensitivity and rtChoice</a:t>
            </a:r>
          </a:p>
        </p:txBody>
      </p:sp>
      <p:pic>
        <p:nvPicPr>
          <p:cNvPr id="5" name="Picture 4">
            <a:extLst>
              <a:ext uri="{FF2B5EF4-FFF2-40B4-BE49-F238E27FC236}">
                <a16:creationId xmlns:a16="http://schemas.microsoft.com/office/drawing/2014/main" id="{23786091-798E-BFFF-A05E-44A8E2968204}"/>
              </a:ext>
            </a:extLst>
          </p:cNvPr>
          <p:cNvPicPr>
            <a:picLocks noChangeAspect="1"/>
          </p:cNvPicPr>
          <p:nvPr/>
        </p:nvPicPr>
        <p:blipFill>
          <a:blip r:embed="rId3"/>
          <a:stretch>
            <a:fillRect/>
          </a:stretch>
        </p:blipFill>
        <p:spPr>
          <a:xfrm>
            <a:off x="4056071" y="78059"/>
            <a:ext cx="8135929" cy="6779941"/>
          </a:xfrm>
          <a:prstGeom prst="rect">
            <a:avLst/>
          </a:prstGeom>
        </p:spPr>
      </p:pic>
      <p:sp>
        <p:nvSpPr>
          <p:cNvPr id="7" name="Rectangle 6">
            <a:extLst>
              <a:ext uri="{FF2B5EF4-FFF2-40B4-BE49-F238E27FC236}">
                <a16:creationId xmlns:a16="http://schemas.microsoft.com/office/drawing/2014/main" id="{289A2B20-7AE0-1D42-0087-A172AE8BA706}"/>
              </a:ext>
            </a:extLst>
          </p:cNvPr>
          <p:cNvSpPr/>
          <p:nvPr/>
        </p:nvSpPr>
        <p:spPr>
          <a:xfrm>
            <a:off x="6568067" y="557561"/>
            <a:ext cx="2394481" cy="154328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7A748EFE-BCE0-29DA-9B95-68BDE1D199D6}"/>
              </a:ext>
            </a:extLst>
          </p:cNvPr>
          <p:cNvSpPr/>
          <p:nvPr/>
        </p:nvSpPr>
        <p:spPr>
          <a:xfrm>
            <a:off x="444061" y="4873082"/>
            <a:ext cx="3556932" cy="1906859"/>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fr-FR" sz="2000" dirty="0">
                <a:solidFill>
                  <a:schemeClr val="tx1"/>
                </a:solidFill>
                <a:sym typeface="Wingdings" panose="05000000000000000000" pitchFamily="2" charset="2"/>
              </a:rPr>
              <a:t></a:t>
            </a:r>
            <a:r>
              <a:rPr lang="fr-FR" sz="2000" dirty="0" err="1">
                <a:solidFill>
                  <a:schemeClr val="tx1"/>
                </a:solidFill>
                <a:sym typeface="Wingdings" panose="05000000000000000000" pitchFamily="2" charset="2"/>
              </a:rPr>
              <a:t>Sensitivity</a:t>
            </a:r>
            <a:r>
              <a:rPr lang="fr-FR" sz="2000" dirty="0">
                <a:solidFill>
                  <a:schemeClr val="tx1"/>
                </a:solidFill>
                <a:sym typeface="Wingdings" panose="05000000000000000000" pitchFamily="2" charset="2"/>
              </a:rPr>
              <a:t> to cognitive </a:t>
            </a:r>
            <a:r>
              <a:rPr lang="fr-FR" sz="2000" dirty="0" err="1">
                <a:solidFill>
                  <a:schemeClr val="tx1"/>
                </a:solidFill>
                <a:sym typeface="Wingdings" panose="05000000000000000000" pitchFamily="2" charset="2"/>
              </a:rPr>
              <a:t>load</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is</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positively</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correlated</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with</a:t>
            </a:r>
            <a:r>
              <a:rPr lang="fr-FR" sz="2000" dirty="0">
                <a:solidFill>
                  <a:schemeClr val="tx1"/>
                </a:solidFill>
                <a:sym typeface="Wingdings" panose="05000000000000000000" pitchFamily="2" charset="2"/>
              </a:rPr>
              <a:t> </a:t>
            </a:r>
            <a:r>
              <a:rPr lang="fr-FR" sz="2000" b="1" dirty="0" err="1">
                <a:solidFill>
                  <a:schemeClr val="tx1"/>
                </a:solidFill>
                <a:sym typeface="Wingdings" panose="05000000000000000000" pitchFamily="2" charset="2"/>
              </a:rPr>
              <a:t>normalized</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deviations</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when</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mean</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rtChoice</a:t>
            </a:r>
            <a:r>
              <a:rPr lang="fr-FR" sz="2000" dirty="0">
                <a:solidFill>
                  <a:schemeClr val="tx1"/>
                </a:solidFill>
                <a:sym typeface="Wingdings" panose="05000000000000000000" pitchFamily="2" charset="2"/>
              </a:rPr>
              <a:t> &lt;13.5s</a:t>
            </a:r>
            <a:endParaRPr lang="fr-FR" sz="2000" dirty="0">
              <a:solidFill>
                <a:schemeClr val="tx1"/>
              </a:solidFill>
            </a:endParaRPr>
          </a:p>
        </p:txBody>
      </p:sp>
    </p:spTree>
    <p:extLst>
      <p:ext uri="{BB962C8B-B14F-4D97-AF65-F5344CB8AC3E}">
        <p14:creationId xmlns:p14="http://schemas.microsoft.com/office/powerpoint/2010/main" val="14785088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2E870-812F-4D82-F697-DF257C2FFD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DB2FF0-63E5-AA47-9542-449133AE67BE}"/>
              </a:ext>
            </a:extLst>
          </p:cNvPr>
          <p:cNvSpPr>
            <a:spLocks noGrp="1"/>
          </p:cNvSpPr>
          <p:nvPr>
            <p:ph type="title"/>
          </p:nvPr>
        </p:nvSpPr>
        <p:spPr>
          <a:xfrm>
            <a:off x="444061" y="244486"/>
            <a:ext cx="3166241" cy="2213565"/>
          </a:xfrm>
        </p:spPr>
        <p:txBody>
          <a:bodyPr>
            <a:normAutofit fontScale="90000"/>
          </a:bodyPr>
          <a:lstStyle/>
          <a:p>
            <a:r>
              <a:rPr lang="en-FR" dirty="0"/>
              <a:t>III Our preliminary results – cognitive load</a:t>
            </a:r>
          </a:p>
        </p:txBody>
      </p:sp>
      <p:sp>
        <p:nvSpPr>
          <p:cNvPr id="3" name="Content Placeholder 2">
            <a:extLst>
              <a:ext uri="{FF2B5EF4-FFF2-40B4-BE49-F238E27FC236}">
                <a16:creationId xmlns:a16="http://schemas.microsoft.com/office/drawing/2014/main" id="{3A728F49-2BE6-3339-31C0-60DC4EB505A3}"/>
              </a:ext>
            </a:extLst>
          </p:cNvPr>
          <p:cNvSpPr>
            <a:spLocks noGrp="1"/>
          </p:cNvSpPr>
          <p:nvPr>
            <p:ph idx="1"/>
          </p:nvPr>
        </p:nvSpPr>
        <p:spPr>
          <a:xfrm>
            <a:off x="838199" y="2798956"/>
            <a:ext cx="2772103" cy="2007220"/>
          </a:xfrm>
        </p:spPr>
        <p:txBody>
          <a:bodyPr>
            <a:normAutofit/>
          </a:bodyPr>
          <a:lstStyle/>
          <a:p>
            <a:pPr marL="0" indent="0">
              <a:buNone/>
            </a:pPr>
            <a:r>
              <a:rPr lang="en-FR" sz="2200" dirty="0"/>
              <a:t>The negative correlation between cognitive load sensitivity and deviations is due to two outliers</a:t>
            </a:r>
          </a:p>
        </p:txBody>
      </p:sp>
      <p:sp>
        <p:nvSpPr>
          <p:cNvPr id="4" name="Rectangle 3">
            <a:extLst>
              <a:ext uri="{FF2B5EF4-FFF2-40B4-BE49-F238E27FC236}">
                <a16:creationId xmlns:a16="http://schemas.microsoft.com/office/drawing/2014/main" id="{1A2CF072-74E7-CED9-10F7-C2CFFB0DFDD9}"/>
              </a:ext>
            </a:extLst>
          </p:cNvPr>
          <p:cNvSpPr/>
          <p:nvPr/>
        </p:nvSpPr>
        <p:spPr>
          <a:xfrm>
            <a:off x="444061" y="4917689"/>
            <a:ext cx="3518339" cy="1695826"/>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fr-FR" sz="2000" dirty="0">
                <a:solidFill>
                  <a:schemeClr val="tx1"/>
                </a:solidFill>
                <a:sym typeface="Wingdings" panose="05000000000000000000" pitchFamily="2" charset="2"/>
              </a:rPr>
              <a:t>No </a:t>
            </a:r>
            <a:r>
              <a:rPr lang="fr-FR" sz="2000" dirty="0" err="1">
                <a:solidFill>
                  <a:schemeClr val="tx1"/>
                </a:solidFill>
                <a:sym typeface="Wingdings" panose="05000000000000000000" pitchFamily="2" charset="2"/>
              </a:rPr>
              <a:t>correlation</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between</a:t>
            </a:r>
            <a:r>
              <a:rPr lang="fr-FR" sz="2000" dirty="0">
                <a:solidFill>
                  <a:schemeClr val="tx1"/>
                </a:solidFill>
                <a:sym typeface="Wingdings" panose="05000000000000000000" pitchFamily="2" charset="2"/>
              </a:rPr>
              <a:t> cognitive </a:t>
            </a:r>
            <a:r>
              <a:rPr lang="fr-FR" sz="2000" dirty="0" err="1">
                <a:solidFill>
                  <a:schemeClr val="tx1"/>
                </a:solidFill>
                <a:sym typeface="Wingdings" panose="05000000000000000000" pitchFamily="2" charset="2"/>
              </a:rPr>
              <a:t>load</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sensitivity</a:t>
            </a:r>
            <a:r>
              <a:rPr lang="fr-FR" sz="2000" dirty="0">
                <a:solidFill>
                  <a:schemeClr val="tx1"/>
                </a:solidFill>
                <a:sym typeface="Wingdings" panose="05000000000000000000" pitchFamily="2" charset="2"/>
              </a:rPr>
              <a:t> on </a:t>
            </a:r>
            <a:r>
              <a:rPr lang="fr-FR" sz="2000" b="1" dirty="0" err="1">
                <a:solidFill>
                  <a:schemeClr val="tx1"/>
                </a:solidFill>
                <a:sym typeface="Wingdings" panose="05000000000000000000" pitchFamily="2" charset="2"/>
              </a:rPr>
              <a:t>normalized</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deviations</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when</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mean</a:t>
            </a:r>
            <a:r>
              <a:rPr lang="fr-FR" sz="2000" dirty="0">
                <a:solidFill>
                  <a:schemeClr val="tx1"/>
                </a:solidFill>
                <a:sym typeface="Wingdings" panose="05000000000000000000" pitchFamily="2" charset="2"/>
              </a:rPr>
              <a:t> </a:t>
            </a:r>
            <a:r>
              <a:rPr lang="fr-FR" sz="2000">
                <a:solidFill>
                  <a:schemeClr val="tx1"/>
                </a:solidFill>
                <a:sym typeface="Wingdings" panose="05000000000000000000" pitchFamily="2" charset="2"/>
              </a:rPr>
              <a:t>rtChoice</a:t>
            </a:r>
            <a:r>
              <a:rPr lang="fr-FR" sz="2000" dirty="0">
                <a:solidFill>
                  <a:schemeClr val="tx1"/>
                </a:solidFill>
                <a:sym typeface="Wingdings" panose="05000000000000000000" pitchFamily="2" charset="2"/>
              </a:rPr>
              <a:t> &gt;13.5s</a:t>
            </a:r>
            <a:endParaRPr lang="fr-FR" sz="2000" dirty="0">
              <a:solidFill>
                <a:schemeClr val="tx1"/>
              </a:solidFill>
            </a:endParaRPr>
          </a:p>
        </p:txBody>
      </p:sp>
      <p:pic>
        <p:nvPicPr>
          <p:cNvPr id="8" name="Picture 7">
            <a:extLst>
              <a:ext uri="{FF2B5EF4-FFF2-40B4-BE49-F238E27FC236}">
                <a16:creationId xmlns:a16="http://schemas.microsoft.com/office/drawing/2014/main" id="{D9FC1C9D-A545-1586-41A4-E7865523FACE}"/>
              </a:ext>
            </a:extLst>
          </p:cNvPr>
          <p:cNvPicPr>
            <a:picLocks noChangeAspect="1"/>
          </p:cNvPicPr>
          <p:nvPr/>
        </p:nvPicPr>
        <p:blipFill>
          <a:blip r:embed="rId3"/>
          <a:stretch>
            <a:fillRect/>
          </a:stretch>
        </p:blipFill>
        <p:spPr>
          <a:xfrm>
            <a:off x="3962400" y="0"/>
            <a:ext cx="8229600" cy="6858000"/>
          </a:xfrm>
          <a:prstGeom prst="rect">
            <a:avLst/>
          </a:prstGeom>
        </p:spPr>
      </p:pic>
    </p:spTree>
    <p:extLst>
      <p:ext uri="{BB962C8B-B14F-4D97-AF65-F5344CB8AC3E}">
        <p14:creationId xmlns:p14="http://schemas.microsoft.com/office/powerpoint/2010/main" val="33086531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4D539-AF87-0CC3-0FF2-459F925AE9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560D05-88A7-0F2D-B51D-2BDBA7DF05FB}"/>
              </a:ext>
            </a:extLst>
          </p:cNvPr>
          <p:cNvSpPr>
            <a:spLocks noGrp="1"/>
          </p:cNvSpPr>
          <p:nvPr>
            <p:ph type="title"/>
          </p:nvPr>
        </p:nvSpPr>
        <p:spPr>
          <a:xfrm>
            <a:off x="444061" y="244486"/>
            <a:ext cx="3166241" cy="2213565"/>
          </a:xfrm>
        </p:spPr>
        <p:txBody>
          <a:bodyPr>
            <a:normAutofit fontScale="90000"/>
          </a:bodyPr>
          <a:lstStyle/>
          <a:p>
            <a:r>
              <a:rPr lang="en-FR" dirty="0"/>
              <a:t>III Our preliminary results – cognitive load</a:t>
            </a:r>
          </a:p>
        </p:txBody>
      </p:sp>
      <p:pic>
        <p:nvPicPr>
          <p:cNvPr id="5" name="Picture 4">
            <a:extLst>
              <a:ext uri="{FF2B5EF4-FFF2-40B4-BE49-F238E27FC236}">
                <a16:creationId xmlns:a16="http://schemas.microsoft.com/office/drawing/2014/main" id="{2412AFEF-9258-1125-F94C-70B4E86F1037}"/>
              </a:ext>
            </a:extLst>
          </p:cNvPr>
          <p:cNvPicPr>
            <a:picLocks noChangeAspect="1"/>
          </p:cNvPicPr>
          <p:nvPr/>
        </p:nvPicPr>
        <p:blipFill>
          <a:blip r:embed="rId3"/>
          <a:stretch>
            <a:fillRect/>
          </a:stretch>
        </p:blipFill>
        <p:spPr>
          <a:xfrm>
            <a:off x="4419600" y="381000"/>
            <a:ext cx="7772400" cy="6477000"/>
          </a:xfrm>
          <a:prstGeom prst="rect">
            <a:avLst/>
          </a:prstGeom>
        </p:spPr>
      </p:pic>
      <p:sp>
        <p:nvSpPr>
          <p:cNvPr id="7" name="Rectangle 6">
            <a:extLst>
              <a:ext uri="{FF2B5EF4-FFF2-40B4-BE49-F238E27FC236}">
                <a16:creationId xmlns:a16="http://schemas.microsoft.com/office/drawing/2014/main" id="{B73F88C9-1E97-8137-55F1-291DF7849A9B}"/>
              </a:ext>
            </a:extLst>
          </p:cNvPr>
          <p:cNvSpPr/>
          <p:nvPr/>
        </p:nvSpPr>
        <p:spPr>
          <a:xfrm>
            <a:off x="4419600" y="3813717"/>
            <a:ext cx="6976241" cy="14809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F2C56425-DD2F-CA82-3451-1BA862A98217}"/>
              </a:ext>
            </a:extLst>
          </p:cNvPr>
          <p:cNvSpPr/>
          <p:nvPr/>
        </p:nvSpPr>
        <p:spPr>
          <a:xfrm>
            <a:off x="444061" y="3133493"/>
            <a:ext cx="3737646" cy="221356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fr-FR" sz="2000" dirty="0">
                <a:solidFill>
                  <a:schemeClr val="tx1"/>
                </a:solidFill>
                <a:sym typeface="Wingdings" panose="05000000000000000000" pitchFamily="2" charset="2"/>
              </a:rPr>
              <a:t> no </a:t>
            </a:r>
            <a:r>
              <a:rPr lang="fr-FR" sz="2000" dirty="0" err="1">
                <a:solidFill>
                  <a:schemeClr val="tx1"/>
                </a:solidFill>
                <a:sym typeface="Wingdings" panose="05000000000000000000" pitchFamily="2" charset="2"/>
              </a:rPr>
              <a:t>correlation</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between</a:t>
            </a:r>
            <a:r>
              <a:rPr lang="fr-FR" sz="2000" dirty="0">
                <a:solidFill>
                  <a:schemeClr val="tx1"/>
                </a:solidFill>
                <a:sym typeface="Wingdings" panose="05000000000000000000" pitchFamily="2" charset="2"/>
              </a:rPr>
              <a:t> cognitive </a:t>
            </a:r>
            <a:r>
              <a:rPr lang="fr-FR" sz="2000" dirty="0" err="1">
                <a:solidFill>
                  <a:schemeClr val="tx1"/>
                </a:solidFill>
                <a:sym typeface="Wingdings" panose="05000000000000000000" pitchFamily="2" charset="2"/>
              </a:rPr>
              <a:t>load</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sensitivity</a:t>
            </a:r>
            <a:r>
              <a:rPr lang="fr-FR" sz="2000" dirty="0">
                <a:solidFill>
                  <a:schemeClr val="tx1"/>
                </a:solidFill>
                <a:sym typeface="Wingdings" panose="05000000000000000000" pitchFamily="2" charset="2"/>
              </a:rPr>
              <a:t> and </a:t>
            </a:r>
            <a:r>
              <a:rPr lang="fr-FR" sz="2000" b="1" dirty="0" err="1">
                <a:solidFill>
                  <a:schemeClr val="tx1"/>
                </a:solidFill>
                <a:sym typeface="Wingdings" panose="05000000000000000000" pitchFamily="2" charset="2"/>
              </a:rPr>
              <a:t>absolute</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deviations</a:t>
            </a:r>
            <a:endParaRPr lang="fr-FR" sz="2000" dirty="0">
              <a:solidFill>
                <a:schemeClr val="tx1"/>
              </a:solidFill>
              <a:sym typeface="Wingdings" panose="05000000000000000000" pitchFamily="2" charset="2"/>
            </a:endParaRPr>
          </a:p>
          <a:p>
            <a:pPr lvl="1"/>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rtChoice</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is</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negatively</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correlated</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with</a:t>
            </a:r>
            <a:r>
              <a:rPr lang="fr-FR" sz="2000" dirty="0">
                <a:solidFill>
                  <a:schemeClr val="tx1"/>
                </a:solidFill>
                <a:sym typeface="Wingdings" panose="05000000000000000000" pitchFamily="2" charset="2"/>
              </a:rPr>
              <a:t> </a:t>
            </a:r>
            <a:r>
              <a:rPr lang="fr-FR" sz="2000" b="1" dirty="0" err="1">
                <a:solidFill>
                  <a:schemeClr val="tx1"/>
                </a:solidFill>
                <a:sym typeface="Wingdings" panose="05000000000000000000" pitchFamily="2" charset="2"/>
              </a:rPr>
              <a:t>absolute</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deviations</a:t>
            </a:r>
            <a:endParaRPr lang="fr-FR" sz="2000" dirty="0">
              <a:solidFill>
                <a:schemeClr val="tx1"/>
              </a:solidFill>
            </a:endParaRPr>
          </a:p>
        </p:txBody>
      </p:sp>
    </p:spTree>
    <p:extLst>
      <p:ext uri="{BB962C8B-B14F-4D97-AF65-F5344CB8AC3E}">
        <p14:creationId xmlns:p14="http://schemas.microsoft.com/office/powerpoint/2010/main" val="39788259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868FE-EEDC-0D26-4083-E67C727226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5E30FB-0050-B05B-762A-EB2C0F5E71B3}"/>
              </a:ext>
            </a:extLst>
          </p:cNvPr>
          <p:cNvSpPr>
            <a:spLocks noGrp="1"/>
          </p:cNvSpPr>
          <p:nvPr>
            <p:ph type="title"/>
          </p:nvPr>
        </p:nvSpPr>
        <p:spPr>
          <a:xfrm>
            <a:off x="444061" y="244486"/>
            <a:ext cx="3166241" cy="2213565"/>
          </a:xfrm>
        </p:spPr>
        <p:txBody>
          <a:bodyPr>
            <a:normAutofit fontScale="90000"/>
          </a:bodyPr>
          <a:lstStyle/>
          <a:p>
            <a:r>
              <a:rPr lang="en-FR" dirty="0"/>
              <a:t>III Our preliminary results – cognitive load</a:t>
            </a:r>
          </a:p>
        </p:txBody>
      </p:sp>
      <p:sp>
        <p:nvSpPr>
          <p:cNvPr id="3" name="Content Placeholder 2">
            <a:extLst>
              <a:ext uri="{FF2B5EF4-FFF2-40B4-BE49-F238E27FC236}">
                <a16:creationId xmlns:a16="http://schemas.microsoft.com/office/drawing/2014/main" id="{71E57EDD-4E35-007D-C1EB-F6F2F7298B89}"/>
              </a:ext>
            </a:extLst>
          </p:cNvPr>
          <p:cNvSpPr>
            <a:spLocks noGrp="1"/>
          </p:cNvSpPr>
          <p:nvPr>
            <p:ph idx="1"/>
          </p:nvPr>
        </p:nvSpPr>
        <p:spPr>
          <a:xfrm>
            <a:off x="836475" y="2853092"/>
            <a:ext cx="2772103" cy="2047042"/>
          </a:xfrm>
        </p:spPr>
        <p:txBody>
          <a:bodyPr>
            <a:normAutofit/>
          </a:bodyPr>
          <a:lstStyle/>
          <a:p>
            <a:pPr marL="0" indent="0">
              <a:buNone/>
            </a:pPr>
            <a:r>
              <a:rPr lang="en-GB" sz="2200" dirty="0"/>
              <a:t>Accuracy on the span during choices is associated with absolute deviations </a:t>
            </a:r>
            <a:endParaRPr lang="en-FR" sz="2200" dirty="0"/>
          </a:p>
        </p:txBody>
      </p:sp>
      <p:pic>
        <p:nvPicPr>
          <p:cNvPr id="6" name="Picture 5">
            <a:extLst>
              <a:ext uri="{FF2B5EF4-FFF2-40B4-BE49-F238E27FC236}">
                <a16:creationId xmlns:a16="http://schemas.microsoft.com/office/drawing/2014/main" id="{EEC3E356-C03A-BD57-49AD-B3F717997A32}"/>
              </a:ext>
            </a:extLst>
          </p:cNvPr>
          <p:cNvPicPr>
            <a:picLocks noChangeAspect="1"/>
          </p:cNvPicPr>
          <p:nvPr/>
        </p:nvPicPr>
        <p:blipFill>
          <a:blip r:embed="rId3"/>
          <a:stretch>
            <a:fillRect/>
          </a:stretch>
        </p:blipFill>
        <p:spPr>
          <a:xfrm>
            <a:off x="3962400" y="0"/>
            <a:ext cx="8229600" cy="6858000"/>
          </a:xfrm>
          <a:prstGeom prst="rect">
            <a:avLst/>
          </a:prstGeom>
        </p:spPr>
      </p:pic>
      <p:sp>
        <p:nvSpPr>
          <p:cNvPr id="7" name="Rectangle 6">
            <a:extLst>
              <a:ext uri="{FF2B5EF4-FFF2-40B4-BE49-F238E27FC236}">
                <a16:creationId xmlns:a16="http://schemas.microsoft.com/office/drawing/2014/main" id="{3C9B6E4C-44B9-A51B-7A3B-5F7674D58E92}"/>
              </a:ext>
            </a:extLst>
          </p:cNvPr>
          <p:cNvSpPr/>
          <p:nvPr/>
        </p:nvSpPr>
        <p:spPr>
          <a:xfrm>
            <a:off x="6467707" y="479502"/>
            <a:ext cx="2479648" cy="160253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B9766362-CE00-141D-375F-C0F13E66FCB9}"/>
              </a:ext>
            </a:extLst>
          </p:cNvPr>
          <p:cNvSpPr/>
          <p:nvPr/>
        </p:nvSpPr>
        <p:spPr>
          <a:xfrm>
            <a:off x="4004440" y="2082039"/>
            <a:ext cx="4942915" cy="154210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553BE972-A4A3-FD45-17AB-FEFC1051BA36}"/>
              </a:ext>
            </a:extLst>
          </p:cNvPr>
          <p:cNvSpPr/>
          <p:nvPr/>
        </p:nvSpPr>
        <p:spPr>
          <a:xfrm>
            <a:off x="444061" y="5006898"/>
            <a:ext cx="3556932" cy="169498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fr-FR" sz="2000" dirty="0">
                <a:solidFill>
                  <a:schemeClr val="tx1"/>
                </a:solidFill>
                <a:sym typeface="Wingdings" panose="05000000000000000000" pitchFamily="2" charset="2"/>
              </a:rPr>
              <a:t></a:t>
            </a:r>
            <a:r>
              <a:rPr lang="fr-FR" sz="2000" dirty="0" err="1">
                <a:solidFill>
                  <a:schemeClr val="tx1"/>
                </a:solidFill>
                <a:sym typeface="Wingdings" panose="05000000000000000000" pitchFamily="2" charset="2"/>
              </a:rPr>
              <a:t>Sensitivity</a:t>
            </a:r>
            <a:r>
              <a:rPr lang="fr-FR" sz="2000" dirty="0">
                <a:solidFill>
                  <a:schemeClr val="tx1"/>
                </a:solidFill>
                <a:sym typeface="Wingdings" panose="05000000000000000000" pitchFamily="2" charset="2"/>
              </a:rPr>
              <a:t> to cognitive </a:t>
            </a:r>
            <a:r>
              <a:rPr lang="fr-FR" sz="2000" dirty="0" err="1">
                <a:solidFill>
                  <a:schemeClr val="tx1"/>
                </a:solidFill>
                <a:sym typeface="Wingdings" panose="05000000000000000000" pitchFamily="2" charset="2"/>
              </a:rPr>
              <a:t>load</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is</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positively</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correlated</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with</a:t>
            </a:r>
            <a:r>
              <a:rPr lang="fr-FR" sz="2000" dirty="0">
                <a:solidFill>
                  <a:schemeClr val="tx1"/>
                </a:solidFill>
                <a:sym typeface="Wingdings" panose="05000000000000000000" pitchFamily="2" charset="2"/>
              </a:rPr>
              <a:t> </a:t>
            </a:r>
            <a:r>
              <a:rPr lang="fr-FR" sz="2000" b="1" dirty="0" err="1">
                <a:solidFill>
                  <a:schemeClr val="tx1"/>
                </a:solidFill>
                <a:sym typeface="Wingdings" panose="05000000000000000000" pitchFamily="2" charset="2"/>
              </a:rPr>
              <a:t>absolute</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deviations</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when</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mean</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rtChoice</a:t>
            </a:r>
            <a:r>
              <a:rPr lang="fr-FR" sz="2000" dirty="0">
                <a:solidFill>
                  <a:schemeClr val="tx1"/>
                </a:solidFill>
                <a:sym typeface="Wingdings" panose="05000000000000000000" pitchFamily="2" charset="2"/>
              </a:rPr>
              <a:t>&lt;13.5s</a:t>
            </a:r>
          </a:p>
        </p:txBody>
      </p:sp>
    </p:spTree>
    <p:extLst>
      <p:ext uri="{BB962C8B-B14F-4D97-AF65-F5344CB8AC3E}">
        <p14:creationId xmlns:p14="http://schemas.microsoft.com/office/powerpoint/2010/main" val="3738023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BF48F-8D57-5F8F-89B5-E64246507BB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9732FB2-CAB3-81F8-05F7-8E60A7E0D7A7}"/>
              </a:ext>
            </a:extLst>
          </p:cNvPr>
          <p:cNvPicPr>
            <a:picLocks noChangeAspect="1"/>
          </p:cNvPicPr>
          <p:nvPr/>
        </p:nvPicPr>
        <p:blipFill>
          <a:blip r:embed="rId3"/>
          <a:stretch>
            <a:fillRect/>
          </a:stretch>
        </p:blipFill>
        <p:spPr>
          <a:xfrm>
            <a:off x="3962400" y="0"/>
            <a:ext cx="8229600" cy="6858000"/>
          </a:xfrm>
          <a:prstGeom prst="rect">
            <a:avLst/>
          </a:prstGeom>
        </p:spPr>
      </p:pic>
      <p:sp>
        <p:nvSpPr>
          <p:cNvPr id="2" name="Title 1">
            <a:extLst>
              <a:ext uri="{FF2B5EF4-FFF2-40B4-BE49-F238E27FC236}">
                <a16:creationId xmlns:a16="http://schemas.microsoft.com/office/drawing/2014/main" id="{8B5C6CA7-EF19-6052-A8F1-7FEB63D5B685}"/>
              </a:ext>
            </a:extLst>
          </p:cNvPr>
          <p:cNvSpPr>
            <a:spLocks noGrp="1"/>
          </p:cNvSpPr>
          <p:nvPr>
            <p:ph type="title"/>
          </p:nvPr>
        </p:nvSpPr>
        <p:spPr>
          <a:xfrm>
            <a:off x="444061" y="244486"/>
            <a:ext cx="3166241" cy="2213565"/>
          </a:xfrm>
        </p:spPr>
        <p:txBody>
          <a:bodyPr>
            <a:normAutofit fontScale="90000"/>
          </a:bodyPr>
          <a:lstStyle/>
          <a:p>
            <a:r>
              <a:rPr lang="en-FR" dirty="0"/>
              <a:t>III Our preliminary results – cognitive load</a:t>
            </a:r>
          </a:p>
        </p:txBody>
      </p:sp>
      <p:sp>
        <p:nvSpPr>
          <p:cNvPr id="8" name="Rectangle 7">
            <a:extLst>
              <a:ext uri="{FF2B5EF4-FFF2-40B4-BE49-F238E27FC236}">
                <a16:creationId xmlns:a16="http://schemas.microsoft.com/office/drawing/2014/main" id="{33AC79DB-D6B2-3E15-6E6D-4198D41E5058}"/>
              </a:ext>
            </a:extLst>
          </p:cNvPr>
          <p:cNvSpPr/>
          <p:nvPr/>
        </p:nvSpPr>
        <p:spPr>
          <a:xfrm>
            <a:off x="405468" y="4611823"/>
            <a:ext cx="3556932" cy="147732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fr-FR" sz="2000" dirty="0">
                <a:solidFill>
                  <a:schemeClr val="tx1"/>
                </a:solidFill>
                <a:sym typeface="Wingdings" panose="05000000000000000000" pitchFamily="2" charset="2"/>
              </a:rPr>
              <a:t></a:t>
            </a:r>
            <a:r>
              <a:rPr lang="fr-FR" sz="2000" dirty="0" err="1">
                <a:solidFill>
                  <a:schemeClr val="tx1"/>
                </a:solidFill>
                <a:sym typeface="Wingdings" panose="05000000000000000000" pitchFamily="2" charset="2"/>
              </a:rPr>
              <a:t>Sensitivity</a:t>
            </a:r>
            <a:r>
              <a:rPr lang="fr-FR" sz="2000" dirty="0">
                <a:solidFill>
                  <a:schemeClr val="tx1"/>
                </a:solidFill>
                <a:sym typeface="Wingdings" panose="05000000000000000000" pitchFamily="2" charset="2"/>
              </a:rPr>
              <a:t> to cognitive </a:t>
            </a:r>
            <a:r>
              <a:rPr lang="fr-FR" sz="2000" dirty="0" err="1">
                <a:solidFill>
                  <a:schemeClr val="tx1"/>
                </a:solidFill>
                <a:sym typeface="Wingdings" panose="05000000000000000000" pitchFamily="2" charset="2"/>
              </a:rPr>
              <a:t>load</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is</a:t>
            </a:r>
            <a:r>
              <a:rPr lang="fr-FR" sz="2000" dirty="0">
                <a:solidFill>
                  <a:schemeClr val="tx1"/>
                </a:solidFill>
                <a:sym typeface="Wingdings" panose="05000000000000000000" pitchFamily="2" charset="2"/>
              </a:rPr>
              <a:t> not </a:t>
            </a:r>
            <a:r>
              <a:rPr lang="fr-FR" sz="2000" dirty="0" err="1">
                <a:solidFill>
                  <a:schemeClr val="tx1"/>
                </a:solidFill>
                <a:sym typeface="Wingdings" panose="05000000000000000000" pitchFamily="2" charset="2"/>
              </a:rPr>
              <a:t>correlated</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with</a:t>
            </a:r>
            <a:r>
              <a:rPr lang="fr-FR" sz="2000" dirty="0">
                <a:solidFill>
                  <a:schemeClr val="tx1"/>
                </a:solidFill>
                <a:sym typeface="Wingdings" panose="05000000000000000000" pitchFamily="2" charset="2"/>
              </a:rPr>
              <a:t> </a:t>
            </a:r>
            <a:r>
              <a:rPr lang="fr-FR" sz="2000" b="1" dirty="0" err="1">
                <a:solidFill>
                  <a:schemeClr val="tx1"/>
                </a:solidFill>
                <a:sym typeface="Wingdings" panose="05000000000000000000" pitchFamily="2" charset="2"/>
              </a:rPr>
              <a:t>absolute</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deviations</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when</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mean</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rtChoice</a:t>
            </a:r>
            <a:r>
              <a:rPr lang="fr-FR" sz="2000" dirty="0">
                <a:solidFill>
                  <a:schemeClr val="tx1"/>
                </a:solidFill>
                <a:sym typeface="Wingdings" panose="05000000000000000000" pitchFamily="2" charset="2"/>
              </a:rPr>
              <a:t> &gt; 13.5s</a:t>
            </a:r>
            <a:endParaRPr lang="fr-FR" sz="2000" dirty="0">
              <a:solidFill>
                <a:schemeClr val="tx1"/>
              </a:solidFill>
            </a:endParaRPr>
          </a:p>
        </p:txBody>
      </p:sp>
      <p:sp>
        <p:nvSpPr>
          <p:cNvPr id="9" name="Rectangle 8">
            <a:extLst>
              <a:ext uri="{FF2B5EF4-FFF2-40B4-BE49-F238E27FC236}">
                <a16:creationId xmlns:a16="http://schemas.microsoft.com/office/drawing/2014/main" id="{EED894E2-E027-FF0F-B473-6BC4483E89ED}"/>
              </a:ext>
            </a:extLst>
          </p:cNvPr>
          <p:cNvSpPr/>
          <p:nvPr/>
        </p:nvSpPr>
        <p:spPr>
          <a:xfrm>
            <a:off x="6490008" y="490654"/>
            <a:ext cx="2394481" cy="154328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TextBox 9">
            <a:extLst>
              <a:ext uri="{FF2B5EF4-FFF2-40B4-BE49-F238E27FC236}">
                <a16:creationId xmlns:a16="http://schemas.microsoft.com/office/drawing/2014/main" id="{50CA8322-52D0-454E-2FC8-10CE7EB0B1A3}"/>
              </a:ext>
            </a:extLst>
          </p:cNvPr>
          <p:cNvSpPr txBox="1"/>
          <p:nvPr/>
        </p:nvSpPr>
        <p:spPr>
          <a:xfrm>
            <a:off x="405467" y="2922370"/>
            <a:ext cx="2928748" cy="1477328"/>
          </a:xfrm>
          <a:prstGeom prst="rect">
            <a:avLst/>
          </a:prstGeom>
          <a:noFill/>
        </p:spPr>
        <p:txBody>
          <a:bodyPr wrap="square" rtlCol="0">
            <a:spAutoFit/>
          </a:bodyPr>
          <a:lstStyle/>
          <a:p>
            <a:r>
              <a:rPr lang="en-FR" dirty="0"/>
              <a:t>Non significant negative correlation between sensitivity to cognitive load and deviations is again due to the two outliers </a:t>
            </a:r>
          </a:p>
        </p:txBody>
      </p:sp>
    </p:spTree>
    <p:extLst>
      <p:ext uri="{BB962C8B-B14F-4D97-AF65-F5344CB8AC3E}">
        <p14:creationId xmlns:p14="http://schemas.microsoft.com/office/powerpoint/2010/main" val="11322314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09805-6C35-EAB8-A16A-00462E9B6799}"/>
              </a:ext>
            </a:extLst>
          </p:cNvPr>
          <p:cNvSpPr>
            <a:spLocks noGrp="1"/>
          </p:cNvSpPr>
          <p:nvPr>
            <p:ph type="title"/>
          </p:nvPr>
        </p:nvSpPr>
        <p:spPr/>
        <p:txBody>
          <a:bodyPr/>
          <a:lstStyle/>
          <a:p>
            <a:r>
              <a:rPr lang="en-FR" dirty="0"/>
              <a:t>III Our preliminary results – cognitive load</a:t>
            </a:r>
          </a:p>
        </p:txBody>
      </p:sp>
      <p:pic>
        <p:nvPicPr>
          <p:cNvPr id="6" name="Picture 5" descr="A table of numbers and numbers&#10;&#10;AI-generated content may be incorrect.">
            <a:extLst>
              <a:ext uri="{FF2B5EF4-FFF2-40B4-BE49-F238E27FC236}">
                <a16:creationId xmlns:a16="http://schemas.microsoft.com/office/drawing/2014/main" id="{ED52B359-492B-3A1F-3679-9DBA907DA7B1}"/>
              </a:ext>
            </a:extLst>
          </p:cNvPr>
          <p:cNvPicPr>
            <a:picLocks noChangeAspect="1"/>
          </p:cNvPicPr>
          <p:nvPr/>
        </p:nvPicPr>
        <p:blipFill>
          <a:blip r:embed="rId2"/>
          <a:stretch>
            <a:fillRect/>
          </a:stretch>
        </p:blipFill>
        <p:spPr>
          <a:xfrm>
            <a:off x="3515002" y="1618631"/>
            <a:ext cx="8407937" cy="4863038"/>
          </a:xfrm>
          <a:prstGeom prst="rect">
            <a:avLst/>
          </a:prstGeom>
        </p:spPr>
      </p:pic>
      <p:sp>
        <p:nvSpPr>
          <p:cNvPr id="7" name="Rectangle 6">
            <a:extLst>
              <a:ext uri="{FF2B5EF4-FFF2-40B4-BE49-F238E27FC236}">
                <a16:creationId xmlns:a16="http://schemas.microsoft.com/office/drawing/2014/main" id="{25615ABF-F1FD-0469-D4AB-A83009F9B0BD}"/>
              </a:ext>
            </a:extLst>
          </p:cNvPr>
          <p:cNvSpPr/>
          <p:nvPr/>
        </p:nvSpPr>
        <p:spPr>
          <a:xfrm>
            <a:off x="8991718" y="1618631"/>
            <a:ext cx="659423" cy="428072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DE3CE47E-5647-AD47-B1FA-0BC5D6D8DC46}"/>
              </a:ext>
            </a:extLst>
          </p:cNvPr>
          <p:cNvSpPr/>
          <p:nvPr/>
        </p:nvSpPr>
        <p:spPr>
          <a:xfrm>
            <a:off x="269061" y="4917688"/>
            <a:ext cx="3120910" cy="171728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fr-FR" sz="2000" dirty="0">
                <a:solidFill>
                  <a:schemeClr val="tx1"/>
                </a:solidFill>
                <a:sym typeface="Wingdings" panose="05000000000000000000" pitchFamily="2" charset="2"/>
              </a:rPr>
              <a:t> Model </a:t>
            </a:r>
            <a:r>
              <a:rPr lang="fr-FR" sz="2000" dirty="0" err="1">
                <a:solidFill>
                  <a:schemeClr val="tx1"/>
                </a:solidFill>
                <a:sym typeface="Wingdings" panose="05000000000000000000" pitchFamily="2" charset="2"/>
              </a:rPr>
              <a:t>selection</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confirms</a:t>
            </a:r>
            <a:r>
              <a:rPr lang="fr-FR" sz="2000" dirty="0">
                <a:solidFill>
                  <a:schemeClr val="tx1"/>
                </a:solidFill>
                <a:sym typeface="Wingdings" panose="05000000000000000000" pitchFamily="2" charset="2"/>
              </a:rPr>
              <a:t> the impact of </a:t>
            </a:r>
            <a:r>
              <a:rPr lang="fr-FR" sz="2000" dirty="0" err="1">
                <a:solidFill>
                  <a:schemeClr val="tx1"/>
                </a:solidFill>
                <a:sym typeface="Wingdings" panose="05000000000000000000" pitchFamily="2" charset="2"/>
              </a:rPr>
              <a:t>sensitivity</a:t>
            </a:r>
            <a:r>
              <a:rPr lang="fr-FR" sz="2000" dirty="0">
                <a:solidFill>
                  <a:schemeClr val="tx1"/>
                </a:solidFill>
                <a:sym typeface="Wingdings" panose="05000000000000000000" pitchFamily="2" charset="2"/>
              </a:rPr>
              <a:t> to cognitive </a:t>
            </a:r>
            <a:r>
              <a:rPr lang="fr-FR" sz="2000" dirty="0" err="1">
                <a:solidFill>
                  <a:schemeClr val="tx1"/>
                </a:solidFill>
                <a:sym typeface="Wingdings" panose="05000000000000000000" pitchFamily="2" charset="2"/>
              </a:rPr>
              <a:t>load</a:t>
            </a:r>
            <a:r>
              <a:rPr lang="fr-FR" sz="2000" dirty="0">
                <a:solidFill>
                  <a:schemeClr val="tx1"/>
                </a:solidFill>
                <a:sym typeface="Wingdings" panose="05000000000000000000" pitchFamily="2" charset="2"/>
              </a:rPr>
              <a:t> on </a:t>
            </a:r>
            <a:r>
              <a:rPr lang="fr-FR" sz="2000" b="1" dirty="0" err="1">
                <a:solidFill>
                  <a:schemeClr val="tx1"/>
                </a:solidFill>
                <a:sym typeface="Wingdings" panose="05000000000000000000" pitchFamily="2" charset="2"/>
              </a:rPr>
              <a:t>normalized</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deviations</a:t>
            </a:r>
            <a:endParaRPr lang="fr-FR" sz="2000" dirty="0">
              <a:solidFill>
                <a:schemeClr val="tx1"/>
              </a:solidFill>
            </a:endParaRPr>
          </a:p>
        </p:txBody>
      </p:sp>
      <p:sp>
        <p:nvSpPr>
          <p:cNvPr id="3" name="Content Placeholder 2">
            <a:extLst>
              <a:ext uri="{FF2B5EF4-FFF2-40B4-BE49-F238E27FC236}">
                <a16:creationId xmlns:a16="http://schemas.microsoft.com/office/drawing/2014/main" id="{297E78CC-68ED-5687-14D2-4BFEFC9172BA}"/>
              </a:ext>
            </a:extLst>
          </p:cNvPr>
          <p:cNvSpPr>
            <a:spLocks noGrp="1"/>
          </p:cNvSpPr>
          <p:nvPr>
            <p:ph idx="1"/>
          </p:nvPr>
        </p:nvSpPr>
        <p:spPr>
          <a:xfrm>
            <a:off x="269061" y="1690688"/>
            <a:ext cx="2875905" cy="3073693"/>
          </a:xfrm>
        </p:spPr>
        <p:txBody>
          <a:bodyPr>
            <a:normAutofit lnSpcReduction="10000"/>
          </a:bodyPr>
          <a:lstStyle/>
          <a:p>
            <a:r>
              <a:rPr lang="en-FR" sz="2200" dirty="0"/>
              <a:t>T</a:t>
            </a:r>
            <a:r>
              <a:rPr lang="en-GB" sz="2200" dirty="0"/>
              <a:t>h</a:t>
            </a:r>
            <a:r>
              <a:rPr lang="en-FR" sz="2200" dirty="0"/>
              <a:t>e best model includes the interaction between sensitivity and rtChoice</a:t>
            </a:r>
          </a:p>
          <a:p>
            <a:r>
              <a:rPr lang="en-GB" sz="2200" dirty="0"/>
              <a:t>S</a:t>
            </a:r>
            <a:r>
              <a:rPr lang="en-FR" sz="2200" dirty="0"/>
              <a:t>ensitivity to cognitive load increases normalized deviations</a:t>
            </a:r>
          </a:p>
          <a:p>
            <a:endParaRPr lang="en-FR" sz="2200" dirty="0"/>
          </a:p>
        </p:txBody>
      </p:sp>
    </p:spTree>
    <p:extLst>
      <p:ext uri="{BB962C8B-B14F-4D97-AF65-F5344CB8AC3E}">
        <p14:creationId xmlns:p14="http://schemas.microsoft.com/office/powerpoint/2010/main" val="36185970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61E94-8E08-CF2D-20AB-9A2F6630B6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CD4C8B-057D-9EE7-E9B8-B6E429661A30}"/>
              </a:ext>
            </a:extLst>
          </p:cNvPr>
          <p:cNvSpPr>
            <a:spLocks noGrp="1"/>
          </p:cNvSpPr>
          <p:nvPr>
            <p:ph type="title"/>
          </p:nvPr>
        </p:nvSpPr>
        <p:spPr/>
        <p:txBody>
          <a:bodyPr/>
          <a:lstStyle/>
          <a:p>
            <a:r>
              <a:rPr lang="en-FR" dirty="0"/>
              <a:t>III Our preliminary results – cognitive load</a:t>
            </a:r>
          </a:p>
        </p:txBody>
      </p:sp>
      <p:sp>
        <p:nvSpPr>
          <p:cNvPr id="3" name="Content Placeholder 2">
            <a:extLst>
              <a:ext uri="{FF2B5EF4-FFF2-40B4-BE49-F238E27FC236}">
                <a16:creationId xmlns:a16="http://schemas.microsoft.com/office/drawing/2014/main" id="{A3A10721-CBDC-A2AF-67CA-125553C50041}"/>
              </a:ext>
            </a:extLst>
          </p:cNvPr>
          <p:cNvSpPr>
            <a:spLocks noGrp="1"/>
          </p:cNvSpPr>
          <p:nvPr>
            <p:ph idx="1"/>
          </p:nvPr>
        </p:nvSpPr>
        <p:spPr>
          <a:xfrm>
            <a:off x="269061" y="1690688"/>
            <a:ext cx="2875905" cy="4351338"/>
          </a:xfrm>
        </p:spPr>
        <p:txBody>
          <a:bodyPr>
            <a:normAutofit/>
          </a:bodyPr>
          <a:lstStyle/>
          <a:p>
            <a:r>
              <a:rPr lang="en-FR" sz="2200" dirty="0"/>
              <a:t>Only rtChoice is preferable in the no-cognitive load treatment </a:t>
            </a:r>
          </a:p>
        </p:txBody>
      </p:sp>
      <p:pic>
        <p:nvPicPr>
          <p:cNvPr id="6" name="Picture 5" descr="A table of numbers with numbers and symbols&#10;&#10;AI-generated content may be incorrect.">
            <a:extLst>
              <a:ext uri="{FF2B5EF4-FFF2-40B4-BE49-F238E27FC236}">
                <a16:creationId xmlns:a16="http://schemas.microsoft.com/office/drawing/2014/main" id="{B11CE057-AE8B-D81D-B71B-22489206424C}"/>
              </a:ext>
            </a:extLst>
          </p:cNvPr>
          <p:cNvPicPr>
            <a:picLocks noChangeAspect="1"/>
          </p:cNvPicPr>
          <p:nvPr/>
        </p:nvPicPr>
        <p:blipFill>
          <a:blip r:embed="rId2"/>
          <a:stretch>
            <a:fillRect/>
          </a:stretch>
        </p:blipFill>
        <p:spPr>
          <a:xfrm>
            <a:off x="3144966" y="1690686"/>
            <a:ext cx="8398105" cy="4820897"/>
          </a:xfrm>
          <a:prstGeom prst="rect">
            <a:avLst/>
          </a:prstGeom>
        </p:spPr>
      </p:pic>
      <p:sp>
        <p:nvSpPr>
          <p:cNvPr id="7" name="Rectangle 6">
            <a:extLst>
              <a:ext uri="{FF2B5EF4-FFF2-40B4-BE49-F238E27FC236}">
                <a16:creationId xmlns:a16="http://schemas.microsoft.com/office/drawing/2014/main" id="{0D5CBAE6-7F8F-CDED-AD72-6E50C92C1E9D}"/>
              </a:ext>
            </a:extLst>
          </p:cNvPr>
          <p:cNvSpPr/>
          <p:nvPr/>
        </p:nvSpPr>
        <p:spPr>
          <a:xfrm>
            <a:off x="6384381" y="1690686"/>
            <a:ext cx="724342" cy="425783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 name="Rectangle 4">
            <a:extLst>
              <a:ext uri="{FF2B5EF4-FFF2-40B4-BE49-F238E27FC236}">
                <a16:creationId xmlns:a16="http://schemas.microsoft.com/office/drawing/2014/main" id="{A64F6C6F-B5B9-909D-47D9-FD3953646852}"/>
              </a:ext>
            </a:extLst>
          </p:cNvPr>
          <p:cNvSpPr/>
          <p:nvPr/>
        </p:nvSpPr>
        <p:spPr>
          <a:xfrm>
            <a:off x="369744" y="4225036"/>
            <a:ext cx="2775222" cy="2465696"/>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Sensitivity</a:t>
            </a:r>
            <a:r>
              <a:rPr lang="fr-FR" sz="2000" dirty="0">
                <a:solidFill>
                  <a:schemeClr val="tx1"/>
                </a:solidFill>
                <a:sym typeface="Wingdings" panose="05000000000000000000" pitchFamily="2" charset="2"/>
              </a:rPr>
              <a:t> to cognitive </a:t>
            </a:r>
            <a:r>
              <a:rPr lang="fr-FR" sz="2000" dirty="0" err="1">
                <a:solidFill>
                  <a:schemeClr val="tx1"/>
                </a:solidFill>
                <a:sym typeface="Wingdings" panose="05000000000000000000" pitchFamily="2" charset="2"/>
              </a:rPr>
              <a:t>load</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is</a:t>
            </a:r>
            <a:r>
              <a:rPr lang="fr-FR" sz="2000" dirty="0">
                <a:solidFill>
                  <a:schemeClr val="tx1"/>
                </a:solidFill>
                <a:sym typeface="Wingdings" panose="05000000000000000000" pitchFamily="2" charset="2"/>
              </a:rPr>
              <a:t> not </a:t>
            </a:r>
            <a:r>
              <a:rPr lang="fr-FR" sz="2000" dirty="0" err="1">
                <a:solidFill>
                  <a:schemeClr val="tx1"/>
                </a:solidFill>
                <a:sym typeface="Wingdings" panose="05000000000000000000" pitchFamily="2" charset="2"/>
              </a:rPr>
              <a:t>required</a:t>
            </a:r>
            <a:r>
              <a:rPr lang="fr-FR" sz="2000" dirty="0">
                <a:solidFill>
                  <a:schemeClr val="tx1"/>
                </a:solidFill>
                <a:sym typeface="Wingdings" panose="05000000000000000000" pitchFamily="2" charset="2"/>
              </a:rPr>
              <a:t> to </a:t>
            </a:r>
            <a:r>
              <a:rPr lang="fr-FR" sz="2000" dirty="0" err="1">
                <a:solidFill>
                  <a:schemeClr val="tx1"/>
                </a:solidFill>
                <a:sym typeface="Wingdings" panose="05000000000000000000" pitchFamily="2" charset="2"/>
              </a:rPr>
              <a:t>predict</a:t>
            </a:r>
            <a:r>
              <a:rPr lang="fr-FR" sz="2000" dirty="0">
                <a:solidFill>
                  <a:schemeClr val="tx1"/>
                </a:solidFill>
                <a:sym typeface="Wingdings" panose="05000000000000000000" pitchFamily="2" charset="2"/>
              </a:rPr>
              <a:t> </a:t>
            </a:r>
            <a:r>
              <a:rPr lang="fr-FR" sz="2000" b="1" dirty="0" err="1">
                <a:solidFill>
                  <a:schemeClr val="tx1"/>
                </a:solidFill>
                <a:sym typeface="Wingdings" panose="05000000000000000000" pitchFamily="2" charset="2"/>
              </a:rPr>
              <a:t>normalized</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deviations</a:t>
            </a:r>
            <a:r>
              <a:rPr lang="fr-FR" sz="2000" dirty="0">
                <a:solidFill>
                  <a:schemeClr val="tx1"/>
                </a:solidFill>
                <a:sym typeface="Wingdings" panose="05000000000000000000" pitchFamily="2" charset="2"/>
              </a:rPr>
              <a:t> in the no cognitive </a:t>
            </a:r>
            <a:r>
              <a:rPr lang="fr-FR" sz="2000" dirty="0" err="1">
                <a:solidFill>
                  <a:schemeClr val="tx1"/>
                </a:solidFill>
                <a:sym typeface="Wingdings" panose="05000000000000000000" pitchFamily="2" charset="2"/>
              </a:rPr>
              <a:t>load</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treatment</a:t>
            </a:r>
            <a:endParaRPr lang="fr-FR" sz="2000" dirty="0">
              <a:solidFill>
                <a:schemeClr val="tx1"/>
              </a:solidFill>
            </a:endParaRPr>
          </a:p>
        </p:txBody>
      </p:sp>
    </p:spTree>
    <p:extLst>
      <p:ext uri="{BB962C8B-B14F-4D97-AF65-F5344CB8AC3E}">
        <p14:creationId xmlns:p14="http://schemas.microsoft.com/office/powerpoint/2010/main" val="17994300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9B10A-2395-6297-5C10-09D67E3B2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651B1E-3C7D-05A1-E7E1-DD1D26816D6E}"/>
              </a:ext>
            </a:extLst>
          </p:cNvPr>
          <p:cNvSpPr>
            <a:spLocks noGrp="1"/>
          </p:cNvSpPr>
          <p:nvPr>
            <p:ph type="title"/>
          </p:nvPr>
        </p:nvSpPr>
        <p:spPr/>
        <p:txBody>
          <a:bodyPr/>
          <a:lstStyle/>
          <a:p>
            <a:r>
              <a:rPr lang="en-FR" dirty="0"/>
              <a:t>III Our preliminary results – cognitive load</a:t>
            </a:r>
          </a:p>
        </p:txBody>
      </p:sp>
      <p:pic>
        <p:nvPicPr>
          <p:cNvPr id="4" name="Picture 3" descr="A table with numbers and a number of objects&#10;&#10;AI-generated content may be incorrect.">
            <a:extLst>
              <a:ext uri="{FF2B5EF4-FFF2-40B4-BE49-F238E27FC236}">
                <a16:creationId xmlns:a16="http://schemas.microsoft.com/office/drawing/2014/main" id="{039B919A-E464-2D89-ECDC-6DEBD318565B}"/>
              </a:ext>
            </a:extLst>
          </p:cNvPr>
          <p:cNvPicPr>
            <a:picLocks noChangeAspect="1"/>
          </p:cNvPicPr>
          <p:nvPr/>
        </p:nvPicPr>
        <p:blipFill>
          <a:blip r:embed="rId2"/>
          <a:stretch>
            <a:fillRect/>
          </a:stretch>
        </p:blipFill>
        <p:spPr>
          <a:xfrm>
            <a:off x="3144966" y="1690686"/>
            <a:ext cx="8302524" cy="4833462"/>
          </a:xfrm>
          <a:prstGeom prst="rect">
            <a:avLst/>
          </a:prstGeom>
        </p:spPr>
      </p:pic>
      <p:sp>
        <p:nvSpPr>
          <p:cNvPr id="7" name="Rectangle 6">
            <a:extLst>
              <a:ext uri="{FF2B5EF4-FFF2-40B4-BE49-F238E27FC236}">
                <a16:creationId xmlns:a16="http://schemas.microsoft.com/office/drawing/2014/main" id="{847B0208-3D72-E1DA-4873-6F8A8BD9196D}"/>
              </a:ext>
            </a:extLst>
          </p:cNvPr>
          <p:cNvSpPr/>
          <p:nvPr/>
        </p:nvSpPr>
        <p:spPr>
          <a:xfrm>
            <a:off x="6384381" y="1690686"/>
            <a:ext cx="645684" cy="425783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 name="Rectangle 4">
            <a:extLst>
              <a:ext uri="{FF2B5EF4-FFF2-40B4-BE49-F238E27FC236}">
                <a16:creationId xmlns:a16="http://schemas.microsoft.com/office/drawing/2014/main" id="{EBBB51BE-97E3-4ADF-6639-376C8514085B}"/>
              </a:ext>
            </a:extLst>
          </p:cNvPr>
          <p:cNvSpPr/>
          <p:nvPr/>
        </p:nvSpPr>
        <p:spPr>
          <a:xfrm>
            <a:off x="8546248" y="1690686"/>
            <a:ext cx="645684" cy="425783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8" name="Rectangle 7">
            <a:extLst>
              <a:ext uri="{FF2B5EF4-FFF2-40B4-BE49-F238E27FC236}">
                <a16:creationId xmlns:a16="http://schemas.microsoft.com/office/drawing/2014/main" id="{907EB4F5-3575-F288-38A6-8CBFA114FEBF}"/>
              </a:ext>
            </a:extLst>
          </p:cNvPr>
          <p:cNvSpPr/>
          <p:nvPr/>
        </p:nvSpPr>
        <p:spPr>
          <a:xfrm>
            <a:off x="369744" y="3429001"/>
            <a:ext cx="2775222" cy="3261732"/>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fr-FR" sz="2000" dirty="0">
                <a:solidFill>
                  <a:schemeClr val="tx1"/>
                </a:solidFill>
                <a:sym typeface="Wingdings" panose="05000000000000000000" pitchFamily="2" charset="2"/>
              </a:rPr>
              <a:t> </a:t>
            </a:r>
            <a:r>
              <a:rPr lang="fr-FR" sz="2000" b="1" dirty="0" err="1">
                <a:solidFill>
                  <a:schemeClr val="tx1"/>
                </a:solidFill>
                <a:sym typeface="Wingdings" panose="05000000000000000000" pitchFamily="2" charset="2"/>
              </a:rPr>
              <a:t>Absolute</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deviations</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appear</a:t>
            </a:r>
            <a:r>
              <a:rPr lang="fr-FR" sz="2000" dirty="0">
                <a:solidFill>
                  <a:schemeClr val="tx1"/>
                </a:solidFill>
                <a:sym typeface="Wingdings" panose="05000000000000000000" pitchFamily="2" charset="2"/>
              </a:rPr>
              <a:t> to </a:t>
            </a:r>
            <a:r>
              <a:rPr lang="fr-FR" sz="2000" dirty="0" err="1">
                <a:solidFill>
                  <a:schemeClr val="tx1"/>
                </a:solidFill>
                <a:sym typeface="Wingdings" panose="05000000000000000000" pitchFamily="2" charset="2"/>
              </a:rPr>
              <a:t>be</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less</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impacted</a:t>
            </a:r>
            <a:r>
              <a:rPr lang="fr-FR" sz="2000" dirty="0">
                <a:solidFill>
                  <a:schemeClr val="tx1"/>
                </a:solidFill>
                <a:sym typeface="Wingdings" panose="05000000000000000000" pitchFamily="2" charset="2"/>
              </a:rPr>
              <a:t> by cognitive </a:t>
            </a:r>
            <a:r>
              <a:rPr lang="fr-FR" sz="2000" dirty="0" err="1">
                <a:solidFill>
                  <a:schemeClr val="tx1"/>
                </a:solidFill>
                <a:sym typeface="Wingdings" panose="05000000000000000000" pitchFamily="2" charset="2"/>
              </a:rPr>
              <a:t>load</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sensitivity</a:t>
            </a:r>
            <a:r>
              <a:rPr lang="fr-FR" sz="2000" dirty="0">
                <a:solidFill>
                  <a:schemeClr val="tx1"/>
                </a:solidFill>
                <a:sym typeface="Wingdings" panose="05000000000000000000" pitchFamily="2" charset="2"/>
              </a:rPr>
              <a:t> (trend </a:t>
            </a:r>
            <a:r>
              <a:rPr lang="fr-FR" sz="2000" dirty="0" err="1">
                <a:solidFill>
                  <a:schemeClr val="tx1"/>
                </a:solidFill>
                <a:sym typeface="Wingdings" panose="05000000000000000000" pitchFamily="2" charset="2"/>
              </a:rPr>
              <a:t>level</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than</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normalized</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deviations</a:t>
            </a:r>
            <a:endParaRPr lang="fr-FR" sz="2000" dirty="0">
              <a:solidFill>
                <a:schemeClr val="tx1"/>
              </a:solidFill>
            </a:endParaRPr>
          </a:p>
        </p:txBody>
      </p:sp>
      <p:sp>
        <p:nvSpPr>
          <p:cNvPr id="9" name="TextBox 8">
            <a:extLst>
              <a:ext uri="{FF2B5EF4-FFF2-40B4-BE49-F238E27FC236}">
                <a16:creationId xmlns:a16="http://schemas.microsoft.com/office/drawing/2014/main" id="{8FAA4B43-69EA-911B-9A41-1D090B5C176E}"/>
              </a:ext>
            </a:extLst>
          </p:cNvPr>
          <p:cNvSpPr txBox="1"/>
          <p:nvPr/>
        </p:nvSpPr>
        <p:spPr>
          <a:xfrm>
            <a:off x="389019" y="1996068"/>
            <a:ext cx="2387635" cy="1200329"/>
          </a:xfrm>
          <a:prstGeom prst="rect">
            <a:avLst/>
          </a:prstGeom>
          <a:noFill/>
        </p:spPr>
        <p:txBody>
          <a:bodyPr wrap="square" rtlCol="0">
            <a:spAutoFit/>
          </a:bodyPr>
          <a:lstStyle/>
          <a:p>
            <a:r>
              <a:rPr lang="en-FR" dirty="0"/>
              <a:t>Model 2 and 5 are equally good</a:t>
            </a:r>
          </a:p>
          <a:p>
            <a:r>
              <a:rPr lang="en-GB" dirty="0"/>
              <a:t>when penalizing the number of parameters</a:t>
            </a:r>
            <a:r>
              <a:rPr lang="en-FR" dirty="0"/>
              <a:t> </a:t>
            </a:r>
          </a:p>
        </p:txBody>
      </p:sp>
    </p:spTree>
    <p:extLst>
      <p:ext uri="{BB962C8B-B14F-4D97-AF65-F5344CB8AC3E}">
        <p14:creationId xmlns:p14="http://schemas.microsoft.com/office/powerpoint/2010/main" val="7030944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9AE59-0D27-D4FF-24D3-A8691662FA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A2DAC6-EAC2-8286-753B-D21BE89AA16F}"/>
              </a:ext>
            </a:extLst>
          </p:cNvPr>
          <p:cNvSpPr>
            <a:spLocks noGrp="1"/>
          </p:cNvSpPr>
          <p:nvPr>
            <p:ph type="title"/>
          </p:nvPr>
        </p:nvSpPr>
        <p:spPr/>
        <p:txBody>
          <a:bodyPr/>
          <a:lstStyle/>
          <a:p>
            <a:r>
              <a:rPr lang="en-FR" dirty="0"/>
              <a:t>III Our preliminary results – cognitive load</a:t>
            </a:r>
          </a:p>
        </p:txBody>
      </p:sp>
      <p:sp>
        <p:nvSpPr>
          <p:cNvPr id="3" name="Content Placeholder 2">
            <a:extLst>
              <a:ext uri="{FF2B5EF4-FFF2-40B4-BE49-F238E27FC236}">
                <a16:creationId xmlns:a16="http://schemas.microsoft.com/office/drawing/2014/main" id="{2EB52995-A16C-D97B-6937-F53B6D4554C2}"/>
              </a:ext>
            </a:extLst>
          </p:cNvPr>
          <p:cNvSpPr>
            <a:spLocks noGrp="1"/>
          </p:cNvSpPr>
          <p:nvPr>
            <p:ph idx="1"/>
          </p:nvPr>
        </p:nvSpPr>
        <p:spPr>
          <a:xfrm>
            <a:off x="269061" y="1690688"/>
            <a:ext cx="2875905" cy="2167634"/>
          </a:xfrm>
        </p:spPr>
        <p:txBody>
          <a:bodyPr>
            <a:normAutofit/>
          </a:bodyPr>
          <a:lstStyle/>
          <a:p>
            <a:r>
              <a:rPr lang="en-FR" sz="2200" dirty="0"/>
              <a:t>Only rtChoice is preferable in the no cognitive load treatment, also for absolute deviations</a:t>
            </a:r>
          </a:p>
        </p:txBody>
      </p:sp>
      <p:pic>
        <p:nvPicPr>
          <p:cNvPr id="6" name="Picture 5" descr="A table with numbers and a number of objects&#10;&#10;AI-generated content may be incorrect.">
            <a:extLst>
              <a:ext uri="{FF2B5EF4-FFF2-40B4-BE49-F238E27FC236}">
                <a16:creationId xmlns:a16="http://schemas.microsoft.com/office/drawing/2014/main" id="{5A516B1E-63F4-0C3C-55F6-7D24B82ECC65}"/>
              </a:ext>
            </a:extLst>
          </p:cNvPr>
          <p:cNvPicPr>
            <a:picLocks noChangeAspect="1"/>
          </p:cNvPicPr>
          <p:nvPr/>
        </p:nvPicPr>
        <p:blipFill>
          <a:blip r:embed="rId2"/>
          <a:stretch>
            <a:fillRect/>
          </a:stretch>
        </p:blipFill>
        <p:spPr>
          <a:xfrm>
            <a:off x="3272308" y="1690688"/>
            <a:ext cx="8408415" cy="4879495"/>
          </a:xfrm>
          <a:prstGeom prst="rect">
            <a:avLst/>
          </a:prstGeom>
        </p:spPr>
      </p:pic>
      <p:sp>
        <p:nvSpPr>
          <p:cNvPr id="8" name="Rectangle 7">
            <a:extLst>
              <a:ext uri="{FF2B5EF4-FFF2-40B4-BE49-F238E27FC236}">
                <a16:creationId xmlns:a16="http://schemas.microsoft.com/office/drawing/2014/main" id="{3E6FAC61-13E2-D8EE-CE41-D308E9B2FB91}"/>
              </a:ext>
            </a:extLst>
          </p:cNvPr>
          <p:cNvSpPr/>
          <p:nvPr/>
        </p:nvSpPr>
        <p:spPr>
          <a:xfrm>
            <a:off x="6561362" y="1690688"/>
            <a:ext cx="645684" cy="425783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Rectangle 6">
            <a:extLst>
              <a:ext uri="{FF2B5EF4-FFF2-40B4-BE49-F238E27FC236}">
                <a16:creationId xmlns:a16="http://schemas.microsoft.com/office/drawing/2014/main" id="{C6FC7B31-811F-2E61-7241-ABFF31A5FD44}"/>
              </a:ext>
            </a:extLst>
          </p:cNvPr>
          <p:cNvSpPr/>
          <p:nvPr/>
        </p:nvSpPr>
        <p:spPr>
          <a:xfrm>
            <a:off x="369744" y="4225036"/>
            <a:ext cx="2775222" cy="2465696"/>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Sensitivity</a:t>
            </a:r>
            <a:r>
              <a:rPr lang="fr-FR" sz="2000" dirty="0">
                <a:solidFill>
                  <a:schemeClr val="tx1"/>
                </a:solidFill>
                <a:sym typeface="Wingdings" panose="05000000000000000000" pitchFamily="2" charset="2"/>
              </a:rPr>
              <a:t> to cognitive </a:t>
            </a:r>
            <a:r>
              <a:rPr lang="fr-FR" sz="2000" dirty="0" err="1">
                <a:solidFill>
                  <a:schemeClr val="tx1"/>
                </a:solidFill>
                <a:sym typeface="Wingdings" panose="05000000000000000000" pitchFamily="2" charset="2"/>
              </a:rPr>
              <a:t>load</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is</a:t>
            </a:r>
            <a:r>
              <a:rPr lang="fr-FR" sz="2000" dirty="0">
                <a:solidFill>
                  <a:schemeClr val="tx1"/>
                </a:solidFill>
                <a:sym typeface="Wingdings" panose="05000000000000000000" pitchFamily="2" charset="2"/>
              </a:rPr>
              <a:t> not </a:t>
            </a:r>
            <a:r>
              <a:rPr lang="fr-FR" sz="2000" dirty="0" err="1">
                <a:solidFill>
                  <a:schemeClr val="tx1"/>
                </a:solidFill>
                <a:sym typeface="Wingdings" panose="05000000000000000000" pitchFamily="2" charset="2"/>
              </a:rPr>
              <a:t>required</a:t>
            </a:r>
            <a:r>
              <a:rPr lang="fr-FR" sz="2000" dirty="0">
                <a:solidFill>
                  <a:schemeClr val="tx1"/>
                </a:solidFill>
                <a:sym typeface="Wingdings" panose="05000000000000000000" pitchFamily="2" charset="2"/>
              </a:rPr>
              <a:t> to </a:t>
            </a:r>
            <a:r>
              <a:rPr lang="fr-FR" sz="2000" dirty="0" err="1">
                <a:solidFill>
                  <a:schemeClr val="tx1"/>
                </a:solidFill>
                <a:sym typeface="Wingdings" panose="05000000000000000000" pitchFamily="2" charset="2"/>
              </a:rPr>
              <a:t>predict</a:t>
            </a:r>
            <a:r>
              <a:rPr lang="fr-FR" sz="2000" dirty="0">
                <a:solidFill>
                  <a:schemeClr val="tx1"/>
                </a:solidFill>
                <a:sym typeface="Wingdings" panose="05000000000000000000" pitchFamily="2" charset="2"/>
              </a:rPr>
              <a:t> </a:t>
            </a:r>
            <a:r>
              <a:rPr lang="fr-FR" sz="2000" b="1" dirty="0" err="1">
                <a:solidFill>
                  <a:schemeClr val="tx1"/>
                </a:solidFill>
                <a:sym typeface="Wingdings" panose="05000000000000000000" pitchFamily="2" charset="2"/>
              </a:rPr>
              <a:t>absolute</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deviations</a:t>
            </a:r>
            <a:r>
              <a:rPr lang="fr-FR" sz="2000" dirty="0">
                <a:solidFill>
                  <a:schemeClr val="tx1"/>
                </a:solidFill>
                <a:sym typeface="Wingdings" panose="05000000000000000000" pitchFamily="2" charset="2"/>
              </a:rPr>
              <a:t> in the no cognitive </a:t>
            </a:r>
            <a:r>
              <a:rPr lang="fr-FR" sz="2000" dirty="0" err="1">
                <a:solidFill>
                  <a:schemeClr val="tx1"/>
                </a:solidFill>
                <a:sym typeface="Wingdings" panose="05000000000000000000" pitchFamily="2" charset="2"/>
              </a:rPr>
              <a:t>load</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treatment</a:t>
            </a:r>
            <a:endParaRPr lang="fr-FR" sz="2000" dirty="0">
              <a:solidFill>
                <a:schemeClr val="tx1"/>
              </a:solidFill>
            </a:endParaRPr>
          </a:p>
        </p:txBody>
      </p:sp>
    </p:spTree>
    <p:extLst>
      <p:ext uri="{BB962C8B-B14F-4D97-AF65-F5344CB8AC3E}">
        <p14:creationId xmlns:p14="http://schemas.microsoft.com/office/powerpoint/2010/main" val="19785264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A749E-EACA-6532-AC52-4BB25854A888}"/>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73F261F1-6766-BB6B-16DE-258FD4F31B95}"/>
              </a:ext>
            </a:extLst>
          </p:cNvPr>
          <p:cNvSpPr txBox="1">
            <a:spLocks/>
          </p:cNvSpPr>
          <p:nvPr/>
        </p:nvSpPr>
        <p:spPr>
          <a:xfrm>
            <a:off x="442800" y="244800"/>
            <a:ext cx="3271221" cy="215898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FR" dirty="0"/>
              <a:t>III Our preliminary results – cognitive load</a:t>
            </a:r>
          </a:p>
        </p:txBody>
      </p:sp>
      <p:pic>
        <p:nvPicPr>
          <p:cNvPr id="2" name="Picture 1">
            <a:extLst>
              <a:ext uri="{FF2B5EF4-FFF2-40B4-BE49-F238E27FC236}">
                <a16:creationId xmlns:a16="http://schemas.microsoft.com/office/drawing/2014/main" id="{3B2710DC-C0E5-53B6-E2FB-814466848C7F}"/>
              </a:ext>
            </a:extLst>
          </p:cNvPr>
          <p:cNvPicPr>
            <a:picLocks noChangeAspect="1"/>
          </p:cNvPicPr>
          <p:nvPr/>
        </p:nvPicPr>
        <p:blipFill>
          <a:blip r:embed="rId3"/>
          <a:stretch>
            <a:fillRect/>
          </a:stretch>
        </p:blipFill>
        <p:spPr>
          <a:xfrm>
            <a:off x="4710546" y="0"/>
            <a:ext cx="7481455" cy="6858000"/>
          </a:xfrm>
          <a:prstGeom prst="rect">
            <a:avLst/>
          </a:prstGeom>
        </p:spPr>
      </p:pic>
      <p:sp>
        <p:nvSpPr>
          <p:cNvPr id="3" name="Rectangle 2">
            <a:extLst>
              <a:ext uri="{FF2B5EF4-FFF2-40B4-BE49-F238E27FC236}">
                <a16:creationId xmlns:a16="http://schemas.microsoft.com/office/drawing/2014/main" id="{4EB38314-F2F2-AF43-DA42-5FCC332AA958}"/>
              </a:ext>
            </a:extLst>
          </p:cNvPr>
          <p:cNvSpPr/>
          <p:nvPr/>
        </p:nvSpPr>
        <p:spPr>
          <a:xfrm>
            <a:off x="7256207" y="1799303"/>
            <a:ext cx="2467896" cy="175014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404B7C5E-9321-819F-AF8D-45BFDEB1CA34}"/>
              </a:ext>
            </a:extLst>
          </p:cNvPr>
          <p:cNvSpPr/>
          <p:nvPr/>
        </p:nvSpPr>
        <p:spPr>
          <a:xfrm>
            <a:off x="690799" y="4037269"/>
            <a:ext cx="2775222" cy="2575931"/>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Higher</a:t>
            </a:r>
            <a:r>
              <a:rPr lang="fr-FR" sz="2000" dirty="0">
                <a:solidFill>
                  <a:schemeClr val="tx1"/>
                </a:solidFill>
                <a:sym typeface="Wingdings" panose="05000000000000000000" pitchFamily="2" charset="2"/>
              </a:rPr>
              <a:t> cognitive </a:t>
            </a:r>
            <a:r>
              <a:rPr lang="fr-FR" sz="2000" dirty="0" err="1">
                <a:solidFill>
                  <a:schemeClr val="tx1"/>
                </a:solidFill>
                <a:sym typeface="Wingdings" panose="05000000000000000000" pitchFamily="2" charset="2"/>
              </a:rPr>
              <a:t>load</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sensitivity</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implies</a:t>
            </a:r>
            <a:r>
              <a:rPr lang="fr-FR" sz="2000" dirty="0">
                <a:solidFill>
                  <a:schemeClr val="tx1"/>
                </a:solidFill>
                <a:sym typeface="Wingdings" panose="05000000000000000000" pitchFamily="2" charset="2"/>
              </a:rPr>
              <a:t> a </a:t>
            </a:r>
            <a:r>
              <a:rPr lang="fr-FR" sz="2000" dirty="0" err="1">
                <a:solidFill>
                  <a:schemeClr val="tx1"/>
                </a:solidFill>
                <a:sym typeface="Wingdings" panose="05000000000000000000" pitchFamily="2" charset="2"/>
              </a:rPr>
              <a:t>higher</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accuracy</a:t>
            </a:r>
            <a:r>
              <a:rPr lang="fr-FR" sz="2000" dirty="0">
                <a:solidFill>
                  <a:schemeClr val="tx1"/>
                </a:solidFill>
                <a:sym typeface="Wingdings" panose="05000000000000000000" pitchFamily="2" charset="2"/>
              </a:rPr>
              <a:t> on the </a:t>
            </a:r>
            <a:r>
              <a:rPr lang="fr-FR" sz="2000" dirty="0" err="1">
                <a:solidFill>
                  <a:schemeClr val="tx1"/>
                </a:solidFill>
                <a:sym typeface="Wingdings" panose="05000000000000000000" pitchFamily="2" charset="2"/>
              </a:rPr>
              <a:t>span</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task</a:t>
            </a:r>
            <a:r>
              <a:rPr lang="fr-FR" sz="2000" dirty="0">
                <a:solidFill>
                  <a:schemeClr val="tx1"/>
                </a:solidFill>
                <a:sym typeface="Wingdings" panose="05000000000000000000" pitchFamily="2" charset="2"/>
              </a:rPr>
              <a:t> </a:t>
            </a:r>
            <a:r>
              <a:rPr lang="fr-FR" sz="2000" dirty="0" err="1">
                <a:solidFill>
                  <a:schemeClr val="tx1"/>
                </a:solidFill>
                <a:sym typeface="Wingdings" panose="05000000000000000000" pitchFamily="2" charset="2"/>
              </a:rPr>
              <a:t>around</a:t>
            </a:r>
            <a:r>
              <a:rPr lang="fr-FR" sz="2000" dirty="0">
                <a:solidFill>
                  <a:schemeClr val="tx1"/>
                </a:solidFill>
                <a:sym typeface="Wingdings" panose="05000000000000000000" pitchFamily="2" charset="2"/>
              </a:rPr>
              <a:t> the </a:t>
            </a:r>
            <a:r>
              <a:rPr lang="fr-FR" sz="2000" dirty="0" err="1">
                <a:solidFill>
                  <a:schemeClr val="tx1"/>
                </a:solidFill>
                <a:sym typeface="Wingdings" panose="05000000000000000000" pitchFamily="2" charset="2"/>
              </a:rPr>
              <a:t>MPLs</a:t>
            </a:r>
            <a:endParaRPr lang="fr-FR" sz="2000" dirty="0">
              <a:solidFill>
                <a:schemeClr val="tx1"/>
              </a:solidFill>
            </a:endParaRPr>
          </a:p>
        </p:txBody>
      </p:sp>
    </p:spTree>
    <p:extLst>
      <p:ext uri="{BB962C8B-B14F-4D97-AF65-F5344CB8AC3E}">
        <p14:creationId xmlns:p14="http://schemas.microsoft.com/office/powerpoint/2010/main" val="27942154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99954-6B06-3095-9C79-B2AF73CCDFD6}"/>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0FFE8153-E917-6B1C-D5DF-CAA023546D2C}"/>
              </a:ext>
            </a:extLst>
          </p:cNvPr>
          <p:cNvSpPr txBox="1">
            <a:spLocks/>
          </p:cNvSpPr>
          <p:nvPr/>
        </p:nvSpPr>
        <p:spPr>
          <a:xfrm>
            <a:off x="442800" y="244800"/>
            <a:ext cx="3271221" cy="2158982"/>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FR" dirty="0"/>
              <a:t>III Our preliminary results – cognitive load</a:t>
            </a:r>
          </a:p>
        </p:txBody>
      </p:sp>
      <p:sp>
        <p:nvSpPr>
          <p:cNvPr id="12" name="Content Placeholder 10">
            <a:extLst>
              <a:ext uri="{FF2B5EF4-FFF2-40B4-BE49-F238E27FC236}">
                <a16:creationId xmlns:a16="http://schemas.microsoft.com/office/drawing/2014/main" id="{14209FBF-4449-AAC8-F34D-B249A148C3CF}"/>
              </a:ext>
            </a:extLst>
          </p:cNvPr>
          <p:cNvSpPr>
            <a:spLocks noGrp="1"/>
          </p:cNvSpPr>
          <p:nvPr>
            <p:ph idx="1"/>
          </p:nvPr>
        </p:nvSpPr>
        <p:spPr>
          <a:xfrm>
            <a:off x="442800" y="2511553"/>
            <a:ext cx="2892071" cy="3084628"/>
          </a:xfrm>
        </p:spPr>
        <p:txBody>
          <a:bodyPr>
            <a:normAutofit/>
          </a:bodyPr>
          <a:lstStyle/>
          <a:p>
            <a:r>
              <a:rPr lang="en-US" sz="2200" dirty="0"/>
              <a:t>No significant correlation between </a:t>
            </a:r>
            <a:r>
              <a:rPr lang="en-US" sz="2200" dirty="0" err="1"/>
              <a:t>rtChoice</a:t>
            </a:r>
            <a:r>
              <a:rPr lang="en-US" sz="2200" dirty="0"/>
              <a:t> and other predictors of deviations</a:t>
            </a:r>
            <a:endParaRPr lang="en-FR" sz="2200" dirty="0"/>
          </a:p>
          <a:p>
            <a:endParaRPr lang="en-FR" sz="2400" dirty="0"/>
          </a:p>
          <a:p>
            <a:pPr marL="0" indent="0">
              <a:buNone/>
            </a:pPr>
            <a:endParaRPr lang="en-FR" sz="1500" dirty="0"/>
          </a:p>
        </p:txBody>
      </p:sp>
      <p:pic>
        <p:nvPicPr>
          <p:cNvPr id="10" name="Picture 9">
            <a:extLst>
              <a:ext uri="{FF2B5EF4-FFF2-40B4-BE49-F238E27FC236}">
                <a16:creationId xmlns:a16="http://schemas.microsoft.com/office/drawing/2014/main" id="{4B4C688B-0A46-310E-65F9-D2684AF6E7AD}"/>
              </a:ext>
            </a:extLst>
          </p:cNvPr>
          <p:cNvPicPr>
            <a:picLocks noChangeAspect="1"/>
          </p:cNvPicPr>
          <p:nvPr/>
        </p:nvPicPr>
        <p:blipFill>
          <a:blip r:embed="rId3"/>
          <a:stretch>
            <a:fillRect/>
          </a:stretch>
        </p:blipFill>
        <p:spPr>
          <a:xfrm>
            <a:off x="4710545" y="0"/>
            <a:ext cx="7481455" cy="6858000"/>
          </a:xfrm>
          <a:prstGeom prst="rect">
            <a:avLst/>
          </a:prstGeom>
        </p:spPr>
      </p:pic>
    </p:spTree>
    <p:extLst>
      <p:ext uri="{BB962C8B-B14F-4D97-AF65-F5344CB8AC3E}">
        <p14:creationId xmlns:p14="http://schemas.microsoft.com/office/powerpoint/2010/main" val="14754922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43FBD-F13E-46DE-A702-DD6FCC1D2F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50E817-CC1A-FF48-634B-AB793F0D302B}"/>
              </a:ext>
            </a:extLst>
          </p:cNvPr>
          <p:cNvSpPr>
            <a:spLocks noGrp="1"/>
          </p:cNvSpPr>
          <p:nvPr>
            <p:ph type="title"/>
          </p:nvPr>
        </p:nvSpPr>
        <p:spPr/>
        <p:txBody>
          <a:bodyPr/>
          <a:lstStyle/>
          <a:p>
            <a:r>
              <a:rPr lang="en-FR" dirty="0"/>
              <a:t>Summary results - HP1</a:t>
            </a:r>
          </a:p>
        </p:txBody>
      </p:sp>
      <p:sp>
        <p:nvSpPr>
          <p:cNvPr id="3" name="Content Placeholder 2">
            <a:extLst>
              <a:ext uri="{FF2B5EF4-FFF2-40B4-BE49-F238E27FC236}">
                <a16:creationId xmlns:a16="http://schemas.microsoft.com/office/drawing/2014/main" id="{AA0FA7F2-AF84-6E12-F597-7C275FBFE4A1}"/>
              </a:ext>
            </a:extLst>
          </p:cNvPr>
          <p:cNvSpPr>
            <a:spLocks noGrp="1"/>
          </p:cNvSpPr>
          <p:nvPr>
            <p:ph idx="1"/>
          </p:nvPr>
        </p:nvSpPr>
        <p:spPr/>
        <p:txBody>
          <a:bodyPr>
            <a:normAutofit/>
          </a:bodyPr>
          <a:lstStyle/>
          <a:p>
            <a:r>
              <a:rPr lang="en-US" dirty="0"/>
              <a:t>The fourfold pattern of risk aversion appears with and without risk even though its magnitude is significantly decreased in mirrors </a:t>
            </a:r>
          </a:p>
          <a:p>
            <a:r>
              <a:rPr lang="en-US" dirty="0"/>
              <a:t>Loss-aversion is not found for mirrors</a:t>
            </a:r>
          </a:p>
        </p:txBody>
      </p:sp>
    </p:spTree>
    <p:extLst>
      <p:ext uri="{BB962C8B-B14F-4D97-AF65-F5344CB8AC3E}">
        <p14:creationId xmlns:p14="http://schemas.microsoft.com/office/powerpoint/2010/main" val="33847982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A1DE0-A04C-58B9-F317-C158369DF7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94161F-6606-E79F-5DF7-91A2A38516A2}"/>
              </a:ext>
            </a:extLst>
          </p:cNvPr>
          <p:cNvSpPr>
            <a:spLocks noGrp="1"/>
          </p:cNvSpPr>
          <p:nvPr>
            <p:ph type="title"/>
          </p:nvPr>
        </p:nvSpPr>
        <p:spPr/>
        <p:txBody>
          <a:bodyPr/>
          <a:lstStyle/>
          <a:p>
            <a:r>
              <a:rPr lang="en-FR" dirty="0"/>
              <a:t>Summary results – HP2</a:t>
            </a:r>
          </a:p>
        </p:txBody>
      </p:sp>
      <p:sp>
        <p:nvSpPr>
          <p:cNvPr id="3" name="Content Placeholder 2">
            <a:extLst>
              <a:ext uri="{FF2B5EF4-FFF2-40B4-BE49-F238E27FC236}">
                <a16:creationId xmlns:a16="http://schemas.microsoft.com/office/drawing/2014/main" id="{181E0E0C-30EF-9340-00BE-3509BC3A4268}"/>
              </a:ext>
            </a:extLst>
          </p:cNvPr>
          <p:cNvSpPr>
            <a:spLocks noGrp="1"/>
          </p:cNvSpPr>
          <p:nvPr>
            <p:ph idx="1"/>
          </p:nvPr>
        </p:nvSpPr>
        <p:spPr/>
        <p:txBody>
          <a:bodyPr>
            <a:normAutofit/>
          </a:bodyPr>
          <a:lstStyle/>
          <a:p>
            <a:r>
              <a:rPr lang="en-US" dirty="0"/>
              <a:t>There is no between treatment difference. But cognitive load sensitivity seems to have an impact so we can’t state that cognitive load does not have an impact</a:t>
            </a:r>
          </a:p>
          <a:p>
            <a:r>
              <a:rPr lang="fr-FR" dirty="0">
                <a:sym typeface="Wingdings" panose="05000000000000000000" pitchFamily="2" charset="2"/>
              </a:rPr>
              <a:t>Participants </a:t>
            </a:r>
            <a:r>
              <a:rPr lang="fr-FR" dirty="0" err="1">
                <a:sym typeface="Wingdings" panose="05000000000000000000" pitchFamily="2" charset="2"/>
              </a:rPr>
              <a:t>probably</a:t>
            </a:r>
            <a:r>
              <a:rPr lang="fr-FR" dirty="0">
                <a:sym typeface="Wingdings" panose="05000000000000000000" pitchFamily="2" charset="2"/>
              </a:rPr>
              <a:t> </a:t>
            </a:r>
            <a:r>
              <a:rPr lang="fr-FR" dirty="0" err="1">
                <a:sym typeface="Wingdings" panose="05000000000000000000" pitchFamily="2" charset="2"/>
              </a:rPr>
              <a:t>transfer</a:t>
            </a:r>
            <a:r>
              <a:rPr lang="fr-FR" dirty="0">
                <a:sym typeface="Wingdings" panose="05000000000000000000" pitchFamily="2" charset="2"/>
              </a:rPr>
              <a:t> the digits in long </a:t>
            </a:r>
            <a:r>
              <a:rPr lang="fr-FR" dirty="0" err="1">
                <a:sym typeface="Wingdings" panose="05000000000000000000" pitchFamily="2" charset="2"/>
              </a:rPr>
              <a:t>term</a:t>
            </a:r>
            <a:r>
              <a:rPr lang="fr-FR" dirty="0">
                <a:sym typeface="Wingdings" panose="05000000000000000000" pitchFamily="2" charset="2"/>
              </a:rPr>
              <a:t> memory </a:t>
            </a:r>
            <a:r>
              <a:rPr lang="fr-FR" dirty="0" err="1">
                <a:sym typeface="Wingdings" panose="05000000000000000000" pitchFamily="2" charset="2"/>
              </a:rPr>
              <a:t>before</a:t>
            </a:r>
            <a:r>
              <a:rPr lang="fr-FR" dirty="0">
                <a:sym typeface="Wingdings" panose="05000000000000000000" pitchFamily="2" charset="2"/>
              </a:rPr>
              <a:t> </a:t>
            </a:r>
            <a:r>
              <a:rPr lang="fr-FR" dirty="0" err="1">
                <a:sym typeface="Wingdings" panose="05000000000000000000" pitchFamily="2" charset="2"/>
              </a:rPr>
              <a:t>choosing</a:t>
            </a:r>
            <a:r>
              <a:rPr lang="fr-FR" dirty="0">
                <a:sym typeface="Wingdings" panose="05000000000000000000" pitchFamily="2" charset="2"/>
              </a:rPr>
              <a:t>, </a:t>
            </a:r>
            <a:r>
              <a:rPr lang="fr-FR" dirty="0" err="1">
                <a:sym typeface="Wingdings" panose="05000000000000000000" pitchFamily="2" charset="2"/>
              </a:rPr>
              <a:t>cancelling</a:t>
            </a:r>
            <a:r>
              <a:rPr lang="fr-FR" dirty="0">
                <a:sym typeface="Wingdings" panose="05000000000000000000" pitchFamily="2" charset="2"/>
              </a:rPr>
              <a:t> out the </a:t>
            </a:r>
            <a:r>
              <a:rPr lang="fr-FR" dirty="0" err="1">
                <a:sym typeface="Wingdings" panose="05000000000000000000" pitchFamily="2" charset="2"/>
              </a:rPr>
              <a:t>effect</a:t>
            </a:r>
            <a:r>
              <a:rPr lang="fr-FR" dirty="0">
                <a:sym typeface="Wingdings" panose="05000000000000000000" pitchFamily="2" charset="2"/>
              </a:rPr>
              <a:t> of </a:t>
            </a:r>
            <a:r>
              <a:rPr lang="fr-FR" dirty="0" err="1">
                <a:sym typeface="Wingdings" panose="05000000000000000000" pitchFamily="2" charset="2"/>
              </a:rPr>
              <a:t>working</a:t>
            </a:r>
            <a:r>
              <a:rPr lang="fr-FR" dirty="0">
                <a:sym typeface="Wingdings" panose="05000000000000000000" pitchFamily="2" charset="2"/>
              </a:rPr>
              <a:t> memory </a:t>
            </a:r>
            <a:r>
              <a:rPr lang="fr-FR" dirty="0" err="1">
                <a:sym typeface="Wingdings" panose="05000000000000000000" pitchFamily="2" charset="2"/>
              </a:rPr>
              <a:t>load</a:t>
            </a:r>
            <a:endParaRPr lang="fr-FR" dirty="0">
              <a:sym typeface="Wingdings" panose="05000000000000000000" pitchFamily="2" charset="2"/>
            </a:endParaRPr>
          </a:p>
          <a:p>
            <a:endParaRPr lang="en-US" dirty="0"/>
          </a:p>
          <a:p>
            <a:pPr marL="0" indent="0">
              <a:buNone/>
            </a:pPr>
            <a:endParaRPr lang="en-US" dirty="0"/>
          </a:p>
        </p:txBody>
      </p:sp>
    </p:spTree>
    <p:extLst>
      <p:ext uri="{BB962C8B-B14F-4D97-AF65-F5344CB8AC3E}">
        <p14:creationId xmlns:p14="http://schemas.microsoft.com/office/powerpoint/2010/main" val="2337485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BAC3E-603E-99D0-2801-84EAE15E42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0C7F0B-63F1-E1E5-D6D6-FBC6660E2149}"/>
              </a:ext>
            </a:extLst>
          </p:cNvPr>
          <p:cNvSpPr>
            <a:spLocks noGrp="1"/>
          </p:cNvSpPr>
          <p:nvPr>
            <p:ph type="title"/>
          </p:nvPr>
        </p:nvSpPr>
        <p:spPr/>
        <p:txBody>
          <a:bodyPr/>
          <a:lstStyle/>
          <a:p>
            <a:r>
              <a:rPr lang="en-FR" dirty="0"/>
              <a:t>Summary results – HP3</a:t>
            </a:r>
          </a:p>
        </p:txBody>
      </p:sp>
      <p:sp>
        <p:nvSpPr>
          <p:cNvPr id="3" name="Content Placeholder 2">
            <a:extLst>
              <a:ext uri="{FF2B5EF4-FFF2-40B4-BE49-F238E27FC236}">
                <a16:creationId xmlns:a16="http://schemas.microsoft.com/office/drawing/2014/main" id="{A3BF2FB3-7FCF-641F-6D4C-DA2318613FB9}"/>
              </a:ext>
            </a:extLst>
          </p:cNvPr>
          <p:cNvSpPr>
            <a:spLocks noGrp="1"/>
          </p:cNvSpPr>
          <p:nvPr>
            <p:ph idx="1"/>
          </p:nvPr>
        </p:nvSpPr>
        <p:spPr/>
        <p:txBody>
          <a:bodyPr>
            <a:normAutofit/>
          </a:bodyPr>
          <a:lstStyle/>
          <a:p>
            <a:r>
              <a:rPr lang="en-US" dirty="0"/>
              <a:t>In the cognitive load treatment, cognitive load sensitivity does seem to strengthen deviations from EV, especially normalized ones. But its negative interaction with </a:t>
            </a:r>
            <a:r>
              <a:rPr lang="en-US" dirty="0" err="1"/>
              <a:t>rtChoice</a:t>
            </a:r>
            <a:r>
              <a:rPr lang="en-US" dirty="0"/>
              <a:t> makes it difficult to reach a certain statement.</a:t>
            </a:r>
          </a:p>
          <a:p>
            <a:pPr marL="0" indent="0">
              <a:buNone/>
            </a:pPr>
            <a:endParaRPr lang="en-US" dirty="0"/>
          </a:p>
        </p:txBody>
      </p:sp>
    </p:spTree>
    <p:extLst>
      <p:ext uri="{BB962C8B-B14F-4D97-AF65-F5344CB8AC3E}">
        <p14:creationId xmlns:p14="http://schemas.microsoft.com/office/powerpoint/2010/main" val="16262820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B2801-E5FA-03F0-A81B-5A74F45C98F1}"/>
              </a:ext>
            </a:extLst>
          </p:cNvPr>
          <p:cNvSpPr>
            <a:spLocks noGrp="1"/>
          </p:cNvSpPr>
          <p:nvPr>
            <p:ph type="title"/>
          </p:nvPr>
        </p:nvSpPr>
        <p:spPr/>
        <p:txBody>
          <a:bodyPr/>
          <a:lstStyle/>
          <a:p>
            <a:r>
              <a:rPr lang="en-FR" dirty="0"/>
              <a:t>Next step</a:t>
            </a:r>
          </a:p>
        </p:txBody>
      </p:sp>
      <p:sp>
        <p:nvSpPr>
          <p:cNvPr id="3" name="Content Placeholder 2">
            <a:extLst>
              <a:ext uri="{FF2B5EF4-FFF2-40B4-BE49-F238E27FC236}">
                <a16:creationId xmlns:a16="http://schemas.microsoft.com/office/drawing/2014/main" id="{EB24706E-94C7-C047-7DC7-DE9C05B331C7}"/>
              </a:ext>
            </a:extLst>
          </p:cNvPr>
          <p:cNvSpPr>
            <a:spLocks noGrp="1"/>
          </p:cNvSpPr>
          <p:nvPr>
            <p:ph idx="1"/>
          </p:nvPr>
        </p:nvSpPr>
        <p:spPr/>
        <p:txBody>
          <a:bodyPr/>
          <a:lstStyle/>
          <a:p>
            <a:pPr lvl="1"/>
            <a:r>
              <a:rPr lang="fr-FR" sz="2800" dirty="0">
                <a:sym typeface="Wingdings" panose="05000000000000000000" pitchFamily="2" charset="2"/>
              </a:rPr>
              <a:t>Run the </a:t>
            </a:r>
            <a:r>
              <a:rPr lang="fr-FR" sz="2800" dirty="0" err="1">
                <a:sym typeface="Wingdings" panose="05000000000000000000" pitchFamily="2" charset="2"/>
              </a:rPr>
              <a:t>experiment</a:t>
            </a:r>
            <a:r>
              <a:rPr lang="fr-FR" sz="2800" dirty="0">
                <a:sym typeface="Wingdings" panose="05000000000000000000" pitchFamily="2" charset="2"/>
              </a:rPr>
              <a:t> </a:t>
            </a:r>
            <a:r>
              <a:rPr lang="fr-FR" sz="2800" dirty="0" err="1">
                <a:sym typeface="Wingdings" panose="05000000000000000000" pitchFamily="2" charset="2"/>
              </a:rPr>
              <a:t>with</a:t>
            </a:r>
            <a:r>
              <a:rPr lang="fr-FR" sz="2800" dirty="0">
                <a:sym typeface="Wingdings" panose="05000000000000000000" pitchFamily="2" charset="2"/>
              </a:rPr>
              <a:t> a </a:t>
            </a:r>
            <a:r>
              <a:rPr lang="fr-FR" sz="2800" dirty="0" err="1">
                <a:sym typeface="Wingdings" panose="05000000000000000000" pitchFamily="2" charset="2"/>
              </a:rPr>
              <a:t>fixed</a:t>
            </a:r>
            <a:r>
              <a:rPr lang="fr-FR" sz="2800" dirty="0">
                <a:sym typeface="Wingdings" panose="05000000000000000000" pitchFamily="2" charset="2"/>
              </a:rPr>
              <a:t> </a:t>
            </a:r>
            <a:r>
              <a:rPr lang="fr-FR" sz="2800" dirty="0" err="1">
                <a:sym typeface="Wingdings" panose="05000000000000000000" pitchFamily="2" charset="2"/>
              </a:rPr>
              <a:t>choice</a:t>
            </a:r>
            <a:r>
              <a:rPr lang="fr-FR" sz="2800" dirty="0">
                <a:sym typeface="Wingdings" panose="05000000000000000000" pitchFamily="2" charset="2"/>
              </a:rPr>
              <a:t> time of 13.5s (</a:t>
            </a:r>
            <a:r>
              <a:rPr lang="fr-FR" sz="2800" dirty="0" err="1">
                <a:sym typeface="Wingdings" panose="05000000000000000000" pitchFamily="2" charset="2"/>
              </a:rPr>
              <a:t>median</a:t>
            </a:r>
            <a:r>
              <a:rPr lang="fr-FR" sz="2800" dirty="0">
                <a:sym typeface="Wingdings" panose="05000000000000000000" pitchFamily="2" charset="2"/>
              </a:rPr>
              <a:t>) to </a:t>
            </a:r>
            <a:r>
              <a:rPr lang="fr-FR" sz="2800" dirty="0" err="1">
                <a:sym typeface="Wingdings" panose="05000000000000000000" pitchFamily="2" charset="2"/>
              </a:rPr>
              <a:t>identify</a:t>
            </a:r>
            <a:r>
              <a:rPr lang="fr-FR" sz="2800" dirty="0">
                <a:sym typeface="Wingdings" panose="05000000000000000000" pitchFamily="2" charset="2"/>
              </a:rPr>
              <a:t> more </a:t>
            </a:r>
            <a:r>
              <a:rPr lang="fr-FR" sz="2800" dirty="0" err="1">
                <a:sym typeface="Wingdings" panose="05000000000000000000" pitchFamily="2" charset="2"/>
              </a:rPr>
              <a:t>cleanly</a:t>
            </a:r>
            <a:r>
              <a:rPr lang="fr-FR" sz="2800" dirty="0">
                <a:sym typeface="Wingdings" panose="05000000000000000000" pitchFamily="2" charset="2"/>
              </a:rPr>
              <a:t> the </a:t>
            </a:r>
            <a:r>
              <a:rPr lang="fr-FR" sz="2800" dirty="0" err="1">
                <a:sym typeface="Wingdings" panose="05000000000000000000" pitchFamily="2" charset="2"/>
              </a:rPr>
              <a:t>effect</a:t>
            </a:r>
            <a:r>
              <a:rPr lang="fr-FR" sz="2800" dirty="0">
                <a:sym typeface="Wingdings" panose="05000000000000000000" pitchFamily="2" charset="2"/>
              </a:rPr>
              <a:t> of the cognitive </a:t>
            </a:r>
            <a:r>
              <a:rPr lang="fr-FR" sz="2800" dirty="0" err="1">
                <a:sym typeface="Wingdings" panose="05000000000000000000" pitchFamily="2" charset="2"/>
              </a:rPr>
              <a:t>load</a:t>
            </a:r>
            <a:r>
              <a:rPr lang="fr-FR" sz="2800" dirty="0">
                <a:sym typeface="Wingdings" panose="05000000000000000000" pitchFamily="2" charset="2"/>
              </a:rPr>
              <a:t>. </a:t>
            </a:r>
          </a:p>
          <a:p>
            <a:pPr lvl="1"/>
            <a:r>
              <a:rPr lang="fr-FR" sz="2800" dirty="0" err="1">
                <a:sym typeface="Wingdings" panose="05000000000000000000" pitchFamily="2" charset="2"/>
              </a:rPr>
              <a:t>Other</a:t>
            </a:r>
            <a:r>
              <a:rPr lang="fr-FR" sz="2800" dirty="0">
                <a:sym typeface="Wingdings" panose="05000000000000000000" pitchFamily="2" charset="2"/>
              </a:rPr>
              <a:t> options : </a:t>
            </a:r>
          </a:p>
          <a:p>
            <a:pPr lvl="2"/>
            <a:r>
              <a:rPr lang="fr-FR" sz="2400" dirty="0">
                <a:sym typeface="Wingdings" panose="05000000000000000000" pitchFamily="2" charset="2"/>
              </a:rPr>
              <a:t>If </a:t>
            </a:r>
            <a:r>
              <a:rPr lang="fr-FR" sz="2400" dirty="0" err="1">
                <a:sym typeface="Wingdings" panose="05000000000000000000" pitchFamily="2" charset="2"/>
              </a:rPr>
              <a:t>still</a:t>
            </a:r>
            <a:r>
              <a:rPr lang="fr-FR" sz="2400" dirty="0">
                <a:sym typeface="Wingdings" panose="05000000000000000000" pitchFamily="2" charset="2"/>
              </a:rPr>
              <a:t> no </a:t>
            </a:r>
            <a:r>
              <a:rPr lang="fr-FR" sz="2400" dirty="0" err="1">
                <a:sym typeface="Wingdings" panose="05000000000000000000" pitchFamily="2" charset="2"/>
              </a:rPr>
              <a:t>effects</a:t>
            </a:r>
            <a:r>
              <a:rPr lang="fr-FR" sz="2400" dirty="0">
                <a:sym typeface="Wingdings" panose="05000000000000000000" pitchFamily="2" charset="2"/>
              </a:rPr>
              <a:t>, </a:t>
            </a:r>
            <a:r>
              <a:rPr lang="fr-FR" sz="2400" dirty="0" err="1">
                <a:sym typeface="Wingdings" panose="05000000000000000000" pitchFamily="2" charset="2"/>
              </a:rPr>
              <a:t>then</a:t>
            </a:r>
            <a:r>
              <a:rPr lang="fr-FR" sz="2400" dirty="0">
                <a:sym typeface="Wingdings" panose="05000000000000000000" pitchFamily="2" charset="2"/>
              </a:rPr>
              <a:t> </a:t>
            </a:r>
            <a:r>
              <a:rPr lang="fr-FR" sz="2400" dirty="0" err="1">
                <a:sym typeface="Wingdings" panose="05000000000000000000" pitchFamily="2" charset="2"/>
              </a:rPr>
              <a:t>publish</a:t>
            </a:r>
            <a:r>
              <a:rPr lang="fr-FR" sz="2400" dirty="0">
                <a:sym typeface="Wingdings" panose="05000000000000000000" pitchFamily="2" charset="2"/>
              </a:rPr>
              <a:t> </a:t>
            </a:r>
            <a:r>
              <a:rPr lang="fr-FR" sz="2400" dirty="0" err="1">
                <a:sym typeface="Wingdings" panose="05000000000000000000" pitchFamily="2" charset="2"/>
              </a:rPr>
              <a:t>it</a:t>
            </a:r>
            <a:r>
              <a:rPr lang="fr-FR" sz="2400" dirty="0">
                <a:sym typeface="Wingdings" panose="05000000000000000000" pitchFamily="2" charset="2"/>
              </a:rPr>
              <a:t> +  show </a:t>
            </a:r>
            <a:r>
              <a:rPr lang="fr-FR" sz="2400" dirty="0" err="1">
                <a:sym typeface="Wingdings" panose="05000000000000000000" pitchFamily="2" charset="2"/>
              </a:rPr>
              <a:t>that</a:t>
            </a:r>
            <a:r>
              <a:rPr lang="fr-FR" sz="2400" dirty="0">
                <a:sym typeface="Wingdings" panose="05000000000000000000" pitchFamily="2" charset="2"/>
              </a:rPr>
              <a:t> cognitive </a:t>
            </a:r>
            <a:r>
              <a:rPr lang="fr-FR" sz="2400" dirty="0" err="1">
                <a:sym typeface="Wingdings" panose="05000000000000000000" pitchFamily="2" charset="2"/>
              </a:rPr>
              <a:t>load</a:t>
            </a:r>
            <a:r>
              <a:rPr lang="fr-FR" sz="2400" dirty="0">
                <a:sym typeface="Wingdings" panose="05000000000000000000" pitchFamily="2" charset="2"/>
              </a:rPr>
              <a:t> have an impact on </a:t>
            </a:r>
            <a:r>
              <a:rPr lang="fr-FR" sz="2400" dirty="0" err="1">
                <a:sym typeface="Wingdings" panose="05000000000000000000" pitchFamily="2" charset="2"/>
              </a:rPr>
              <a:t>Raven’s</a:t>
            </a:r>
            <a:r>
              <a:rPr lang="fr-FR" sz="2400" dirty="0">
                <a:sym typeface="Wingdings" panose="05000000000000000000" pitchFamily="2" charset="2"/>
              </a:rPr>
              <a:t> matrices performance</a:t>
            </a:r>
          </a:p>
          <a:p>
            <a:pPr lvl="2"/>
            <a:r>
              <a:rPr lang="fr-FR" sz="2400" dirty="0" err="1">
                <a:sym typeface="Wingdings" panose="05000000000000000000" pitchFamily="2" charset="2"/>
              </a:rPr>
              <a:t>rtChoice</a:t>
            </a:r>
            <a:r>
              <a:rPr lang="fr-FR" sz="2400" dirty="0">
                <a:sym typeface="Wingdings" panose="05000000000000000000" pitchFamily="2" charset="2"/>
              </a:rPr>
              <a:t> </a:t>
            </a:r>
            <a:r>
              <a:rPr lang="fr-FR" sz="2400" dirty="0" err="1">
                <a:sym typeface="Wingdings" panose="05000000000000000000" pitchFamily="2" charset="2"/>
              </a:rPr>
              <a:t>seems</a:t>
            </a:r>
            <a:r>
              <a:rPr lang="fr-FR" sz="2400" dirty="0">
                <a:sym typeface="Wingdings" panose="05000000000000000000" pitchFamily="2" charset="2"/>
              </a:rPr>
              <a:t> to have a </a:t>
            </a:r>
            <a:r>
              <a:rPr lang="fr-FR" sz="2400" dirty="0" err="1">
                <a:sym typeface="Wingdings" panose="05000000000000000000" pitchFamily="2" charset="2"/>
              </a:rPr>
              <a:t>strong</a:t>
            </a:r>
            <a:r>
              <a:rPr lang="fr-FR" sz="2400" dirty="0">
                <a:sym typeface="Wingdings" panose="05000000000000000000" pitchFamily="2" charset="2"/>
              </a:rPr>
              <a:t> impact on </a:t>
            </a:r>
            <a:r>
              <a:rPr lang="fr-FR" sz="2400" dirty="0" err="1">
                <a:sym typeface="Wingdings" panose="05000000000000000000" pitchFamily="2" charset="2"/>
              </a:rPr>
              <a:t>deviations</a:t>
            </a:r>
            <a:r>
              <a:rPr lang="fr-FR" sz="2400" dirty="0">
                <a:sym typeface="Wingdings" panose="05000000000000000000" pitchFamily="2" charset="2"/>
              </a:rPr>
              <a:t> (</a:t>
            </a:r>
            <a:r>
              <a:rPr lang="fr-FR" sz="2400" dirty="0" err="1">
                <a:sym typeface="Wingdings" panose="05000000000000000000" pitchFamily="2" charset="2"/>
              </a:rPr>
              <a:t>specially</a:t>
            </a:r>
            <a:r>
              <a:rPr lang="fr-FR" sz="2400" dirty="0">
                <a:sym typeface="Wingdings" panose="05000000000000000000" pitchFamily="2" charset="2"/>
              </a:rPr>
              <a:t> </a:t>
            </a:r>
            <a:r>
              <a:rPr lang="fr-FR" sz="2400" dirty="0" err="1">
                <a:sym typeface="Wingdings" panose="05000000000000000000" pitchFamily="2" charset="2"/>
              </a:rPr>
              <a:t>absolute</a:t>
            </a:r>
            <a:r>
              <a:rPr lang="fr-FR" sz="2400" dirty="0">
                <a:sym typeface="Wingdings" panose="05000000000000000000" pitchFamily="2" charset="2"/>
              </a:rPr>
              <a:t> </a:t>
            </a:r>
            <a:r>
              <a:rPr lang="fr-FR" sz="2400" dirty="0" err="1">
                <a:sym typeface="Wingdings" panose="05000000000000000000" pitchFamily="2" charset="2"/>
              </a:rPr>
              <a:t>ones</a:t>
            </a:r>
            <a:r>
              <a:rPr lang="fr-FR" sz="2400" dirty="0">
                <a:sym typeface="Wingdings" panose="05000000000000000000" pitchFamily="2" charset="2"/>
              </a:rPr>
              <a:t>), </a:t>
            </a:r>
            <a:r>
              <a:rPr lang="fr-FR" sz="2400" dirty="0" err="1">
                <a:sym typeface="Wingdings" panose="05000000000000000000" pitchFamily="2" charset="2"/>
              </a:rPr>
              <a:t>we</a:t>
            </a:r>
            <a:r>
              <a:rPr lang="fr-FR" sz="2400" dirty="0">
                <a:sym typeface="Wingdings" panose="05000000000000000000" pitchFamily="2" charset="2"/>
              </a:rPr>
              <a:t> </a:t>
            </a:r>
            <a:r>
              <a:rPr lang="fr-FR" sz="2400" dirty="0" err="1">
                <a:sym typeface="Wingdings" panose="05000000000000000000" pitchFamily="2" charset="2"/>
              </a:rPr>
              <a:t>could</a:t>
            </a:r>
            <a:r>
              <a:rPr lang="fr-FR" sz="2400" dirty="0">
                <a:sym typeface="Wingdings" panose="05000000000000000000" pitchFamily="2" charset="2"/>
              </a:rPr>
              <a:t> use time pressure as a cognitive </a:t>
            </a:r>
            <a:r>
              <a:rPr lang="fr-FR" sz="2400" dirty="0" err="1">
                <a:sym typeface="Wingdings" panose="05000000000000000000" pitchFamily="2" charset="2"/>
              </a:rPr>
              <a:t>load</a:t>
            </a:r>
            <a:r>
              <a:rPr lang="fr-FR" sz="2400" dirty="0">
                <a:sym typeface="Wingdings" panose="05000000000000000000" pitchFamily="2" charset="2"/>
              </a:rPr>
              <a:t>. Choi et al. (2022) have </a:t>
            </a:r>
            <a:r>
              <a:rPr lang="fr-FR" sz="2400" dirty="0" err="1">
                <a:sym typeface="Wingdings" panose="05000000000000000000" pitchFamily="2" charset="2"/>
              </a:rPr>
              <a:t>already</a:t>
            </a:r>
            <a:r>
              <a:rPr lang="fr-FR" sz="2400" dirty="0">
                <a:sym typeface="Wingdings" panose="05000000000000000000" pitchFamily="2" charset="2"/>
              </a:rPr>
              <a:t> </a:t>
            </a:r>
            <a:r>
              <a:rPr lang="fr-FR" sz="2400" dirty="0" err="1">
                <a:sym typeface="Wingdings" panose="05000000000000000000" pitchFamily="2" charset="2"/>
              </a:rPr>
              <a:t>shown</a:t>
            </a:r>
            <a:r>
              <a:rPr lang="fr-FR" sz="2400" dirty="0">
                <a:sym typeface="Wingdings" panose="05000000000000000000" pitchFamily="2" charset="2"/>
              </a:rPr>
              <a:t> </a:t>
            </a:r>
            <a:r>
              <a:rPr lang="fr-FR" sz="2400" dirty="0" err="1">
                <a:sym typeface="Wingdings" panose="05000000000000000000" pitchFamily="2" charset="2"/>
              </a:rPr>
              <a:t>that</a:t>
            </a:r>
            <a:r>
              <a:rPr lang="fr-FR" sz="2400" dirty="0">
                <a:sym typeface="Wingdings" panose="05000000000000000000" pitchFamily="2" charset="2"/>
              </a:rPr>
              <a:t> </a:t>
            </a:r>
            <a:r>
              <a:rPr lang="fr-FR" sz="2400" dirty="0" err="1">
                <a:sym typeface="Wingdings" panose="05000000000000000000" pitchFamily="2" charset="2"/>
              </a:rPr>
              <a:t>probability</a:t>
            </a:r>
            <a:r>
              <a:rPr lang="fr-FR" sz="2400" dirty="0">
                <a:sym typeface="Wingdings" panose="05000000000000000000" pitchFamily="2" charset="2"/>
              </a:rPr>
              <a:t> </a:t>
            </a:r>
            <a:r>
              <a:rPr lang="fr-FR" sz="2400" dirty="0" err="1">
                <a:sym typeface="Wingdings" panose="05000000000000000000" pitchFamily="2" charset="2"/>
              </a:rPr>
              <a:t>weighting</a:t>
            </a:r>
            <a:r>
              <a:rPr lang="fr-FR" sz="2400" dirty="0">
                <a:sym typeface="Wingdings" panose="05000000000000000000" pitchFamily="2" charset="2"/>
              </a:rPr>
              <a:t> </a:t>
            </a:r>
            <a:r>
              <a:rPr lang="fr-FR" sz="2400" dirty="0" err="1">
                <a:sym typeface="Wingdings" panose="05000000000000000000" pitchFamily="2" charset="2"/>
              </a:rPr>
              <a:t>was</a:t>
            </a:r>
            <a:r>
              <a:rPr lang="fr-FR" sz="2400" dirty="0">
                <a:sym typeface="Wingdings" panose="05000000000000000000" pitchFamily="2" charset="2"/>
              </a:rPr>
              <a:t> </a:t>
            </a:r>
            <a:r>
              <a:rPr lang="fr-FR" sz="2400" dirty="0" err="1">
                <a:sym typeface="Wingdings" panose="05000000000000000000" pitchFamily="2" charset="2"/>
              </a:rPr>
              <a:t>accentuated</a:t>
            </a:r>
            <a:r>
              <a:rPr lang="fr-FR" sz="2400" dirty="0">
                <a:sym typeface="Wingdings" panose="05000000000000000000" pitchFamily="2" charset="2"/>
              </a:rPr>
              <a:t> by time pressure</a:t>
            </a:r>
          </a:p>
          <a:p>
            <a:pPr lvl="2"/>
            <a:endParaRPr lang="en-US" dirty="0"/>
          </a:p>
          <a:p>
            <a:endParaRPr lang="en-FR" dirty="0"/>
          </a:p>
        </p:txBody>
      </p:sp>
    </p:spTree>
    <p:extLst>
      <p:ext uri="{BB962C8B-B14F-4D97-AF65-F5344CB8AC3E}">
        <p14:creationId xmlns:p14="http://schemas.microsoft.com/office/powerpoint/2010/main" val="38107235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C905F-0210-C6F3-AEE7-8840820A5F81}"/>
              </a:ext>
            </a:extLst>
          </p:cNvPr>
          <p:cNvSpPr>
            <a:spLocks noGrp="1"/>
          </p:cNvSpPr>
          <p:nvPr>
            <p:ph type="title"/>
          </p:nvPr>
        </p:nvSpPr>
        <p:spPr/>
        <p:txBody>
          <a:bodyPr/>
          <a:lstStyle/>
          <a:p>
            <a:r>
              <a:rPr lang="en-FR" dirty="0"/>
              <a:t>Bibliography</a:t>
            </a:r>
          </a:p>
        </p:txBody>
      </p:sp>
      <p:sp>
        <p:nvSpPr>
          <p:cNvPr id="3" name="Content Placeholder 2">
            <a:extLst>
              <a:ext uri="{FF2B5EF4-FFF2-40B4-BE49-F238E27FC236}">
                <a16:creationId xmlns:a16="http://schemas.microsoft.com/office/drawing/2014/main" id="{98417692-D1F7-1D39-00FA-5A752D3C4F81}"/>
              </a:ext>
            </a:extLst>
          </p:cNvPr>
          <p:cNvSpPr>
            <a:spLocks noGrp="1"/>
          </p:cNvSpPr>
          <p:nvPr>
            <p:ph idx="1"/>
          </p:nvPr>
        </p:nvSpPr>
        <p:spPr>
          <a:xfrm>
            <a:off x="838200" y="1825625"/>
            <a:ext cx="10515600" cy="4667250"/>
          </a:xfrm>
        </p:spPr>
        <p:txBody>
          <a:bodyPr>
            <a:normAutofit fontScale="92500" lnSpcReduction="20000"/>
          </a:bodyPr>
          <a:lstStyle/>
          <a:p>
            <a:r>
              <a:rPr lang="en-GB" dirty="0"/>
              <a:t>Banki, D., </a:t>
            </a:r>
            <a:r>
              <a:rPr lang="en-GB" dirty="0" err="1"/>
              <a:t>Simonsohn</a:t>
            </a:r>
            <a:r>
              <a:rPr lang="en-GB" dirty="0"/>
              <a:t>, U., Walatka, R., &amp; Wu, G. (2025). Decisions under risk are decisions under complexity: Comment. </a:t>
            </a:r>
            <a:r>
              <a:rPr lang="en-GB" i="1" dirty="0"/>
              <a:t>Available at SSRN 5127515</a:t>
            </a:r>
            <a:r>
              <a:rPr lang="en-GB" dirty="0"/>
              <a:t>.</a:t>
            </a:r>
          </a:p>
          <a:p>
            <a:r>
              <a:rPr lang="en-GB" dirty="0"/>
              <a:t>Bedi, S., de Hollander, G., &amp; Ruff, C. C. (2025). Probability weighting arises from boundary repulsions of cognitive noise. </a:t>
            </a:r>
            <a:r>
              <a:rPr lang="en-GB" i="1" dirty="0" err="1"/>
              <a:t>bioRxiv</a:t>
            </a:r>
            <a:r>
              <a:rPr lang="en-GB" dirty="0"/>
              <a:t>, 2025-09.</a:t>
            </a:r>
          </a:p>
          <a:p>
            <a:r>
              <a:rPr lang="en-GB" dirty="0" err="1"/>
              <a:t>Bordalo</a:t>
            </a:r>
            <a:r>
              <a:rPr lang="en-GB" dirty="0"/>
              <a:t>, P., </a:t>
            </a:r>
            <a:r>
              <a:rPr lang="en-GB" dirty="0" err="1"/>
              <a:t>Gennaioli</a:t>
            </a:r>
            <a:r>
              <a:rPr lang="en-GB" dirty="0"/>
              <a:t>, N., </a:t>
            </a:r>
            <a:r>
              <a:rPr lang="en-GB" dirty="0" err="1"/>
              <a:t>Lanzani</a:t>
            </a:r>
            <a:r>
              <a:rPr lang="en-GB" dirty="0"/>
              <a:t>, G., &amp; Shleifer, A. (2025). </a:t>
            </a:r>
            <a:r>
              <a:rPr lang="en-GB" i="1" dirty="0"/>
              <a:t>A cognitive theory of reasoning and choice</a:t>
            </a:r>
            <a:r>
              <a:rPr lang="en-GB" dirty="0"/>
              <a:t> (No. w33466). National Bureau of Economic Research.</a:t>
            </a:r>
          </a:p>
          <a:p>
            <a:r>
              <a:rPr lang="en-GB" dirty="0"/>
              <a:t>Choi, S., Kim, J., Lee, E., &amp; Lee, J. (2022). Probability weighting and cognitive ability. </a:t>
            </a:r>
            <a:r>
              <a:rPr lang="en-GB" i="1" dirty="0"/>
              <a:t>Management Science</a:t>
            </a:r>
            <a:r>
              <a:rPr lang="en-GB" dirty="0"/>
              <a:t>, </a:t>
            </a:r>
            <a:r>
              <a:rPr lang="en-GB" i="1" dirty="0"/>
              <a:t>68</a:t>
            </a:r>
            <a:r>
              <a:rPr lang="en-GB" dirty="0"/>
              <a:t>(7), 5201-5215.</a:t>
            </a:r>
          </a:p>
          <a:p>
            <a:r>
              <a:rPr lang="en-GB" dirty="0"/>
              <a:t>Oprea, R. (2024). Decisions under risk are decisions under complexity. </a:t>
            </a:r>
            <a:r>
              <a:rPr lang="en-GB" i="1" dirty="0"/>
              <a:t>American Economic Review</a:t>
            </a:r>
            <a:r>
              <a:rPr lang="en-GB" dirty="0"/>
              <a:t>, </a:t>
            </a:r>
            <a:r>
              <a:rPr lang="en-GB" i="1" dirty="0"/>
              <a:t>114</a:t>
            </a:r>
            <a:r>
              <a:rPr lang="en-GB" dirty="0"/>
              <a:t>(12), 3789-3811.</a:t>
            </a:r>
          </a:p>
          <a:p>
            <a:r>
              <a:rPr lang="en-GB" dirty="0" err="1"/>
              <a:t>Vieider</a:t>
            </a:r>
            <a:r>
              <a:rPr lang="en-GB" dirty="0"/>
              <a:t>, F. M. (2024). Decisions under uncertainty as </a:t>
            </a:r>
            <a:r>
              <a:rPr lang="en-GB" dirty="0" err="1"/>
              <a:t>bayesian</a:t>
            </a:r>
            <a:r>
              <a:rPr lang="en-GB" dirty="0"/>
              <a:t> inference on choice options. </a:t>
            </a:r>
            <a:r>
              <a:rPr lang="en-GB" i="1" dirty="0"/>
              <a:t>Management Science</a:t>
            </a:r>
            <a:r>
              <a:rPr lang="en-GB" dirty="0"/>
              <a:t>, </a:t>
            </a:r>
            <a:r>
              <a:rPr lang="en-GB" i="1" dirty="0"/>
              <a:t>70</a:t>
            </a:r>
            <a:r>
              <a:rPr lang="en-GB" dirty="0"/>
              <a:t>(12), 9014-9030.</a:t>
            </a:r>
            <a:endParaRPr lang="en-FR" dirty="0"/>
          </a:p>
        </p:txBody>
      </p:sp>
    </p:spTree>
    <p:extLst>
      <p:ext uri="{BB962C8B-B14F-4D97-AF65-F5344CB8AC3E}">
        <p14:creationId xmlns:p14="http://schemas.microsoft.com/office/powerpoint/2010/main" val="23327812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5889</TotalTime>
  <Words>3904</Words>
  <Application>Microsoft Macintosh PowerPoint</Application>
  <PresentationFormat>Widescreen</PresentationFormat>
  <Paragraphs>275</Paragraphs>
  <Slides>43</Slides>
  <Notes>20</Notes>
  <HiddenSlides>7</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Aptos</vt:lpstr>
      <vt:lpstr>Aptos Display</vt:lpstr>
      <vt:lpstr>Arial</vt:lpstr>
      <vt:lpstr>Garamond</vt:lpstr>
      <vt:lpstr>Wingdings</vt:lpstr>
      <vt:lpstr>Office Theme</vt:lpstr>
      <vt:lpstr>Overview of Gildas’ and Bastien experiment</vt:lpstr>
      <vt:lpstr>Plan</vt:lpstr>
      <vt:lpstr>I Oprea’s paper – His thesis</vt:lpstr>
      <vt:lpstr>I Oprea’s paper –results</vt:lpstr>
      <vt:lpstr>I Oprea’s paper –results</vt:lpstr>
      <vt:lpstr>I Oprea’s paper - Criticisms</vt:lpstr>
      <vt:lpstr>I Oprea’s paper - Criticisms</vt:lpstr>
      <vt:lpstr>II Our experiment – RQ</vt:lpstr>
      <vt:lpstr>II Our experiment – Added value</vt:lpstr>
      <vt:lpstr>II Our experiment – Added value</vt:lpstr>
      <vt:lpstr>II Our experiment - Overview</vt:lpstr>
      <vt:lpstr>II Our experiment – Overview </vt:lpstr>
      <vt:lpstr>II Our experiment - Hypotheses</vt:lpstr>
      <vt:lpstr>II Our experiment - Overview</vt:lpstr>
      <vt:lpstr>II Our experiment - Overview</vt:lpstr>
      <vt:lpstr>II Our experiment - Overview</vt:lpstr>
      <vt:lpstr>II Our experiment – MPL</vt:lpstr>
      <vt:lpstr>II Our experiment - Overview</vt:lpstr>
      <vt:lpstr>II Our experiment - Simulations</vt:lpstr>
      <vt:lpstr>II Our experiment - Simulations</vt:lpstr>
      <vt:lpstr>II Our experiment - Simulations</vt:lpstr>
      <vt:lpstr>III Our preliminary results – choices</vt:lpstr>
      <vt:lpstr>III Our preliminary results – choices</vt:lpstr>
      <vt:lpstr>III Our preliminary results – cognitive load</vt:lpstr>
      <vt:lpstr>III Our preliminary results – cognitive load</vt:lpstr>
      <vt:lpstr>III Our preliminary results – cognitive load</vt:lpstr>
      <vt:lpstr>III Our preliminary results – cognitive load</vt:lpstr>
      <vt:lpstr>III Our preliminary results – cognitive load</vt:lpstr>
      <vt:lpstr>III Our preliminary results – cognitive load</vt:lpstr>
      <vt:lpstr>III Our preliminary results – cognitive load</vt:lpstr>
      <vt:lpstr>III Our preliminary results – cognitive load</vt:lpstr>
      <vt:lpstr>III Our preliminary results – cognitive load</vt:lpstr>
      <vt:lpstr>III Our preliminary results – cognitive load</vt:lpstr>
      <vt:lpstr>III Our preliminary results – cognitive load</vt:lpstr>
      <vt:lpstr>III Our preliminary results – cognitive load</vt:lpstr>
      <vt:lpstr>III Our preliminary results – cognitive load</vt:lpstr>
      <vt:lpstr>PowerPoint Presentation</vt:lpstr>
      <vt:lpstr>PowerPoint Presentation</vt:lpstr>
      <vt:lpstr>Summary results - HP1</vt:lpstr>
      <vt:lpstr>Summary results – HP2</vt:lpstr>
      <vt:lpstr>Summary results – HP3</vt:lpstr>
      <vt:lpstr>Next step</vt:lpstr>
      <vt:lpstr>Bibliography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Domitille Prévost</dc:creator>
  <cp:lastModifiedBy>Domitille Prévost</cp:lastModifiedBy>
  <cp:revision>51</cp:revision>
  <dcterms:created xsi:type="dcterms:W3CDTF">2026-01-27T08:43:47Z</dcterms:created>
  <dcterms:modified xsi:type="dcterms:W3CDTF">2026-02-11T13:24:46Z</dcterms:modified>
</cp:coreProperties>
</file>